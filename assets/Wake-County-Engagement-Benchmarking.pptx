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F7471BB-534D-43AA-8320-A1174EFC68CB}">
          <p14:sldIdLst>
            <p14:sldId id="256"/>
          </p14:sldIdLst>
        </p14:section>
        <p14:section name="Overview" id="{0840183A-CF47-4DCD-229E-3F9E8DE9AB75}">
          <p14:sldIdLst>
            <p14:sldId id="257"/>
          </p14:sldIdLst>
        </p14:section>
        <p14:section name="Benchmarks" id="{280249E6-B13A-3D54-5DA9-F1EDE7355CF4}">
          <p14:sldIdLst>
            <p14:sldId id="258"/>
            <p14:sldId id="259"/>
            <p14:sldId id="260"/>
          </p14:sldIdLst>
        </p14:section>
        <p14:section name="Best Practices" id="{D10104B0-E7CC-D2B0-A3B2-059AAFC74832}">
          <p14:sldIdLst>
            <p14:sldId id="261"/>
            <p14:sldId id="262"/>
            <p14:sldId id="263"/>
            <p14:sldId id="264"/>
            <p14:sldId id="265"/>
            <p14:sldId id="266"/>
            <p14:sldId id="267"/>
          </p14:sldIdLst>
        </p14:section>
        <p14:section name="Next Steps" id="{3B622313-9088-9E02-7B3A-6A9608978DBB}">
          <p14:sldIdLst>
            <p14:sldId id="268"/>
            <p14:sldId id="269"/>
          </p14:sldIdLst>
        </p14:section>
        <p14:section name="Appendix" id="{8BE7815F-B4DD-956C-F159-1BEAE6DA0C8D}">
          <p14:sldIdLst>
            <p14:sldId id="270"/>
            <p14:sldId id="271"/>
            <p14:sldId id="27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50D6C5-9094-CAA3-1FE5-EE633A2959DC}" v="283" dt="2026-10-06T20:58:10.92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Toolkit score</c:v>
                </c:pt>
              </c:strCache>
            </c:strRef>
          </c:tx>
          <c:spPr>
            <a:solidFill>
              <a:srgbClr val="0D2F4E"/>
            </a:solidFill>
            <a:effectLst/>
          </c:spPr>
          <c:invertIfNegative val="0"/>
          <c:dPt>
            <c:idx val="0"/>
            <c:invertIfNegative val="0"/>
            <c:bubble3D val="0"/>
            <c:extLst>
              <c:ext xmlns:c16="http://schemas.microsoft.com/office/drawing/2014/chart" uri="{C3380CC4-5D6E-409C-BE32-E72D297353CC}">
                <c16:uniqueId val="{00000001-E323-0842-8D86-F20339521F87}"/>
              </c:ext>
            </c:extLst>
          </c:dPt>
          <c:dPt>
            <c:idx val="1"/>
            <c:invertIfNegative val="0"/>
            <c:bubble3D val="0"/>
            <c:extLst>
              <c:ext xmlns:c16="http://schemas.microsoft.com/office/drawing/2014/chart" uri="{C3380CC4-5D6E-409C-BE32-E72D297353CC}">
                <c16:uniqueId val="{00000003-E323-0842-8D86-F20339521F87}"/>
              </c:ext>
            </c:extLst>
          </c:dPt>
          <c:dPt>
            <c:idx val="2"/>
            <c:invertIfNegative val="0"/>
            <c:bubble3D val="0"/>
            <c:spPr>
              <a:solidFill>
                <a:srgbClr val="E07A2E"/>
              </a:solidFill>
              <a:effectLst/>
            </c:spPr>
            <c:extLst>
              <c:ext xmlns:c16="http://schemas.microsoft.com/office/drawing/2014/chart" uri="{C3380CC4-5D6E-409C-BE32-E72D297353CC}">
                <c16:uniqueId val="{00000005-E323-0842-8D86-F20339521F87}"/>
              </c:ext>
            </c:extLst>
          </c:dPt>
          <c:dPt>
            <c:idx val="3"/>
            <c:invertIfNegative val="0"/>
            <c:bubble3D val="0"/>
            <c:extLst>
              <c:ext xmlns:c16="http://schemas.microsoft.com/office/drawing/2014/chart" uri="{C3380CC4-5D6E-409C-BE32-E72D297353CC}">
                <c16:uniqueId val="{00000007-E323-0842-8D86-F20339521F87}"/>
              </c:ext>
            </c:extLst>
          </c:dPt>
          <c:dPt>
            <c:idx val="4"/>
            <c:invertIfNegative val="0"/>
            <c:bubble3D val="0"/>
            <c:extLst>
              <c:ext xmlns:c16="http://schemas.microsoft.com/office/drawing/2014/chart" uri="{C3380CC4-5D6E-409C-BE32-E72D297353CC}">
                <c16:uniqueId val="{00000009-E323-0842-8D86-F20339521F87}"/>
              </c:ext>
            </c:extLst>
          </c:dPt>
          <c:dPt>
            <c:idx val="5"/>
            <c:invertIfNegative val="0"/>
            <c:bubble3D val="0"/>
            <c:extLst>
              <c:ext xmlns:c16="http://schemas.microsoft.com/office/drawing/2014/chart" uri="{C3380CC4-5D6E-409C-BE32-E72D297353CC}">
                <c16:uniqueId val="{0000000B-E323-0842-8D86-F20339521F87}"/>
              </c:ext>
            </c:extLst>
          </c:dPt>
          <c:dLbls>
            <c:dLbl>
              <c:idx val="5"/>
              <c:delete val="1"/>
              <c:extLst>
                <c:ext xmlns:c15="http://schemas.microsoft.com/office/drawing/2012/chart" uri="{CE6537A1-D6FC-4f65-9D91-7224C49458BB}"/>
                <c:ext xmlns:c16="http://schemas.microsoft.com/office/drawing/2014/chart" uri="{C3380CC4-5D6E-409C-BE32-E72D297353CC}">
                  <c16:uniqueId val="{0000000B-E323-0842-8D86-F20339521F87}"/>
                </c:ext>
              </c:extLst>
            </c:dLbl>
            <c:numFmt formatCode="#,##0" sourceLinked="0"/>
            <c:spPr>
              <a:noFill/>
              <a:ln>
                <a:noFill/>
              </a:ln>
              <a:effectLst/>
            </c:spPr>
            <c:txPr>
              <a:bodyPr/>
              <a:lstStyle/>
              <a:p>
                <a:pPr>
                  <a:defRPr sz="1300" b="1" i="0" u="none" strike="noStrike">
                    <a:solidFill>
                      <a:srgbClr val="1A2B3C"/>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Collin</c:v>
                </c:pt>
                <c:pt idx="1">
                  <c:v>Hillsborough</c:v>
                </c:pt>
                <c:pt idx="2">
                  <c:v>Wake</c:v>
                </c:pt>
                <c:pt idx="3">
                  <c:v>Travis</c:v>
                </c:pt>
                <c:pt idx="4">
                  <c:v>Gwinnett</c:v>
                </c:pt>
                <c:pt idx="5">
                  <c:v>Mecklenburg</c:v>
                </c:pt>
              </c:strCache>
            </c:strRef>
          </c:cat>
          <c:val>
            <c:numRef>
              <c:f>Sheet1!$B$2:$B$7</c:f>
              <c:numCache>
                <c:formatCode>General</c:formatCode>
                <c:ptCount val="6"/>
                <c:pt idx="0">
                  <c:v>4</c:v>
                </c:pt>
                <c:pt idx="1">
                  <c:v>6</c:v>
                </c:pt>
                <c:pt idx="2">
                  <c:v>6</c:v>
                </c:pt>
                <c:pt idx="3">
                  <c:v>8</c:v>
                </c:pt>
                <c:pt idx="4">
                  <c:v>9</c:v>
                </c:pt>
                <c:pt idx="5">
                  <c:v>12</c:v>
                </c:pt>
              </c:numCache>
            </c:numRef>
          </c:val>
          <c:extLst>
            <c:ext xmlns:c16="http://schemas.microsoft.com/office/drawing/2014/chart" uri="{C3380CC4-5D6E-409C-BE32-E72D297353CC}">
              <c16:uniqueId val="{0000000C-E323-0842-8D86-F20339521F8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A2B3C"/>
                </a:solidFill>
                <a:latin typeface="+mn-lt"/>
              </a:defRPr>
            </a:pPr>
            <a:endParaRPr lang="en-US"/>
          </a:p>
        </c:txPr>
        <c:crossAx val="2094734552"/>
        <c:crosses val="autoZero"/>
        <c:auto val="1"/>
        <c:lblAlgn val="ctr"/>
        <c:lblOffset val="100"/>
        <c:noMultiLvlLbl val="1"/>
      </c:catAx>
      <c:valAx>
        <c:axId val="2094734552"/>
        <c:scaling>
          <c:orientation val="minMax"/>
          <c:max val="12"/>
          <c:min val="0"/>
        </c:scaling>
        <c:delete val="1"/>
        <c:axPos val="b"/>
        <c:numFmt formatCode="General" sourceLinked="0"/>
        <c:majorTickMark val="out"/>
        <c:minorTickMark val="none"/>
        <c:tickLblPos val="low"/>
        <c:crossAx val="2094734554"/>
        <c:crosses val="autoZero"/>
        <c:crossBetween val="between"/>
        <c:majorUnit val="4"/>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8327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deck covers Objective 2: how Wake County's engagement practices compare with five peer counties and a set of proven North Carolina and national programs, and which of those practices are realistic for Wake.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looked at the question three ways. Peer counties tell us what similar governments do as a baseline. North Carolina programs are the easiest to transfer because they operate under the same state law. Fairfax and Fresno are included for depth, not size: they show how engagement becomes part of how a government runs.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Exact 2025 estimates: Wake 1,257,235 (+11.3%); Mecklenburg 1,233,383 (+10.6%); Travis 1,389,670 (+7.7%); Hillsborough 1,574,115 (+7.8%); Collin 1,297,179 (+21.7%); Gwinnett 1,018,099 (+6.3%). Wake is fourth of six in size but second in growth, so the residents it needs to reach are changing faster than at almost any peer. Mecklenburg is the closest match and shares North Carolina law.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cell names the tool we found, and the shading is our rating. Dark teal means a dedicated, countywide tool. Light blue means something exists but is limited or tied to a single project. Gray means we found nothing in public materials, which does not prove the county does nothing. Wake's column is outlined in orange.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Wake ties Hillsborough and sits ahead of only Collin. The point is not the score itself. Wake has activity everywhere, but each piece belongs to one department. The counties at the top made engagement a countywide function with a home and an owner.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barrier from Objective 1 maps to one practice area, and the next six slides take them one at a time. Each slide ends with the same panel: where Wake stands today, what adopting the practice would take, and our feasibility rating.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foundation for everything else. Buncombe shows a simple four-level ladder. Fairfax shows the next step: a short list of considerations every plan must address, plus department-level goals and public reporting.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Buncombe's numbers show the payoff of going where people already are. The key point for Wake is that the hardware already exists. Several departments run mobile units, so this is mostly a coordination job, not a new program.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Every strong model pays or contracts with people the community already trusts. That matches what Wake partners told us, including the warning that some communities are tired of being studied. A small paid pilot would test this before any countywide rollout.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Fairfax nearly doubled its translation output while spending a third less on outside vendors, because the work moved in-house. Wake's starting point is solid but reactive. A first step is a single intake point for language requests, which shows demand before any hiring decision. Exact Fairfax figures: 606 requests, 109.7 percent growth, 34.1 percent lower external written translation spending.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mockup is illustrative, not a design proposal. The point is that residents should not need to know which department owns a decision before they can weigh in. Mecklenburg is the closest model because it operates under the same state law.</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step most often skipped. The Strategic Plan already commits Wake to improving how residents rate its engagement, and the cheapest way to move that number is to show residents what happened to what they said. Participatory budgeting is shown for its techniques, not as a recommendation.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Higher on the chart means more reach into underrepresented communities; further right means more effort. The three quick wins (shared standard, taking engagement to residents, closing the loop) need little new money. Trusted messengers have the highest reach but need contracts and stipends. A countywide portal is worth doing but works best after a shared standard exists, or it becomes another list of disconnected links.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order matters. Standards come first because a portal or a connector program needs a shared definition of good engagement to work against. The most expensive items come last, after pilots show what works in Wake.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_OVERVIEW">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chemeClr val="tx2"/>
          </a:solidFill>
          <a:ln/>
        </p:spPr>
        <p:txBody>
          <a:bodyPr/>
          <a:lstStyle/>
          <a:p>
            <a:endParaRPr lang="en-US"/>
          </a:p>
        </p:txBody>
      </p:sp>
      <p:pic>
        <p:nvPicPr>
          <p:cNvPr id="3" name="Image 0" descr="oldwell.png"/>
          <p:cNvPicPr>
            <a:picLocks noChangeAspect="1"/>
          </p:cNvPicPr>
          <p:nvPr/>
        </p:nvPicPr>
        <p:blipFill>
          <a:blip r:embed="rId2"/>
          <a:stretch>
            <a:fillRect/>
          </a:stretch>
        </p:blipFill>
        <p:spPr>
          <a:xfrm>
            <a:off x="384048" y="6126480"/>
            <a:ext cx="512064" cy="640080"/>
          </a:xfrm>
          <a:prstGeom prst="rect">
            <a:avLst/>
          </a:prstGeom>
        </p:spPr>
      </p:pic>
      <p:sp>
        <p:nvSpPr>
          <p:cNvPr id="4" name="Text 1"/>
          <p:cNvSpPr/>
          <p:nvPr/>
        </p:nvSpPr>
        <p:spPr>
          <a:xfrm>
            <a:off x="932688" y="6163056"/>
            <a:ext cx="292608" cy="548640"/>
          </a:xfrm>
          <a:prstGeom prst="rect">
            <a:avLst/>
          </a:prstGeom>
          <a:noFill/>
          <a:ln/>
        </p:spPr>
        <p:txBody>
          <a:bodyPr wrap="square" lIns="0" tIns="0" rIns="0" bIns="0" rtlCol="0" anchor="ctr"/>
          <a:lstStyle/>
          <a:p>
            <a:pPr marL="0" indent="0" algn="ctr">
              <a:buNone/>
            </a:pPr>
            <a:r>
              <a:rPr lang="en-US" sz="2400" b="1">
                <a:solidFill>
                  <a:schemeClr val="bg1"/>
                </a:solidFill>
                <a:latin typeface="Montserrat" pitchFamily="34" charset="0"/>
                <a:ea typeface="Montserrat" pitchFamily="34" charset="-122"/>
                <a:cs typeface="Montserrat" pitchFamily="34" charset="-120"/>
              </a:rPr>
              <a:t>×</a:t>
            </a:r>
            <a:endParaRPr lang="en-US" sz="2400"/>
          </a:p>
        </p:txBody>
      </p:sp>
      <p:sp>
        <p:nvSpPr>
          <p:cNvPr id="7" name="Text 4"/>
          <p:cNvSpPr/>
          <p:nvPr/>
        </p:nvSpPr>
        <p:spPr>
          <a:xfrm>
            <a:off x="3291840" y="6227064"/>
            <a:ext cx="1783080" cy="438912"/>
          </a:xfrm>
          <a:prstGeom prst="homePlate">
            <a:avLst/>
          </a:prstGeom>
          <a:solidFill>
            <a:schemeClr val="accent3"/>
          </a:solidFill>
          <a:ln w="6350">
            <a:solidFill>
              <a:schemeClr val="tx2"/>
            </a:solidFill>
          </a:ln>
        </p:spPr>
        <p:txBody>
          <a:bodyPr wrap="square" lIns="0" tIns="0" rIns="0" bIns="0" rtlCol="0" anchor="ctr"/>
          <a:lstStyle/>
          <a:p>
            <a:pPr marL="0" indent="0" algn="ctr">
              <a:buNone/>
            </a:pPr>
            <a:r>
              <a:rPr lang="en-US" sz="1300" b="1">
                <a:solidFill>
                  <a:schemeClr val="tx2"/>
                </a:solidFill>
                <a:latin typeface="Calibri" pitchFamily="34" charset="0"/>
                <a:ea typeface="Calibri" pitchFamily="34" charset="-122"/>
                <a:cs typeface="Calibri" pitchFamily="34" charset="-120"/>
              </a:rPr>
              <a:t>Overview</a:t>
            </a:r>
            <a:endParaRPr lang="en-US" sz="1300"/>
          </a:p>
        </p:txBody>
      </p:sp>
      <p:sp>
        <p:nvSpPr>
          <p:cNvPr id="8" name="Text 5"/>
          <p:cNvSpPr/>
          <p:nvPr/>
        </p:nvSpPr>
        <p:spPr>
          <a:xfrm>
            <a:off x="4956048"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Benchmarks</a:t>
            </a:r>
            <a:endParaRPr lang="en-US" sz="1300"/>
          </a:p>
        </p:txBody>
      </p:sp>
      <p:sp>
        <p:nvSpPr>
          <p:cNvPr id="9" name="Text 6"/>
          <p:cNvSpPr/>
          <p:nvPr/>
        </p:nvSpPr>
        <p:spPr>
          <a:xfrm>
            <a:off x="6620256"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Best Practices</a:t>
            </a:r>
            <a:endParaRPr lang="en-US" sz="1300"/>
          </a:p>
        </p:txBody>
      </p:sp>
      <p:sp>
        <p:nvSpPr>
          <p:cNvPr id="10" name="Text 7"/>
          <p:cNvSpPr/>
          <p:nvPr/>
        </p:nvSpPr>
        <p:spPr>
          <a:xfrm>
            <a:off x="8284464"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Next Steps</a:t>
            </a:r>
            <a:endParaRPr lang="en-US" sz="1300"/>
          </a:p>
        </p:txBody>
      </p:sp>
      <p:sp>
        <p:nvSpPr>
          <p:cNvPr id="11" name="Shape 8"/>
          <p:cNvSpPr/>
          <p:nvPr/>
        </p:nvSpPr>
        <p:spPr>
          <a:xfrm>
            <a:off x="274320" y="1024128"/>
            <a:ext cx="11640312" cy="0"/>
          </a:xfrm>
          <a:prstGeom prst="line">
            <a:avLst/>
          </a:prstGeom>
          <a:noFill/>
          <a:ln w="38100">
            <a:solidFill>
              <a:schemeClr val="accent1"/>
            </a:solidFill>
            <a:prstDash val="solid"/>
          </a:ln>
        </p:spPr>
        <p:txBody>
          <a:bodyPr/>
          <a:lstStyle/>
          <a:p>
            <a:endParaRPr lang="en-US"/>
          </a:p>
        </p:txBody>
      </p:sp>
      <p:sp>
        <p:nvSpPr>
          <p:cNvPr id="14" name="Text 11"/>
          <p:cNvSpPr>
            <a:spLocks noGrp="1"/>
          </p:cNvSpPr>
          <p:nvPr>
            <p:ph type="title" idx="112" hasCustomPrompt="1"/>
          </p:nvPr>
        </p:nvSpPr>
        <p:spPr>
          <a:xfrm>
            <a:off x="365760" y="256032"/>
            <a:ext cx="9692640" cy="713232"/>
          </a:xfrm>
          <a:prstGeom prst="rect">
            <a:avLst/>
          </a:prstGeom>
          <a:noFill/>
          <a:ln/>
        </p:spPr>
        <p:txBody>
          <a:bodyPr wrap="square" rtlCol="0"/>
          <a:lstStyle>
            <a:lvl1pPr marL="0" indent="0" algn="l">
              <a:buNone/>
              <a:defRPr lang="en-US" sz="2400" b="1" dirty="0">
                <a:solidFill>
                  <a:schemeClr val="tx1"/>
                </a:solidFill>
                <a:latin typeface="Montserrat" pitchFamily="34" charset="0"/>
                <a:ea typeface="Montserrat" pitchFamily="34" charset="-122"/>
                <a:cs typeface="Montserrat" pitchFamily="34" charset="-120"/>
              </a:defRPr>
            </a:lvl1pPr>
          </a:lstStyle>
          <a:p>
            <a:pPr marL="0" indent="0" algn="l">
              <a:buNone/>
            </a:pPr>
            <a:endParaRPr lang="en-US" sz="24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pic>
        <p:nvPicPr>
          <p:cNvPr id="15" name="Picture 14">
            <a:extLst>
              <a:ext uri="{FF2B5EF4-FFF2-40B4-BE49-F238E27FC236}">
                <a16:creationId xmlns:a16="http://schemas.microsoft.com/office/drawing/2014/main" id="{C037800D-4E4A-DB1E-F24B-6A1A35C79E4E}"/>
              </a:ext>
            </a:extLst>
          </p:cNvPr>
          <p:cNvPicPr>
            <a:picLocks noChangeAspect="1"/>
          </p:cNvPicPr>
          <p:nvPr userDrawn="1"/>
        </p:nvPicPr>
        <p:blipFill>
          <a:blip r:embed="rId3"/>
          <a:stretch>
            <a:fillRect/>
          </a:stretch>
        </p:blipFill>
        <p:spPr>
          <a:xfrm>
            <a:off x="10702633" y="48335"/>
            <a:ext cx="1176475" cy="920929"/>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BENCH">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chemeClr val="tx2"/>
          </a:solidFill>
          <a:ln/>
        </p:spPr>
        <p:txBody>
          <a:bodyPr/>
          <a:lstStyle/>
          <a:p>
            <a:endParaRPr lang="en-US"/>
          </a:p>
        </p:txBody>
      </p:sp>
      <p:pic>
        <p:nvPicPr>
          <p:cNvPr id="3" name="Image 0" descr="oldwell.png"/>
          <p:cNvPicPr>
            <a:picLocks noChangeAspect="1"/>
          </p:cNvPicPr>
          <p:nvPr/>
        </p:nvPicPr>
        <p:blipFill>
          <a:blip r:embed="rId2"/>
          <a:stretch>
            <a:fillRect/>
          </a:stretch>
        </p:blipFill>
        <p:spPr>
          <a:xfrm>
            <a:off x="384048" y="6126480"/>
            <a:ext cx="512064" cy="640080"/>
          </a:xfrm>
          <a:prstGeom prst="rect">
            <a:avLst/>
          </a:prstGeom>
        </p:spPr>
      </p:pic>
      <p:sp>
        <p:nvSpPr>
          <p:cNvPr id="4" name="Text 1"/>
          <p:cNvSpPr/>
          <p:nvPr/>
        </p:nvSpPr>
        <p:spPr>
          <a:xfrm>
            <a:off x="932688" y="6163056"/>
            <a:ext cx="292608" cy="548640"/>
          </a:xfrm>
          <a:prstGeom prst="rect">
            <a:avLst/>
          </a:prstGeom>
          <a:noFill/>
          <a:ln/>
        </p:spPr>
        <p:txBody>
          <a:bodyPr wrap="square" lIns="0" tIns="0" rIns="0" bIns="0" rtlCol="0" anchor="ctr"/>
          <a:lstStyle/>
          <a:p>
            <a:pPr marL="0" indent="0" algn="ctr">
              <a:buNone/>
            </a:pPr>
            <a:r>
              <a:rPr lang="en-US" sz="2400" b="1">
                <a:solidFill>
                  <a:schemeClr val="bg1"/>
                </a:solidFill>
                <a:latin typeface="Montserrat" pitchFamily="34" charset="0"/>
                <a:ea typeface="Montserrat" pitchFamily="34" charset="-122"/>
                <a:cs typeface="Montserrat" pitchFamily="34" charset="-120"/>
              </a:rPr>
              <a:t>×</a:t>
            </a:r>
            <a:endParaRPr lang="en-US" sz="2400"/>
          </a:p>
        </p:txBody>
      </p:sp>
      <p:sp>
        <p:nvSpPr>
          <p:cNvPr id="7" name="Text 4"/>
          <p:cNvSpPr/>
          <p:nvPr/>
        </p:nvSpPr>
        <p:spPr>
          <a:xfrm>
            <a:off x="3291840" y="6227064"/>
            <a:ext cx="1783080" cy="438912"/>
          </a:xfrm>
          <a:prstGeom prst="homePlate">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Overview</a:t>
            </a:r>
            <a:endParaRPr lang="en-US" sz="1300"/>
          </a:p>
        </p:txBody>
      </p:sp>
      <p:sp>
        <p:nvSpPr>
          <p:cNvPr id="8" name="Text 5"/>
          <p:cNvSpPr/>
          <p:nvPr/>
        </p:nvSpPr>
        <p:spPr>
          <a:xfrm>
            <a:off x="4956048" y="6227064"/>
            <a:ext cx="1783080" cy="438912"/>
          </a:xfrm>
          <a:prstGeom prst="chevron">
            <a:avLst/>
          </a:prstGeom>
          <a:solidFill>
            <a:schemeClr val="accent3"/>
          </a:solidFill>
          <a:ln w="6350">
            <a:solidFill>
              <a:schemeClr val="tx2"/>
            </a:solidFill>
          </a:ln>
        </p:spPr>
        <p:txBody>
          <a:bodyPr wrap="square" lIns="0" tIns="0" rIns="0" bIns="0" rtlCol="0" anchor="ctr"/>
          <a:lstStyle/>
          <a:p>
            <a:pPr marL="0" indent="0" algn="ctr">
              <a:buNone/>
            </a:pPr>
            <a:r>
              <a:rPr lang="en-US" sz="1300" b="1">
                <a:solidFill>
                  <a:schemeClr val="tx2"/>
                </a:solidFill>
                <a:latin typeface="Calibri" pitchFamily="34" charset="0"/>
                <a:ea typeface="Calibri" pitchFamily="34" charset="-122"/>
                <a:cs typeface="Calibri" pitchFamily="34" charset="-120"/>
              </a:rPr>
              <a:t>Benchmarks</a:t>
            </a:r>
            <a:endParaRPr lang="en-US" sz="1300"/>
          </a:p>
        </p:txBody>
      </p:sp>
      <p:sp>
        <p:nvSpPr>
          <p:cNvPr id="9" name="Text 6"/>
          <p:cNvSpPr/>
          <p:nvPr/>
        </p:nvSpPr>
        <p:spPr>
          <a:xfrm>
            <a:off x="6620256"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Best Practices</a:t>
            </a:r>
            <a:endParaRPr lang="en-US" sz="1300"/>
          </a:p>
        </p:txBody>
      </p:sp>
      <p:sp>
        <p:nvSpPr>
          <p:cNvPr id="10" name="Text 7"/>
          <p:cNvSpPr/>
          <p:nvPr/>
        </p:nvSpPr>
        <p:spPr>
          <a:xfrm>
            <a:off x="8284464"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Next Steps</a:t>
            </a:r>
            <a:endParaRPr lang="en-US" sz="1300"/>
          </a:p>
        </p:txBody>
      </p:sp>
      <p:sp>
        <p:nvSpPr>
          <p:cNvPr id="11" name="Shape 8"/>
          <p:cNvSpPr/>
          <p:nvPr/>
        </p:nvSpPr>
        <p:spPr>
          <a:xfrm>
            <a:off x="274320" y="1024128"/>
            <a:ext cx="11640312" cy="0"/>
          </a:xfrm>
          <a:prstGeom prst="line">
            <a:avLst/>
          </a:prstGeom>
          <a:noFill/>
          <a:ln w="38100">
            <a:solidFill>
              <a:schemeClr val="accent1"/>
            </a:solidFill>
            <a:prstDash val="solid"/>
          </a:ln>
        </p:spPr>
        <p:txBody>
          <a:bodyPr/>
          <a:lstStyle/>
          <a:p>
            <a:endParaRPr lang="en-US"/>
          </a:p>
        </p:txBody>
      </p:sp>
      <p:sp>
        <p:nvSpPr>
          <p:cNvPr id="14" name="Text 11"/>
          <p:cNvSpPr>
            <a:spLocks noGrp="1"/>
          </p:cNvSpPr>
          <p:nvPr>
            <p:ph type="title" idx="112" hasCustomPrompt="1"/>
          </p:nvPr>
        </p:nvSpPr>
        <p:spPr>
          <a:xfrm>
            <a:off x="365760" y="256032"/>
            <a:ext cx="9692640" cy="713232"/>
          </a:xfrm>
          <a:prstGeom prst="rect">
            <a:avLst/>
          </a:prstGeom>
          <a:noFill/>
          <a:ln/>
        </p:spPr>
        <p:txBody>
          <a:bodyPr wrap="square" rtlCol="0"/>
          <a:lstStyle>
            <a:lvl1pPr marL="0" indent="0" algn="l">
              <a:buNone/>
              <a:defRPr lang="en-US" sz="2400" b="1" dirty="0">
                <a:solidFill>
                  <a:schemeClr val="tx1"/>
                </a:solidFill>
                <a:latin typeface="Montserrat" pitchFamily="34" charset="0"/>
                <a:ea typeface="Montserrat" pitchFamily="34" charset="-122"/>
                <a:cs typeface="Montserrat" pitchFamily="34" charset="-120"/>
              </a:defRPr>
            </a:lvl1pPr>
          </a:lstStyle>
          <a:p>
            <a:pPr marL="0" indent="0" algn="l">
              <a:buNone/>
            </a:pPr>
            <a:endParaRPr lang="en-US" sz="24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pic>
        <p:nvPicPr>
          <p:cNvPr id="15" name="Picture 14">
            <a:extLst>
              <a:ext uri="{FF2B5EF4-FFF2-40B4-BE49-F238E27FC236}">
                <a16:creationId xmlns:a16="http://schemas.microsoft.com/office/drawing/2014/main" id="{79889D37-CA5A-BE6C-96C9-06DF403AA55E}"/>
              </a:ext>
            </a:extLst>
          </p:cNvPr>
          <p:cNvPicPr>
            <a:picLocks noChangeAspect="1"/>
          </p:cNvPicPr>
          <p:nvPr userDrawn="1"/>
        </p:nvPicPr>
        <p:blipFill>
          <a:blip r:embed="rId3"/>
          <a:stretch>
            <a:fillRect/>
          </a:stretch>
        </p:blipFill>
        <p:spPr>
          <a:xfrm>
            <a:off x="10702633" y="48335"/>
            <a:ext cx="1176475" cy="920929"/>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PRACTICE">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chemeClr val="tx2"/>
          </a:solidFill>
          <a:ln/>
        </p:spPr>
        <p:txBody>
          <a:bodyPr/>
          <a:lstStyle/>
          <a:p>
            <a:endParaRPr lang="en-US"/>
          </a:p>
        </p:txBody>
      </p:sp>
      <p:pic>
        <p:nvPicPr>
          <p:cNvPr id="3" name="Image 0" descr="oldwell.png"/>
          <p:cNvPicPr>
            <a:picLocks noChangeAspect="1"/>
          </p:cNvPicPr>
          <p:nvPr/>
        </p:nvPicPr>
        <p:blipFill>
          <a:blip r:embed="rId2"/>
          <a:stretch>
            <a:fillRect/>
          </a:stretch>
        </p:blipFill>
        <p:spPr>
          <a:xfrm>
            <a:off x="384048" y="6126480"/>
            <a:ext cx="512064" cy="640080"/>
          </a:xfrm>
          <a:prstGeom prst="rect">
            <a:avLst/>
          </a:prstGeom>
        </p:spPr>
      </p:pic>
      <p:sp>
        <p:nvSpPr>
          <p:cNvPr id="4" name="Text 1"/>
          <p:cNvSpPr/>
          <p:nvPr/>
        </p:nvSpPr>
        <p:spPr>
          <a:xfrm>
            <a:off x="932688" y="6163056"/>
            <a:ext cx="292608" cy="548640"/>
          </a:xfrm>
          <a:prstGeom prst="rect">
            <a:avLst/>
          </a:prstGeom>
          <a:noFill/>
          <a:ln/>
        </p:spPr>
        <p:txBody>
          <a:bodyPr wrap="square" lIns="0" tIns="0" rIns="0" bIns="0" rtlCol="0" anchor="ctr"/>
          <a:lstStyle/>
          <a:p>
            <a:pPr marL="0" indent="0" algn="ctr">
              <a:buNone/>
            </a:pPr>
            <a:r>
              <a:rPr lang="en-US" sz="2400" b="1">
                <a:solidFill>
                  <a:schemeClr val="bg1"/>
                </a:solidFill>
                <a:latin typeface="Montserrat" pitchFamily="34" charset="0"/>
                <a:ea typeface="Montserrat" pitchFamily="34" charset="-122"/>
                <a:cs typeface="Montserrat" pitchFamily="34" charset="-120"/>
              </a:rPr>
              <a:t>×</a:t>
            </a:r>
            <a:endParaRPr lang="en-US" sz="2400"/>
          </a:p>
        </p:txBody>
      </p:sp>
      <p:sp>
        <p:nvSpPr>
          <p:cNvPr id="7" name="Text 4"/>
          <p:cNvSpPr/>
          <p:nvPr/>
        </p:nvSpPr>
        <p:spPr>
          <a:xfrm>
            <a:off x="3291840" y="6227064"/>
            <a:ext cx="1783080" cy="438912"/>
          </a:xfrm>
          <a:prstGeom prst="homePlate">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Overview</a:t>
            </a:r>
            <a:endParaRPr lang="en-US" sz="1300"/>
          </a:p>
        </p:txBody>
      </p:sp>
      <p:sp>
        <p:nvSpPr>
          <p:cNvPr id="8" name="Text 5"/>
          <p:cNvSpPr/>
          <p:nvPr/>
        </p:nvSpPr>
        <p:spPr>
          <a:xfrm>
            <a:off x="4956048"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Benchmarks</a:t>
            </a:r>
            <a:endParaRPr lang="en-US" sz="1300"/>
          </a:p>
        </p:txBody>
      </p:sp>
      <p:sp>
        <p:nvSpPr>
          <p:cNvPr id="9" name="Text 6"/>
          <p:cNvSpPr/>
          <p:nvPr/>
        </p:nvSpPr>
        <p:spPr>
          <a:xfrm>
            <a:off x="6620256" y="6227064"/>
            <a:ext cx="1783080" cy="438912"/>
          </a:xfrm>
          <a:prstGeom prst="chevron">
            <a:avLst/>
          </a:prstGeom>
          <a:solidFill>
            <a:schemeClr val="accent3"/>
          </a:solidFill>
          <a:ln w="6350">
            <a:solidFill>
              <a:schemeClr val="tx2"/>
            </a:solidFill>
          </a:ln>
        </p:spPr>
        <p:txBody>
          <a:bodyPr wrap="square" lIns="0" tIns="0" rIns="0" bIns="0" rtlCol="0" anchor="ctr"/>
          <a:lstStyle/>
          <a:p>
            <a:pPr marL="0" indent="0" algn="ctr">
              <a:buNone/>
            </a:pPr>
            <a:r>
              <a:rPr lang="en-US" sz="1300" b="1">
                <a:solidFill>
                  <a:schemeClr val="tx2"/>
                </a:solidFill>
                <a:latin typeface="Calibri" pitchFamily="34" charset="0"/>
                <a:ea typeface="Calibri" pitchFamily="34" charset="-122"/>
                <a:cs typeface="Calibri" pitchFamily="34" charset="-120"/>
              </a:rPr>
              <a:t>Best Practices</a:t>
            </a:r>
            <a:endParaRPr lang="en-US" sz="1300"/>
          </a:p>
        </p:txBody>
      </p:sp>
      <p:sp>
        <p:nvSpPr>
          <p:cNvPr id="10" name="Text 7"/>
          <p:cNvSpPr/>
          <p:nvPr/>
        </p:nvSpPr>
        <p:spPr>
          <a:xfrm>
            <a:off x="8284464"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Next Steps</a:t>
            </a:r>
            <a:endParaRPr lang="en-US" sz="1300"/>
          </a:p>
        </p:txBody>
      </p:sp>
      <p:sp>
        <p:nvSpPr>
          <p:cNvPr id="11" name="Shape 8"/>
          <p:cNvSpPr/>
          <p:nvPr/>
        </p:nvSpPr>
        <p:spPr>
          <a:xfrm>
            <a:off x="274320" y="1024128"/>
            <a:ext cx="11640312" cy="0"/>
          </a:xfrm>
          <a:prstGeom prst="line">
            <a:avLst/>
          </a:prstGeom>
          <a:noFill/>
          <a:ln w="38100">
            <a:solidFill>
              <a:schemeClr val="accent1"/>
            </a:solidFill>
            <a:prstDash val="solid"/>
          </a:ln>
        </p:spPr>
        <p:txBody>
          <a:bodyPr/>
          <a:lstStyle/>
          <a:p>
            <a:endParaRPr lang="en-US"/>
          </a:p>
        </p:txBody>
      </p:sp>
      <p:sp>
        <p:nvSpPr>
          <p:cNvPr id="14" name="Text 11"/>
          <p:cNvSpPr>
            <a:spLocks noGrp="1"/>
          </p:cNvSpPr>
          <p:nvPr>
            <p:ph type="title" idx="112" hasCustomPrompt="1"/>
          </p:nvPr>
        </p:nvSpPr>
        <p:spPr>
          <a:xfrm>
            <a:off x="365760" y="256032"/>
            <a:ext cx="9692640" cy="713232"/>
          </a:xfrm>
          <a:prstGeom prst="rect">
            <a:avLst/>
          </a:prstGeom>
          <a:noFill/>
          <a:ln/>
        </p:spPr>
        <p:txBody>
          <a:bodyPr wrap="square" rtlCol="0"/>
          <a:lstStyle>
            <a:lvl1pPr marL="0" indent="0" algn="l">
              <a:buNone/>
              <a:defRPr lang="en-US" sz="2400" b="1" dirty="0">
                <a:solidFill>
                  <a:schemeClr val="tx1"/>
                </a:solidFill>
                <a:latin typeface="Montserrat" pitchFamily="34" charset="0"/>
                <a:ea typeface="Montserrat" pitchFamily="34" charset="-122"/>
                <a:cs typeface="Montserrat" pitchFamily="34" charset="-120"/>
              </a:defRPr>
            </a:lvl1pPr>
          </a:lstStyle>
          <a:p>
            <a:pPr marL="0" indent="0" algn="l">
              <a:buNone/>
            </a:pPr>
            <a:endParaRPr lang="en-US" sz="24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pic>
        <p:nvPicPr>
          <p:cNvPr id="15" name="Picture 14">
            <a:extLst>
              <a:ext uri="{FF2B5EF4-FFF2-40B4-BE49-F238E27FC236}">
                <a16:creationId xmlns:a16="http://schemas.microsoft.com/office/drawing/2014/main" id="{873D979F-06B2-E871-6904-7C87DC52CD59}"/>
              </a:ext>
            </a:extLst>
          </p:cNvPr>
          <p:cNvPicPr>
            <a:picLocks noChangeAspect="1"/>
          </p:cNvPicPr>
          <p:nvPr userDrawn="1"/>
        </p:nvPicPr>
        <p:blipFill>
          <a:blip r:embed="rId3"/>
          <a:stretch>
            <a:fillRect/>
          </a:stretch>
        </p:blipFill>
        <p:spPr>
          <a:xfrm>
            <a:off x="10702633" y="48335"/>
            <a:ext cx="1176475" cy="9209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NEX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chemeClr val="tx2"/>
          </a:solidFill>
          <a:ln/>
        </p:spPr>
        <p:txBody>
          <a:bodyPr/>
          <a:lstStyle/>
          <a:p>
            <a:endParaRPr lang="en-US"/>
          </a:p>
        </p:txBody>
      </p:sp>
      <p:pic>
        <p:nvPicPr>
          <p:cNvPr id="3" name="Image 0" descr="oldwell.png"/>
          <p:cNvPicPr>
            <a:picLocks noChangeAspect="1"/>
          </p:cNvPicPr>
          <p:nvPr/>
        </p:nvPicPr>
        <p:blipFill>
          <a:blip r:embed="rId2"/>
          <a:stretch>
            <a:fillRect/>
          </a:stretch>
        </p:blipFill>
        <p:spPr>
          <a:xfrm>
            <a:off x="384048" y="6126480"/>
            <a:ext cx="512064" cy="640080"/>
          </a:xfrm>
          <a:prstGeom prst="rect">
            <a:avLst/>
          </a:prstGeom>
        </p:spPr>
      </p:pic>
      <p:sp>
        <p:nvSpPr>
          <p:cNvPr id="4" name="Text 1"/>
          <p:cNvSpPr/>
          <p:nvPr/>
        </p:nvSpPr>
        <p:spPr>
          <a:xfrm>
            <a:off x="932688" y="6163056"/>
            <a:ext cx="292608" cy="548640"/>
          </a:xfrm>
          <a:prstGeom prst="rect">
            <a:avLst/>
          </a:prstGeom>
          <a:noFill/>
          <a:ln/>
        </p:spPr>
        <p:txBody>
          <a:bodyPr wrap="square" lIns="0" tIns="0" rIns="0" bIns="0" rtlCol="0" anchor="ctr"/>
          <a:lstStyle/>
          <a:p>
            <a:pPr marL="0" indent="0" algn="ctr">
              <a:buNone/>
            </a:pPr>
            <a:r>
              <a:rPr lang="en-US" sz="2400" b="1">
                <a:solidFill>
                  <a:schemeClr val="bg1"/>
                </a:solidFill>
                <a:latin typeface="Montserrat" pitchFamily="34" charset="0"/>
                <a:ea typeface="Montserrat" pitchFamily="34" charset="-122"/>
                <a:cs typeface="Montserrat" pitchFamily="34" charset="-120"/>
              </a:rPr>
              <a:t>×</a:t>
            </a:r>
            <a:endParaRPr lang="en-US" sz="2400"/>
          </a:p>
        </p:txBody>
      </p:sp>
      <p:sp>
        <p:nvSpPr>
          <p:cNvPr id="7" name="Text 4"/>
          <p:cNvSpPr/>
          <p:nvPr/>
        </p:nvSpPr>
        <p:spPr>
          <a:xfrm>
            <a:off x="3291840" y="6227064"/>
            <a:ext cx="1783080" cy="438912"/>
          </a:xfrm>
          <a:prstGeom prst="homePlate">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Overview</a:t>
            </a:r>
            <a:endParaRPr lang="en-US" sz="1300"/>
          </a:p>
        </p:txBody>
      </p:sp>
      <p:sp>
        <p:nvSpPr>
          <p:cNvPr id="8" name="Text 5"/>
          <p:cNvSpPr/>
          <p:nvPr/>
        </p:nvSpPr>
        <p:spPr>
          <a:xfrm>
            <a:off x="4956048"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Benchmarks</a:t>
            </a:r>
            <a:endParaRPr lang="en-US" sz="1300"/>
          </a:p>
        </p:txBody>
      </p:sp>
      <p:sp>
        <p:nvSpPr>
          <p:cNvPr id="9" name="Text 6"/>
          <p:cNvSpPr/>
          <p:nvPr/>
        </p:nvSpPr>
        <p:spPr>
          <a:xfrm>
            <a:off x="6620256"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Best Practices</a:t>
            </a:r>
            <a:endParaRPr lang="en-US" sz="1300"/>
          </a:p>
        </p:txBody>
      </p:sp>
      <p:sp>
        <p:nvSpPr>
          <p:cNvPr id="10" name="Text 7"/>
          <p:cNvSpPr/>
          <p:nvPr/>
        </p:nvSpPr>
        <p:spPr>
          <a:xfrm>
            <a:off x="8284464" y="6227064"/>
            <a:ext cx="1783080" cy="438912"/>
          </a:xfrm>
          <a:prstGeom prst="chevron">
            <a:avLst/>
          </a:prstGeom>
          <a:solidFill>
            <a:schemeClr val="accent3"/>
          </a:solidFill>
          <a:ln w="6350">
            <a:solidFill>
              <a:schemeClr val="tx2"/>
            </a:solidFill>
          </a:ln>
        </p:spPr>
        <p:txBody>
          <a:bodyPr wrap="square" lIns="0" tIns="0" rIns="0" bIns="0" rtlCol="0" anchor="ctr"/>
          <a:lstStyle/>
          <a:p>
            <a:pPr marL="0" indent="0" algn="ctr">
              <a:buNone/>
            </a:pPr>
            <a:r>
              <a:rPr lang="en-US" sz="1300" b="1">
                <a:solidFill>
                  <a:schemeClr val="tx2"/>
                </a:solidFill>
                <a:latin typeface="Calibri" pitchFamily="34" charset="0"/>
                <a:ea typeface="Calibri" pitchFamily="34" charset="-122"/>
                <a:cs typeface="Calibri" pitchFamily="34" charset="-120"/>
              </a:rPr>
              <a:t>Next Steps</a:t>
            </a:r>
            <a:endParaRPr lang="en-US" sz="1300"/>
          </a:p>
        </p:txBody>
      </p:sp>
      <p:sp>
        <p:nvSpPr>
          <p:cNvPr id="11" name="Shape 8"/>
          <p:cNvSpPr/>
          <p:nvPr/>
        </p:nvSpPr>
        <p:spPr>
          <a:xfrm>
            <a:off x="274320" y="1024128"/>
            <a:ext cx="11640312" cy="0"/>
          </a:xfrm>
          <a:prstGeom prst="line">
            <a:avLst/>
          </a:prstGeom>
          <a:noFill/>
          <a:ln w="38100">
            <a:solidFill>
              <a:schemeClr val="accent1"/>
            </a:solidFill>
            <a:prstDash val="solid"/>
          </a:ln>
        </p:spPr>
        <p:txBody>
          <a:bodyPr/>
          <a:lstStyle/>
          <a:p>
            <a:endParaRPr lang="en-US"/>
          </a:p>
        </p:txBody>
      </p:sp>
      <p:sp>
        <p:nvSpPr>
          <p:cNvPr id="14" name="Text 11"/>
          <p:cNvSpPr>
            <a:spLocks noGrp="1"/>
          </p:cNvSpPr>
          <p:nvPr>
            <p:ph type="title" idx="112" hasCustomPrompt="1"/>
          </p:nvPr>
        </p:nvSpPr>
        <p:spPr>
          <a:xfrm>
            <a:off x="365760" y="256032"/>
            <a:ext cx="9692640" cy="713232"/>
          </a:xfrm>
          <a:prstGeom prst="rect">
            <a:avLst/>
          </a:prstGeom>
          <a:noFill/>
          <a:ln/>
        </p:spPr>
        <p:txBody>
          <a:bodyPr wrap="square" rtlCol="0"/>
          <a:lstStyle>
            <a:lvl1pPr marL="0" indent="0" algn="l">
              <a:buNone/>
              <a:defRPr lang="en-US" sz="2400" b="1" dirty="0">
                <a:solidFill>
                  <a:schemeClr val="tx1"/>
                </a:solidFill>
                <a:latin typeface="Montserrat" pitchFamily="34" charset="0"/>
                <a:ea typeface="Montserrat" pitchFamily="34" charset="-122"/>
                <a:cs typeface="Montserrat" pitchFamily="34" charset="-120"/>
              </a:defRPr>
            </a:lvl1pPr>
          </a:lstStyle>
          <a:p>
            <a:pPr marL="0" indent="0" algn="l">
              <a:buNone/>
            </a:pPr>
            <a:endParaRPr lang="en-US" sz="24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pic>
        <p:nvPicPr>
          <p:cNvPr id="15" name="Picture 14">
            <a:extLst>
              <a:ext uri="{FF2B5EF4-FFF2-40B4-BE49-F238E27FC236}">
                <a16:creationId xmlns:a16="http://schemas.microsoft.com/office/drawing/2014/main" id="{50A3A63F-A199-C094-36B7-F533078B2178}"/>
              </a:ext>
            </a:extLst>
          </p:cNvPr>
          <p:cNvPicPr>
            <a:picLocks noChangeAspect="1"/>
          </p:cNvPicPr>
          <p:nvPr userDrawn="1"/>
        </p:nvPicPr>
        <p:blipFill>
          <a:blip r:embed="rId3"/>
          <a:stretch>
            <a:fillRect/>
          </a:stretch>
        </p:blipFill>
        <p:spPr>
          <a:xfrm>
            <a:off x="10702633" y="48335"/>
            <a:ext cx="1176475" cy="92092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_APPX">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chemeClr val="tx2"/>
          </a:solidFill>
          <a:ln/>
        </p:spPr>
        <p:txBody>
          <a:bodyPr/>
          <a:lstStyle/>
          <a:p>
            <a:endParaRPr lang="en-US"/>
          </a:p>
        </p:txBody>
      </p:sp>
      <p:pic>
        <p:nvPicPr>
          <p:cNvPr id="3" name="Image 0" descr="oldwell.png"/>
          <p:cNvPicPr>
            <a:picLocks noChangeAspect="1"/>
          </p:cNvPicPr>
          <p:nvPr/>
        </p:nvPicPr>
        <p:blipFill>
          <a:blip r:embed="rId2"/>
          <a:stretch>
            <a:fillRect/>
          </a:stretch>
        </p:blipFill>
        <p:spPr>
          <a:xfrm>
            <a:off x="384048" y="6126480"/>
            <a:ext cx="512064" cy="640080"/>
          </a:xfrm>
          <a:prstGeom prst="rect">
            <a:avLst/>
          </a:prstGeom>
        </p:spPr>
      </p:pic>
      <p:sp>
        <p:nvSpPr>
          <p:cNvPr id="4" name="Text 1"/>
          <p:cNvSpPr/>
          <p:nvPr/>
        </p:nvSpPr>
        <p:spPr>
          <a:xfrm>
            <a:off x="932688" y="6163056"/>
            <a:ext cx="292608" cy="548640"/>
          </a:xfrm>
          <a:prstGeom prst="rect">
            <a:avLst/>
          </a:prstGeom>
          <a:noFill/>
          <a:ln/>
        </p:spPr>
        <p:txBody>
          <a:bodyPr wrap="square" lIns="0" tIns="0" rIns="0" bIns="0" rtlCol="0" anchor="ctr"/>
          <a:lstStyle/>
          <a:p>
            <a:pPr marL="0" indent="0" algn="ctr">
              <a:buNone/>
            </a:pPr>
            <a:r>
              <a:rPr lang="en-US" sz="2400" b="1">
                <a:solidFill>
                  <a:schemeClr val="bg1"/>
                </a:solidFill>
                <a:latin typeface="Montserrat" pitchFamily="34" charset="0"/>
                <a:ea typeface="Montserrat" pitchFamily="34" charset="-122"/>
                <a:cs typeface="Montserrat" pitchFamily="34" charset="-120"/>
              </a:rPr>
              <a:t>×</a:t>
            </a:r>
            <a:endParaRPr lang="en-US" sz="2400"/>
          </a:p>
        </p:txBody>
      </p:sp>
      <p:sp>
        <p:nvSpPr>
          <p:cNvPr id="7" name="Text 4"/>
          <p:cNvSpPr/>
          <p:nvPr/>
        </p:nvSpPr>
        <p:spPr>
          <a:xfrm>
            <a:off x="3291840" y="6227064"/>
            <a:ext cx="1783080" cy="438912"/>
          </a:xfrm>
          <a:prstGeom prst="homePlate">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Overview</a:t>
            </a:r>
            <a:endParaRPr lang="en-US" sz="1300"/>
          </a:p>
        </p:txBody>
      </p:sp>
      <p:sp>
        <p:nvSpPr>
          <p:cNvPr id="8" name="Text 5"/>
          <p:cNvSpPr/>
          <p:nvPr/>
        </p:nvSpPr>
        <p:spPr>
          <a:xfrm>
            <a:off x="4956048"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Benchmarks</a:t>
            </a:r>
            <a:endParaRPr lang="en-US" sz="1300"/>
          </a:p>
        </p:txBody>
      </p:sp>
      <p:sp>
        <p:nvSpPr>
          <p:cNvPr id="9" name="Text 6"/>
          <p:cNvSpPr/>
          <p:nvPr/>
        </p:nvSpPr>
        <p:spPr>
          <a:xfrm>
            <a:off x="6620256"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Best Practices</a:t>
            </a:r>
            <a:endParaRPr lang="en-US" sz="1300"/>
          </a:p>
        </p:txBody>
      </p:sp>
      <p:sp>
        <p:nvSpPr>
          <p:cNvPr id="10" name="Text 7"/>
          <p:cNvSpPr/>
          <p:nvPr/>
        </p:nvSpPr>
        <p:spPr>
          <a:xfrm>
            <a:off x="8284464"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Next Steps</a:t>
            </a:r>
            <a:endParaRPr lang="en-US" sz="1300"/>
          </a:p>
        </p:txBody>
      </p:sp>
      <p:sp>
        <p:nvSpPr>
          <p:cNvPr id="11" name="Shape 8"/>
          <p:cNvSpPr/>
          <p:nvPr/>
        </p:nvSpPr>
        <p:spPr>
          <a:xfrm>
            <a:off x="274320" y="1024128"/>
            <a:ext cx="11640312" cy="0"/>
          </a:xfrm>
          <a:prstGeom prst="line">
            <a:avLst/>
          </a:prstGeom>
          <a:noFill/>
          <a:ln w="38100">
            <a:solidFill>
              <a:schemeClr val="accent1"/>
            </a:solidFill>
            <a:prstDash val="solid"/>
          </a:ln>
        </p:spPr>
        <p:txBody>
          <a:bodyPr/>
          <a:lstStyle/>
          <a:p>
            <a:endParaRPr lang="en-US"/>
          </a:p>
        </p:txBody>
      </p:sp>
      <p:sp>
        <p:nvSpPr>
          <p:cNvPr id="14" name="Text 11"/>
          <p:cNvSpPr>
            <a:spLocks noGrp="1"/>
          </p:cNvSpPr>
          <p:nvPr>
            <p:ph type="title" idx="112" hasCustomPrompt="1"/>
          </p:nvPr>
        </p:nvSpPr>
        <p:spPr>
          <a:xfrm>
            <a:off x="365760" y="256032"/>
            <a:ext cx="9692640" cy="713232"/>
          </a:xfrm>
          <a:prstGeom prst="rect">
            <a:avLst/>
          </a:prstGeom>
          <a:noFill/>
          <a:ln/>
        </p:spPr>
        <p:txBody>
          <a:bodyPr wrap="square" rtlCol="0"/>
          <a:lstStyle>
            <a:lvl1pPr marL="0" indent="0" algn="l">
              <a:buNone/>
              <a:defRPr lang="en-US" sz="2400" b="1" dirty="0">
                <a:solidFill>
                  <a:schemeClr val="tx1"/>
                </a:solidFill>
                <a:latin typeface="Montserrat" pitchFamily="34" charset="0"/>
                <a:ea typeface="Montserrat" pitchFamily="34" charset="-122"/>
                <a:cs typeface="Montserrat" pitchFamily="34" charset="-120"/>
              </a:defRPr>
            </a:lvl1pPr>
          </a:lstStyle>
          <a:p>
            <a:pPr marL="0" indent="0" algn="l">
              <a:buNone/>
            </a:pPr>
            <a:endParaRPr lang="en-US" sz="24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pic>
        <p:nvPicPr>
          <p:cNvPr id="15" name="Picture 14">
            <a:extLst>
              <a:ext uri="{FF2B5EF4-FFF2-40B4-BE49-F238E27FC236}">
                <a16:creationId xmlns:a16="http://schemas.microsoft.com/office/drawing/2014/main" id="{261F22C3-7922-3663-8382-E784051A7D75}"/>
              </a:ext>
            </a:extLst>
          </p:cNvPr>
          <p:cNvPicPr>
            <a:picLocks noChangeAspect="1"/>
          </p:cNvPicPr>
          <p:nvPr userDrawn="1"/>
        </p:nvPicPr>
        <p:blipFill>
          <a:blip r:embed="rId3"/>
          <a:stretch>
            <a:fillRect/>
          </a:stretch>
        </p:blipFill>
        <p:spPr>
          <a:xfrm>
            <a:off x="10702633" y="48335"/>
            <a:ext cx="1176475" cy="920929"/>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PPX_DIVIDER">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035040"/>
            <a:ext cx="12191695" cy="822960"/>
          </a:xfrm>
          <a:prstGeom prst="rect">
            <a:avLst/>
          </a:prstGeom>
          <a:solidFill>
            <a:schemeClr val="tx2"/>
          </a:solidFill>
          <a:ln/>
        </p:spPr>
        <p:txBody>
          <a:bodyPr/>
          <a:lstStyle/>
          <a:p>
            <a:endParaRPr lang="en-US"/>
          </a:p>
        </p:txBody>
      </p:sp>
      <p:pic>
        <p:nvPicPr>
          <p:cNvPr id="3" name="Image 0" descr="oldwell.png"/>
          <p:cNvPicPr>
            <a:picLocks noChangeAspect="1"/>
          </p:cNvPicPr>
          <p:nvPr/>
        </p:nvPicPr>
        <p:blipFill>
          <a:blip r:embed="rId2"/>
          <a:stretch>
            <a:fillRect/>
          </a:stretch>
        </p:blipFill>
        <p:spPr>
          <a:xfrm>
            <a:off x="384048" y="6126480"/>
            <a:ext cx="512064" cy="640080"/>
          </a:xfrm>
          <a:prstGeom prst="rect">
            <a:avLst/>
          </a:prstGeom>
        </p:spPr>
      </p:pic>
      <p:sp>
        <p:nvSpPr>
          <p:cNvPr id="4" name="Text 1"/>
          <p:cNvSpPr/>
          <p:nvPr/>
        </p:nvSpPr>
        <p:spPr>
          <a:xfrm>
            <a:off x="932688" y="6163056"/>
            <a:ext cx="292608" cy="548640"/>
          </a:xfrm>
          <a:prstGeom prst="rect">
            <a:avLst/>
          </a:prstGeom>
          <a:noFill/>
          <a:ln/>
        </p:spPr>
        <p:txBody>
          <a:bodyPr wrap="square" lIns="0" tIns="0" rIns="0" bIns="0" rtlCol="0" anchor="ctr"/>
          <a:lstStyle/>
          <a:p>
            <a:pPr marL="0" indent="0" algn="ctr">
              <a:buNone/>
            </a:pPr>
            <a:r>
              <a:rPr lang="en-US" sz="2400" b="1">
                <a:solidFill>
                  <a:schemeClr val="bg1"/>
                </a:solidFill>
                <a:latin typeface="Montserrat" pitchFamily="34" charset="0"/>
                <a:ea typeface="Montserrat" pitchFamily="34" charset="-122"/>
                <a:cs typeface="Montserrat" pitchFamily="34" charset="-120"/>
              </a:rPr>
              <a:t>×</a:t>
            </a:r>
            <a:endParaRPr lang="en-US" sz="2400"/>
          </a:p>
        </p:txBody>
      </p:sp>
      <p:sp>
        <p:nvSpPr>
          <p:cNvPr id="7" name="Text 4"/>
          <p:cNvSpPr/>
          <p:nvPr/>
        </p:nvSpPr>
        <p:spPr>
          <a:xfrm>
            <a:off x="3291840" y="6227064"/>
            <a:ext cx="1783080" cy="438912"/>
          </a:xfrm>
          <a:prstGeom prst="homePlate">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Overview</a:t>
            </a:r>
            <a:endParaRPr lang="en-US" sz="1300"/>
          </a:p>
        </p:txBody>
      </p:sp>
      <p:sp>
        <p:nvSpPr>
          <p:cNvPr id="8" name="Text 5"/>
          <p:cNvSpPr/>
          <p:nvPr/>
        </p:nvSpPr>
        <p:spPr>
          <a:xfrm>
            <a:off x="4956048"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Benchmarks</a:t>
            </a:r>
            <a:endParaRPr lang="en-US" sz="1300"/>
          </a:p>
        </p:txBody>
      </p:sp>
      <p:sp>
        <p:nvSpPr>
          <p:cNvPr id="9" name="Text 6"/>
          <p:cNvSpPr/>
          <p:nvPr/>
        </p:nvSpPr>
        <p:spPr>
          <a:xfrm>
            <a:off x="6620256"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Best Practices</a:t>
            </a:r>
            <a:endParaRPr lang="en-US" sz="1300"/>
          </a:p>
        </p:txBody>
      </p:sp>
      <p:sp>
        <p:nvSpPr>
          <p:cNvPr id="10" name="Text 7"/>
          <p:cNvSpPr/>
          <p:nvPr/>
        </p:nvSpPr>
        <p:spPr>
          <a:xfrm>
            <a:off x="8284464" y="6227064"/>
            <a:ext cx="1783080" cy="438912"/>
          </a:xfrm>
          <a:prstGeom prst="chevron">
            <a:avLst/>
          </a:prstGeom>
          <a:solidFill>
            <a:schemeClr val="accent5"/>
          </a:solidFill>
          <a:ln w="6350">
            <a:solidFill>
              <a:schemeClr val="tx2"/>
            </a:solidFill>
          </a:ln>
        </p:spPr>
        <p:txBody>
          <a:bodyPr wrap="square" lIns="0" tIns="0" rIns="0" bIns="0" rtlCol="0" anchor="ctr"/>
          <a:lstStyle/>
          <a:p>
            <a:pPr marL="0" indent="0" algn="ctr">
              <a:buNone/>
            </a:pPr>
            <a:r>
              <a:rPr lang="en-US" sz="1300">
                <a:solidFill>
                  <a:schemeClr val="tx2"/>
                </a:solidFill>
                <a:latin typeface="Calibri" pitchFamily="34" charset="0"/>
                <a:ea typeface="Calibri" pitchFamily="34" charset="-122"/>
                <a:cs typeface="Calibri" pitchFamily="34" charset="-120"/>
              </a:rPr>
              <a:t>Next Steps</a:t>
            </a:r>
            <a:endParaRPr lang="en-US" sz="13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4.png"/><Relationship Id="rId7"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2.jpeg"/><Relationship Id="rId5" Type="http://schemas.openxmlformats.org/officeDocument/2006/relationships/slide" Target="slide15.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7.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chart" Target="../charts/chart1.xml"/><Relationship Id="rId7" Type="http://schemas.openxmlformats.org/officeDocument/2006/relationships/slide" Target="slide15.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7.jpeg"/></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6.png"/><Relationship Id="rId11" Type="http://schemas.openxmlformats.org/officeDocument/2006/relationships/image" Target="../media/image7.jpeg"/><Relationship Id="rId5" Type="http://schemas.openxmlformats.org/officeDocument/2006/relationships/image" Target="../media/image15.png"/><Relationship Id="rId10" Type="http://schemas.openxmlformats.org/officeDocument/2006/relationships/image" Target="../media/image2.jpeg"/><Relationship Id="rId4" Type="http://schemas.openxmlformats.org/officeDocument/2006/relationships/image" Target="../media/image14.png"/><Relationship Id="rId9" Type="http://schemas.openxmlformats.org/officeDocument/2006/relationships/slide" Target="slide15.xml"/></Relationships>
</file>

<file path=ppt/slides/_rels/slide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14.png"/><Relationship Id="rId7" Type="http://schemas.openxmlformats.org/officeDocument/2006/relationships/slide" Target="slide15.xml"/><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7.jpeg"/></Relationships>
</file>

<file path=ppt/slides/_rels/slide9.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22.png"/><Relationship Id="rId7" Type="http://schemas.openxmlformats.org/officeDocument/2006/relationships/slide" Target="slide15.xml"/><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24.png"/><Relationship Id="rId4" Type="http://schemas.openxmlformats.org/officeDocument/2006/relationships/image" Target="../media/image23.png"/><Relationship Id="rId9" Type="http://schemas.openxmlformats.org/officeDocument/2006/relationships/image" Target="../media/image7.jpeg"/></Relationships>
</file>

<file path=ppt/slides/_rels/slide10.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7.jpeg"/><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28.png"/><Relationship Id="rId11" Type="http://schemas.openxmlformats.org/officeDocument/2006/relationships/image" Target="../media/image7.jpeg"/><Relationship Id="rId5" Type="http://schemas.openxmlformats.org/officeDocument/2006/relationships/image" Target="../media/image27.png"/><Relationship Id="rId10" Type="http://schemas.openxmlformats.org/officeDocument/2006/relationships/image" Target="../media/image2.jpeg"/><Relationship Id="rId4" Type="http://schemas.openxmlformats.org/officeDocument/2006/relationships/image" Target="../media/image26.png"/><Relationship Id="rId9" Type="http://schemas.openxmlformats.org/officeDocument/2006/relationships/slide" Target="slide15.xml"/></Relationships>
</file>

<file path=ppt/slides/_rels/slide12.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image" Target="../media/image31.png"/><Relationship Id="rId7" Type="http://schemas.openxmlformats.org/officeDocument/2006/relationships/slide" Target="slide15.xml"/><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7.jpeg"/><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7.jpeg"/><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slide" Target="slide17.xml"/></Relationships>
</file>

<file path=ppt/slides/_rels/slide16.xml.rels><?xml version="1.0" encoding="UTF-8" standalone="yes"?>
<Relationships xmlns="http://schemas.openxmlformats.org/package/2006/relationships"><Relationship Id="rId8" Type="http://schemas.openxmlformats.org/officeDocument/2006/relationships/hyperlink" Target="https://www.census.gov/quickfacts/fact/table/gwinnettcountygeorgia/PST045225" TargetMode="External"/><Relationship Id="rId13" Type="http://schemas.openxmlformats.org/officeDocument/2006/relationships/hyperlink" Target="https://www.traviscountytx.gov/planning-budget/community-engagement/upcoming-events" TargetMode="External"/><Relationship Id="rId18" Type="http://schemas.openxmlformats.org/officeDocument/2006/relationships/hyperlink" Target="https://hcfl.gov/councils/diversity-advisory-council" TargetMode="External"/><Relationship Id="rId26" Type="http://schemas.openxmlformats.org/officeDocument/2006/relationships/hyperlink" Target="https://www.gwinnettcounty.com/government/departments/community-services/civic-engagement-and-social-impact/about" TargetMode="External"/><Relationship Id="rId3" Type="http://schemas.openxmlformats.org/officeDocument/2006/relationships/hyperlink" Target="https://www.census.gov/quickfacts/fact/table/wakecountynorthcarolina/PST045225" TargetMode="External"/><Relationship Id="rId21" Type="http://schemas.openxmlformats.org/officeDocument/2006/relationships/hyperlink" Target="https://www.collincountynortheastfreeway.com/public-meeting-1" TargetMode="External"/><Relationship Id="rId7" Type="http://schemas.openxmlformats.org/officeDocument/2006/relationships/hyperlink" Target="https://www.census.gov/quickfacts/fact/table/collincountytexas/PST045225" TargetMode="External"/><Relationship Id="rId12" Type="http://schemas.openxmlformats.org/officeDocument/2006/relationships/hyperlink" Target="https://mgr.mecknc.gov/site-menu/equity-and-inclusion" TargetMode="External"/><Relationship Id="rId17" Type="http://schemas.openxmlformats.org/officeDocument/2006/relationships/hyperlink" Target="https://hcfl.gov/departments/customer" TargetMode="External"/><Relationship Id="rId25" Type="http://schemas.openxmlformats.org/officeDocument/2006/relationships/hyperlink" Target="https://www.gwinnettcounty.com/government/departments/elections/language-equity" TargetMode="External"/><Relationship Id="rId2" Type="http://schemas.openxmlformats.org/officeDocument/2006/relationships/notesSlide" Target="../notesSlides/notesSlide16.xml"/><Relationship Id="rId16" Type="http://schemas.openxmlformats.org/officeDocument/2006/relationships/hyperlink" Target="https://hcfl.gov/events/budget-meeting-public-hearings/2026/09/24/blt1c5a8fc3b323ce09" TargetMode="External"/><Relationship Id="rId20" Type="http://schemas.openxmlformats.org/officeDocument/2006/relationships/hyperlink" Target="https://bmcdengage.mysocialpinpoint.com/cctp" TargetMode="External"/><Relationship Id="rId1" Type="http://schemas.openxmlformats.org/officeDocument/2006/relationships/slideLayout" Target="../slideLayouts/slideLayout6.xml"/><Relationship Id="rId6" Type="http://schemas.openxmlformats.org/officeDocument/2006/relationships/hyperlink" Target="https://www.census.gov/quickfacts/fact/table/hillsboroughcountyflorida/PST045225" TargetMode="External"/><Relationship Id="rId11" Type="http://schemas.openxmlformats.org/officeDocument/2006/relationships/hyperlink" Target="https://blog.mecknc.gov/advisory-boards" TargetMode="External"/><Relationship Id="rId24" Type="http://schemas.openxmlformats.org/officeDocument/2006/relationships/hyperlink" Target="https://www.gwinnettcounty.com/departments/countyclerk/boardsandauthorities/-/bacs/committee/62" TargetMode="External"/><Relationship Id="rId5" Type="http://schemas.openxmlformats.org/officeDocument/2006/relationships/hyperlink" Target="https://www.census.gov/quickfacts/fact/table/traviscountytexas/PST045225" TargetMode="External"/><Relationship Id="rId15" Type="http://schemas.openxmlformats.org/officeDocument/2006/relationships/hyperlink" Target="https://communityimpact.com/austin/central-austin/government/2019/12/10/travis-county-commissioners-approve-language-access-recommendations/" TargetMode="External"/><Relationship Id="rId23" Type="http://schemas.openxmlformats.org/officeDocument/2006/relationships/hyperlink" Target="https://www.gwinnettcounty.com/documents/d/gwinnett-county/budget-in-brief-2026" TargetMode="External"/><Relationship Id="rId28" Type="http://schemas.openxmlformats.org/officeDocument/2006/relationships/image" Target="../media/image7.jpeg"/><Relationship Id="rId10" Type="http://schemas.openxmlformats.org/officeDocument/2006/relationships/hyperlink" Target="https://engage.mecknc.gov/" TargetMode="External"/><Relationship Id="rId19" Type="http://schemas.openxmlformats.org/officeDocument/2006/relationships/hyperlink" Target="https://www.collincountytx.gov/government/budget" TargetMode="External"/><Relationship Id="rId4" Type="http://schemas.openxmlformats.org/officeDocument/2006/relationships/hyperlink" Target="https://www.census.gov/quickfacts/fact/table/mecklenburgcountynorthcarolina/PST045225" TargetMode="External"/><Relationship Id="rId9" Type="http://schemas.openxmlformats.org/officeDocument/2006/relationships/hyperlink" Target="https://budget.mecknc.gov/budget-engagement" TargetMode="External"/><Relationship Id="rId14" Type="http://schemas.openxmlformats.org/officeDocument/2006/relationships/hyperlink" Target="https://www.traviscountytx.gov/health-human-services/cdbg/participate" TargetMode="External"/><Relationship Id="rId22" Type="http://schemas.openxmlformats.org/officeDocument/2006/relationships/hyperlink" Target="https://www.collincountytx.gov/courts/constables/constable-precinct-4/citizen-academy" TargetMode="External"/><Relationship Id="rId27" Type="http://schemas.openxmlformats.org/officeDocument/2006/relationships/image" Target="../media/image2.jpeg"/></Relationships>
</file>

<file path=ppt/slides/_rels/slide17.xml.rels><?xml version="1.0" encoding="UTF-8" standalone="yes"?>
<Relationships xmlns="http://schemas.openxmlformats.org/package/2006/relationships"><Relationship Id="rId8" Type="http://schemas.openxmlformats.org/officeDocument/2006/relationships/hyperlink" Target="https://www.durhamnc.gov/5471/2026-Community-Conversations" TargetMode="External"/><Relationship Id="rId13" Type="http://schemas.openxmlformats.org/officeDocument/2006/relationships/hyperlink" Target="https://www.ca-ilg.org/public-engagement-case-story/community-partners-help-city-fresno-shape-its-general-plan-update" TargetMode="External"/><Relationship Id="rId18" Type="http://schemas.openxmlformats.org/officeDocument/2006/relationships/hyperlink" Target="https://wake.gov/departments-government/advisory-boards" TargetMode="External"/><Relationship Id="rId3" Type="http://schemas.openxmlformats.org/officeDocument/2006/relationships/hyperlink" Target="https://www.buncombenc.gov/193/Community-Engagement" TargetMode="External"/><Relationship Id="rId21" Type="http://schemas.openxmlformats.org/officeDocument/2006/relationships/hyperlink" Target="https://www.wake.gov/departments-government/planning-development-inspections/planning/east-wake-counts" TargetMode="External"/><Relationship Id="rId7" Type="http://schemas.openxmlformats.org/officeDocument/2006/relationships/hyperlink" Target="https://raleighnc.gov/engage-city/services/engagement-go" TargetMode="External"/><Relationship Id="rId12" Type="http://schemas.openxmlformats.org/officeDocument/2006/relationships/hyperlink" Target="https://www.fairfaxcounty.gov/topics/inclusive-community-engagement" TargetMode="External"/><Relationship Id="rId17" Type="http://schemas.openxmlformats.org/officeDocument/2006/relationships/hyperlink" Target="https://www.wake.gov/departments-government/office-diversity-equity-inclusion/doing/language-communication-access" TargetMode="External"/><Relationship Id="rId2" Type="http://schemas.openxmlformats.org/officeDocument/2006/relationships/notesSlide" Target="../notesSlides/notesSlide17.xml"/><Relationship Id="rId16" Type="http://schemas.openxmlformats.org/officeDocument/2006/relationships/hyperlink" Target="https://www.wake.gov/departments-government/language-access-support" TargetMode="External"/><Relationship Id="rId20" Type="http://schemas.openxmlformats.org/officeDocument/2006/relationships/hyperlink" Target="https://www.cbs17.com/news/local-news/wake-county-news/wake-county-residents-asked-for-input-on-second-phase-of-parks-master-plan/amp" TargetMode="External"/><Relationship Id="rId1" Type="http://schemas.openxmlformats.org/officeDocument/2006/relationships/slideLayout" Target="../slideLayouts/slideLayout6.xml"/><Relationship Id="rId6" Type="http://schemas.openxmlformats.org/officeDocument/2006/relationships/hyperlink" Target="https://raleighnc.gov/community/services/community-connectors" TargetMode="External"/><Relationship Id="rId11" Type="http://schemas.openxmlformats.org/officeDocument/2006/relationships/hyperlink" Target="https://www.fairfaxcounty.gov/strategicplan/sites/strategicplan/files/Fairfax%20County%20Annual%20Report.pdf" TargetMode="External"/><Relationship Id="rId5" Type="http://schemas.openxmlformats.org/officeDocument/2006/relationships/hyperlink" Target="https://media.buncombenc.gov/common/planning/calendar-files/compplan/web-docs/Adopted%20Plan/Adopted%20Comprehensive%20Plan.pdf" TargetMode="External"/><Relationship Id="rId15" Type="http://schemas.openxmlformats.org/officeDocument/2006/relationships/hyperlink" Target="https://www.wake.gov/departments-government/board-commissioners/meetings/translation-interpretation-services-board-commissioners-meetings" TargetMode="External"/><Relationship Id="rId23" Type="http://schemas.openxmlformats.org/officeDocument/2006/relationships/image" Target="../media/image7.jpeg"/><Relationship Id="rId10" Type="http://schemas.openxmlformats.org/officeDocument/2006/relationships/hyperlink" Target="https://www.fairfaxcounty.gov/topics/sites/topics/files/assets/documents/pdf/one-fairfax-policy.pdf" TargetMode="External"/><Relationship Id="rId19" Type="http://schemas.openxmlformats.org/officeDocument/2006/relationships/hyperlink" Target="https://www.wake.gov/news/wake-commissioners-adopt-countys-first-organization-wide-strategic-plan" TargetMode="External"/><Relationship Id="rId4" Type="http://schemas.openxmlformats.org/officeDocument/2006/relationships/hyperlink" Target="https://engage.buncombecounty.org/a6341" TargetMode="External"/><Relationship Id="rId9" Type="http://schemas.openxmlformats.org/officeDocument/2006/relationships/hyperlink" Target="https://www.durhamnc.gov/3747/Participatory-Budgeting" TargetMode="External"/><Relationship Id="rId14" Type="http://schemas.openxmlformats.org/officeDocument/2006/relationships/hyperlink" Target="https://www.wake.gov/news/manager-ellis-recommends-228-billion-budget-fiscal-year-2027" TargetMode="External"/><Relationship Id="rId22"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Decorative US map" descr="map_us_dark.png"/>
          <p:cNvPicPr>
            <a:picLocks noChangeAspect="1"/>
          </p:cNvPicPr>
          <p:nvPr/>
        </p:nvPicPr>
        <p:blipFill>
          <a:blip r:embed="rId3"/>
          <a:stretch>
            <a:fillRect/>
          </a:stretch>
        </p:blipFill>
        <p:spPr>
          <a:xfrm>
            <a:off x="5257800" y="960120"/>
            <a:ext cx="6583680" cy="4131963"/>
          </a:xfrm>
          <a:prstGeom prst="rect">
            <a:avLst/>
          </a:prstGeom>
        </p:spPr>
      </p:pic>
      <p:sp>
        <p:nvSpPr>
          <p:cNvPr id="3" name="Wake halo"/>
          <p:cNvSpPr/>
          <p:nvPr/>
        </p:nvSpPr>
        <p:spPr>
          <a:xfrm>
            <a:off x="10625268" y="3127621"/>
            <a:ext cx="310896" cy="310896"/>
          </a:xfrm>
          <a:prstGeom prst="ellipse">
            <a:avLst/>
          </a:prstGeom>
          <a:solidFill>
            <a:schemeClr val="accent1">
              <a:alpha val="40000"/>
            </a:schemeClr>
          </a:solidFill>
          <a:ln w="19050">
            <a:solidFill>
              <a:schemeClr val="accent1"/>
            </a:solidFill>
            <a:prstDash val="solid"/>
          </a:ln>
        </p:spPr>
        <p:txBody>
          <a:bodyPr/>
          <a:lstStyle/>
          <a:p>
            <a:endParaRPr lang="en-US"/>
          </a:p>
        </p:txBody>
      </p:sp>
      <p:sp>
        <p:nvSpPr>
          <p:cNvPr id="4" name="Text 1"/>
          <p:cNvSpPr txBox="1"/>
          <p:nvPr/>
        </p:nvSpPr>
        <p:spPr>
          <a:xfrm>
            <a:off x="548640" y="1417320"/>
            <a:ext cx="4937760" cy="320040"/>
          </a:xfrm>
          <a:prstGeom prst="rect">
            <a:avLst/>
          </a:prstGeom>
          <a:noFill/>
          <a:ln/>
        </p:spPr>
        <p:txBody>
          <a:bodyPr wrap="square" lIns="0" tIns="0" rIns="0" bIns="0" rtlCol="0" anchor="ctr"/>
          <a:lstStyle/>
          <a:p>
            <a:pPr marL="0" indent="0">
              <a:buNone/>
            </a:pPr>
            <a:endParaRPr lang="en-US" sz="1300"/>
          </a:p>
        </p:txBody>
      </p:sp>
      <p:sp>
        <p:nvSpPr>
          <p:cNvPr id="5" name="Deck title"/>
          <p:cNvSpPr txBox="1"/>
          <p:nvPr/>
        </p:nvSpPr>
        <p:spPr>
          <a:xfrm>
            <a:off x="213823" y="1575263"/>
            <a:ext cx="6298275" cy="1737360"/>
          </a:xfrm>
          <a:prstGeom prst="rect">
            <a:avLst/>
          </a:prstGeom>
          <a:noFill/>
          <a:ln/>
        </p:spPr>
        <p:txBody>
          <a:bodyPr wrap="square" lIns="0" tIns="0" rIns="0" bIns="0" rtlCol="0" anchor="t"/>
          <a:lstStyle/>
          <a:p>
            <a:r>
              <a:rPr lang="en-US" sz="3600" b="1">
                <a:solidFill>
                  <a:schemeClr val="bg1"/>
                </a:solidFill>
                <a:latin typeface="Montserrat"/>
                <a:ea typeface="Montserrat" pitchFamily="34" charset="-122"/>
                <a:cs typeface="Montserrat" pitchFamily="34" charset="-120"/>
              </a:rPr>
              <a:t>Benchmarking Wake County's Public Engagement </a:t>
            </a:r>
            <a:endParaRPr lang="en-US" sz="3600">
              <a:solidFill>
                <a:schemeClr val="bg1"/>
              </a:solidFill>
              <a:latin typeface="Montserrat"/>
            </a:endParaRPr>
          </a:p>
        </p:txBody>
      </p:sp>
      <p:sp>
        <p:nvSpPr>
          <p:cNvPr id="6" name="Text 3"/>
          <p:cNvSpPr txBox="1"/>
          <p:nvPr/>
        </p:nvSpPr>
        <p:spPr>
          <a:xfrm>
            <a:off x="182593" y="3429708"/>
            <a:ext cx="5669280" cy="457200"/>
          </a:xfrm>
          <a:prstGeom prst="rect">
            <a:avLst/>
          </a:prstGeom>
          <a:noFill/>
          <a:ln/>
        </p:spPr>
        <p:txBody>
          <a:bodyPr wrap="square" lIns="0" tIns="0" rIns="0" bIns="0" rtlCol="0" anchor="ctr"/>
          <a:lstStyle/>
          <a:p>
            <a:r>
              <a:rPr lang="en-US" sz="2000">
                <a:solidFill>
                  <a:schemeClr val="accent3"/>
                </a:solidFill>
                <a:latin typeface="+mj-lt"/>
                <a:ea typeface="+mn-lt"/>
                <a:cs typeface="+mn-lt"/>
              </a:rPr>
              <a:t>Peer Counties, Proven Practices, and Applications for Wake County</a:t>
            </a:r>
            <a:endParaRPr lang="en-US">
              <a:solidFill>
                <a:schemeClr val="accent3"/>
              </a:solidFill>
              <a:latin typeface="+mj-lt"/>
              <a:ea typeface="+mn-lt"/>
              <a:cs typeface="+mn-lt"/>
            </a:endParaRPr>
          </a:p>
        </p:txBody>
      </p:sp>
      <p:sp>
        <p:nvSpPr>
          <p:cNvPr id="7" name="Prepared by bar"/>
          <p:cNvSpPr/>
          <p:nvPr/>
        </p:nvSpPr>
        <p:spPr>
          <a:xfrm>
            <a:off x="0" y="4800600"/>
            <a:ext cx="7090596" cy="783485"/>
          </a:xfrm>
          <a:prstGeom prst="rect">
            <a:avLst/>
          </a:prstGeom>
          <a:solidFill>
            <a:schemeClr val="accent1"/>
          </a:solidFill>
          <a:ln w="12700">
            <a:solidFill>
              <a:schemeClr val="accent1"/>
            </a:solidFill>
            <a:prstDash val="solid"/>
          </a:ln>
        </p:spPr>
        <p:txBody>
          <a:bodyPr/>
          <a:lstStyle/>
          <a:p>
            <a:endParaRPr lang="en-US"/>
          </a:p>
        </p:txBody>
      </p:sp>
      <p:sp>
        <p:nvSpPr>
          <p:cNvPr id="8" name="Prepared by text"/>
          <p:cNvSpPr txBox="1"/>
          <p:nvPr/>
        </p:nvSpPr>
        <p:spPr>
          <a:xfrm>
            <a:off x="548640" y="4800600"/>
            <a:ext cx="6746322" cy="783485"/>
          </a:xfrm>
          <a:prstGeom prst="rect">
            <a:avLst/>
          </a:prstGeom>
          <a:noFill/>
          <a:ln/>
        </p:spPr>
        <p:txBody>
          <a:bodyPr wrap="square" lIns="0" tIns="0" rIns="0" bIns="0" rtlCol="0" anchor="ctr"/>
          <a:lstStyle/>
          <a:p>
            <a:pPr marL="0" indent="0">
              <a:buNone/>
            </a:pPr>
            <a:r>
              <a:rPr lang="en-US" sz="1100">
                <a:solidFill>
                  <a:schemeClr val="bg1"/>
                </a:solidFill>
                <a:latin typeface="Montserrat"/>
              </a:rPr>
              <a:t>Prepared by the UNC PLCY 698 Capstone Team | October 2026</a:t>
            </a:r>
          </a:p>
          <a:p>
            <a:endParaRPr lang="en-US" sz="1100">
              <a:solidFill>
                <a:schemeClr val="bg1"/>
              </a:solidFill>
              <a:latin typeface="Montserrat"/>
            </a:endParaRPr>
          </a:p>
          <a:p>
            <a:r>
              <a:rPr lang="en-US" sz="1100">
                <a:solidFill>
                  <a:schemeClr val="bg1"/>
                </a:solidFill>
                <a:latin typeface="Montserrat"/>
              </a:rPr>
              <a:t>Sid Ram, Mridhula Bharathwaj, Andrew Owens, Hailey Gardinier, Ashley Ju, Nayan Bala</a:t>
            </a:r>
          </a:p>
        </p:txBody>
      </p:sp>
      <p:sp>
        <p:nvSpPr>
          <p:cNvPr id="10" name="Text 6"/>
          <p:cNvSpPr txBox="1"/>
          <p:nvPr/>
        </p:nvSpPr>
        <p:spPr>
          <a:xfrm>
            <a:off x="1024128" y="5989320"/>
            <a:ext cx="274320" cy="548640"/>
          </a:xfrm>
          <a:prstGeom prst="rect">
            <a:avLst/>
          </a:prstGeom>
          <a:noFill/>
          <a:ln/>
        </p:spPr>
        <p:txBody>
          <a:bodyPr wrap="square" lIns="0" tIns="0" rIns="0" bIns="0" rtlCol="0" anchor="ctr"/>
          <a:lstStyle/>
          <a:p>
            <a:pPr marL="0" indent="0" algn="ctr">
              <a:buNone/>
            </a:pPr>
            <a:endParaRPr lang="en-US" sz="2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r>
              <a:rPr lang="en-US" sz="2400" b="1">
                <a:latin typeface="Montserrat"/>
              </a:rPr>
              <a:t>One Question</a:t>
            </a:r>
            <a:r>
              <a:rPr lang="en-US">
                <a:latin typeface="Montserrat"/>
              </a:rPr>
              <a:t> - Three Lenses </a:t>
            </a:r>
            <a:endParaRPr lang="en-US" sz="2400">
              <a:latin typeface="Montserrat"/>
            </a:endParaRPr>
          </a:p>
        </p:txBody>
      </p:sp>
      <p:sp>
        <p:nvSpPr>
          <p:cNvPr id="3" name="Guiding question"/>
          <p:cNvSpPr/>
          <p:nvPr/>
        </p:nvSpPr>
        <p:spPr>
          <a:xfrm>
            <a:off x="2194560" y="1234440"/>
            <a:ext cx="7799832" cy="749808"/>
          </a:xfrm>
          <a:prstGeom prst="roundRect">
            <a:avLst>
              <a:gd name="adj" fmla="val 12195"/>
            </a:avLst>
          </a:prstGeom>
          <a:solidFill>
            <a:schemeClr val="accent1"/>
          </a:solidFill>
          <a:ln/>
        </p:spPr>
        <p:txBody>
          <a:bodyPr wrap="square" lIns="76200" tIns="76200" rIns="76200" bIns="76200" rtlCol="0" anchor="ctr"/>
          <a:lstStyle/>
          <a:p>
            <a:pPr algn="ctr"/>
            <a:r>
              <a:rPr lang="en-US" sz="1500" b="1">
                <a:solidFill>
                  <a:schemeClr val="bg1"/>
                </a:solidFill>
                <a:latin typeface="Montserrat"/>
                <a:ea typeface="Montserrat" pitchFamily="34" charset="-122"/>
                <a:cs typeface="Montserrat" pitchFamily="34" charset="-120"/>
              </a:rPr>
              <a:t>Which feasible engagement practices would help Wake County reach residents who rarely participate?</a:t>
            </a:r>
            <a:endParaRPr lang="en-US" sz="1500" b="1">
              <a:solidFill>
                <a:schemeClr val="bg1"/>
              </a:solidFill>
              <a:latin typeface="Montserrat"/>
            </a:endParaRPr>
          </a:p>
        </p:txBody>
      </p:sp>
      <p:sp>
        <p:nvSpPr>
          <p:cNvPr id="4" name="Shape 2"/>
          <p:cNvSpPr/>
          <p:nvPr/>
        </p:nvSpPr>
        <p:spPr>
          <a:xfrm>
            <a:off x="6094476" y="1984248"/>
            <a:ext cx="0" cy="228600"/>
          </a:xfrm>
          <a:prstGeom prst="line">
            <a:avLst/>
          </a:prstGeom>
          <a:noFill/>
          <a:ln w="19050">
            <a:solidFill>
              <a:schemeClr val="accent2"/>
            </a:solidFill>
            <a:prstDash val="solid"/>
          </a:ln>
        </p:spPr>
        <p:txBody>
          <a:bodyPr/>
          <a:lstStyle/>
          <a:p>
            <a:endParaRPr lang="en-US"/>
          </a:p>
        </p:txBody>
      </p:sp>
      <p:sp>
        <p:nvSpPr>
          <p:cNvPr id="5" name="Shape 3"/>
          <p:cNvSpPr/>
          <p:nvPr/>
        </p:nvSpPr>
        <p:spPr>
          <a:xfrm>
            <a:off x="2148840" y="2212848"/>
            <a:ext cx="7891272" cy="0"/>
          </a:xfrm>
          <a:prstGeom prst="line">
            <a:avLst/>
          </a:prstGeom>
          <a:noFill/>
          <a:ln w="19050">
            <a:solidFill>
              <a:schemeClr val="accent2"/>
            </a:solidFill>
            <a:prstDash val="solid"/>
          </a:ln>
        </p:spPr>
        <p:txBody>
          <a:bodyPr/>
          <a:lstStyle/>
          <a:p>
            <a:endParaRPr lang="en-US"/>
          </a:p>
        </p:txBody>
      </p:sp>
      <p:sp>
        <p:nvSpPr>
          <p:cNvPr id="6" name="Shape 4"/>
          <p:cNvSpPr/>
          <p:nvPr/>
        </p:nvSpPr>
        <p:spPr>
          <a:xfrm>
            <a:off x="2180844" y="2212848"/>
            <a:ext cx="0" cy="182880"/>
          </a:xfrm>
          <a:prstGeom prst="line">
            <a:avLst/>
          </a:prstGeom>
          <a:noFill/>
          <a:ln w="19050">
            <a:solidFill>
              <a:schemeClr val="accent2"/>
            </a:solidFill>
            <a:prstDash val="solid"/>
          </a:ln>
        </p:spPr>
        <p:txBody>
          <a:bodyPr/>
          <a:lstStyle/>
          <a:p>
            <a:endParaRPr lang="en-US"/>
          </a:p>
        </p:txBody>
      </p:sp>
      <p:sp>
        <p:nvSpPr>
          <p:cNvPr id="7" name="Text 5"/>
          <p:cNvSpPr/>
          <p:nvPr/>
        </p:nvSpPr>
        <p:spPr>
          <a:xfrm>
            <a:off x="457200" y="2395728"/>
            <a:ext cx="3447288" cy="457200"/>
          </a:xfrm>
          <a:prstGeom prst="rect">
            <a:avLst/>
          </a:prstGeom>
          <a:solidFill>
            <a:schemeClr val="accent5"/>
          </a:solidFill>
          <a:ln/>
        </p:spPr>
        <p:txBody>
          <a:bodyPr wrap="square" lIns="0" tIns="0" rIns="0" bIns="0" rtlCol="0" anchor="ctr"/>
          <a:lstStyle/>
          <a:p>
            <a:pPr marL="0" indent="0" algn="ctr">
              <a:buNone/>
            </a:pPr>
            <a:r>
              <a:rPr lang="en-US" sz="1500" b="1">
                <a:solidFill>
                  <a:schemeClr val="tx2"/>
                </a:solidFill>
                <a:latin typeface="Montserrat" pitchFamily="34" charset="0"/>
                <a:ea typeface="Montserrat" pitchFamily="34" charset="-122"/>
                <a:cs typeface="Montserrat" pitchFamily="34" charset="-120"/>
              </a:rPr>
              <a:t>Peer Counties</a:t>
            </a:r>
            <a:endParaRPr lang="en-US" sz="1500"/>
          </a:p>
        </p:txBody>
      </p:sp>
      <p:sp>
        <p:nvSpPr>
          <p:cNvPr id="8" name="Peer Counties circle"/>
          <p:cNvSpPr/>
          <p:nvPr/>
        </p:nvSpPr>
        <p:spPr>
          <a:xfrm>
            <a:off x="548640" y="3035808"/>
            <a:ext cx="713232" cy="713232"/>
          </a:xfrm>
          <a:prstGeom prst="ellipse">
            <a:avLst/>
          </a:prstGeom>
          <a:solidFill>
            <a:schemeClr val="accent2"/>
          </a:solidFill>
          <a:ln w="12700">
            <a:solidFill>
              <a:schemeClr val="accent2"/>
            </a:solidFill>
            <a:prstDash val="solid"/>
          </a:ln>
        </p:spPr>
        <p:txBody>
          <a:bodyPr/>
          <a:lstStyle/>
          <a:p>
            <a:endParaRPr lang="en-US"/>
          </a:p>
        </p:txBody>
      </p:sp>
      <p:pic>
        <p:nvPicPr>
          <p:cNvPr id="9" name="Peer Counties icon" descr="preencoded.png"/>
          <p:cNvPicPr>
            <a:picLocks noChangeAspect="1"/>
          </p:cNvPicPr>
          <p:nvPr/>
        </p:nvPicPr>
        <p:blipFill>
          <a:blip r:embed="rId3"/>
          <a:stretch>
            <a:fillRect/>
          </a:stretch>
        </p:blipFill>
        <p:spPr>
          <a:xfrm>
            <a:off x="719816" y="3206984"/>
            <a:ext cx="370881" cy="370881"/>
          </a:xfrm>
          <a:prstGeom prst="rect">
            <a:avLst/>
          </a:prstGeom>
        </p:spPr>
      </p:pic>
      <p:sp>
        <p:nvSpPr>
          <p:cNvPr id="10" name="Text 7"/>
          <p:cNvSpPr txBox="1"/>
          <p:nvPr/>
        </p:nvSpPr>
        <p:spPr>
          <a:xfrm>
            <a:off x="1417320" y="3017520"/>
            <a:ext cx="2468880" cy="731520"/>
          </a:xfrm>
          <a:prstGeom prst="rect">
            <a:avLst/>
          </a:prstGeom>
          <a:noFill/>
          <a:ln/>
        </p:spPr>
        <p:txBody>
          <a:bodyPr wrap="square" lIns="0" tIns="0" rIns="0" bIns="0" rtlCol="0" anchor="ctr"/>
          <a:lstStyle/>
          <a:p>
            <a:pPr marL="0" indent="0">
              <a:buNone/>
            </a:pPr>
            <a:r>
              <a:rPr lang="en-US" sz="3000" b="1">
                <a:solidFill>
                  <a:schemeClr val="tx2"/>
                </a:solidFill>
                <a:latin typeface="Montserrat" pitchFamily="34" charset="0"/>
                <a:ea typeface="Montserrat" pitchFamily="34" charset="-122"/>
                <a:cs typeface="Montserrat" pitchFamily="34" charset="-120"/>
              </a:rPr>
              <a:t>5 </a:t>
            </a:r>
            <a:r>
              <a:rPr lang="en-US" sz="1500">
                <a:solidFill>
                  <a:schemeClr val="accent6"/>
                </a:solidFill>
              </a:rPr>
              <a:t>counties</a:t>
            </a:r>
            <a:endParaRPr lang="en-US" sz="3000"/>
          </a:p>
        </p:txBody>
      </p:sp>
      <p:sp>
        <p:nvSpPr>
          <p:cNvPr id="11" name="Text 8"/>
          <p:cNvSpPr txBox="1"/>
          <p:nvPr/>
        </p:nvSpPr>
        <p:spPr>
          <a:xfrm>
            <a:off x="548640" y="3886200"/>
            <a:ext cx="3291840" cy="1005840"/>
          </a:xfrm>
          <a:prstGeom prst="rect">
            <a:avLst/>
          </a:prstGeom>
          <a:noFill/>
          <a:ln/>
        </p:spPr>
        <p:txBody>
          <a:bodyPr wrap="square" lIns="0" tIns="0" rIns="0" bIns="0" rtlCol="0" anchor="t"/>
          <a:lstStyle/>
          <a:p>
            <a:r>
              <a:rPr lang="en-US" sz="1400"/>
              <a:t>Matched to Wake County on the basis of population, growth since 2020, and urban-suburban mix: Mecklenburg, Travis, Hillsborough, Collin, and Gwinnett.</a:t>
            </a:r>
          </a:p>
        </p:txBody>
      </p:sp>
      <p:sp>
        <p:nvSpPr>
          <p:cNvPr id="12" name="Text 9"/>
          <p:cNvSpPr txBox="1"/>
          <p:nvPr/>
        </p:nvSpPr>
        <p:spPr>
          <a:xfrm>
            <a:off x="548640" y="4956048"/>
            <a:ext cx="3291840" cy="457200"/>
          </a:xfrm>
          <a:prstGeom prst="rect">
            <a:avLst/>
          </a:prstGeom>
          <a:noFill/>
          <a:ln/>
        </p:spPr>
        <p:txBody>
          <a:bodyPr wrap="square" lIns="0" tIns="0" rIns="0" bIns="0" rtlCol="0" anchor="t"/>
          <a:lstStyle/>
          <a:p>
            <a:r>
              <a:rPr lang="en-US" sz="1300" b="1" i="1">
                <a:solidFill>
                  <a:schemeClr val="accent2"/>
                </a:solidFill>
              </a:rPr>
              <a:t>Lens: </a:t>
            </a:r>
            <a:r>
              <a:rPr lang="en-US" sz="1300" i="1">
                <a:solidFill>
                  <a:schemeClr val="accent2"/>
                </a:solidFill>
              </a:rPr>
              <a:t>Which public engagement tools each county uses. </a:t>
            </a:r>
            <a:endParaRPr lang="en-US" sz="1300" i="1">
              <a:solidFill>
                <a:schemeClr val="accent2"/>
              </a:solidFill>
              <a:ea typeface="Calibri"/>
              <a:cs typeface="Calibri"/>
            </a:endParaRPr>
          </a:p>
        </p:txBody>
      </p:sp>
      <p:sp>
        <p:nvSpPr>
          <p:cNvPr id="13" name="Shape 10"/>
          <p:cNvSpPr/>
          <p:nvPr/>
        </p:nvSpPr>
        <p:spPr>
          <a:xfrm>
            <a:off x="6094476" y="2212848"/>
            <a:ext cx="0" cy="182880"/>
          </a:xfrm>
          <a:prstGeom prst="line">
            <a:avLst/>
          </a:prstGeom>
          <a:noFill/>
          <a:ln w="19050">
            <a:solidFill>
              <a:schemeClr val="accent2"/>
            </a:solidFill>
            <a:prstDash val="solid"/>
          </a:ln>
        </p:spPr>
        <p:txBody>
          <a:bodyPr/>
          <a:lstStyle/>
          <a:p>
            <a:endParaRPr lang="en-US"/>
          </a:p>
        </p:txBody>
      </p:sp>
      <p:sp>
        <p:nvSpPr>
          <p:cNvPr id="14" name="Text 11"/>
          <p:cNvSpPr/>
          <p:nvPr/>
        </p:nvSpPr>
        <p:spPr>
          <a:xfrm>
            <a:off x="4370832" y="2395728"/>
            <a:ext cx="3447288" cy="457200"/>
          </a:xfrm>
          <a:prstGeom prst="rect">
            <a:avLst/>
          </a:prstGeom>
          <a:solidFill>
            <a:schemeClr val="accent5"/>
          </a:solidFill>
          <a:ln/>
        </p:spPr>
        <p:txBody>
          <a:bodyPr wrap="square" lIns="0" tIns="0" rIns="0" bIns="0" rtlCol="0" anchor="ctr"/>
          <a:lstStyle/>
          <a:p>
            <a:pPr marL="0" indent="0" algn="ctr">
              <a:buNone/>
            </a:pPr>
            <a:r>
              <a:rPr lang="en-US" sz="1500" b="1">
                <a:solidFill>
                  <a:schemeClr val="tx2"/>
                </a:solidFill>
                <a:latin typeface="Montserrat" pitchFamily="34" charset="0"/>
                <a:ea typeface="Montserrat" pitchFamily="34" charset="-122"/>
                <a:cs typeface="Montserrat" pitchFamily="34" charset="-120"/>
              </a:rPr>
              <a:t>North Carolina Practices</a:t>
            </a:r>
            <a:endParaRPr lang="en-US" sz="1500"/>
          </a:p>
        </p:txBody>
      </p:sp>
      <p:sp>
        <p:nvSpPr>
          <p:cNvPr id="15" name="North Carolina Practices circle"/>
          <p:cNvSpPr/>
          <p:nvPr/>
        </p:nvSpPr>
        <p:spPr>
          <a:xfrm>
            <a:off x="4462272" y="3035808"/>
            <a:ext cx="713232" cy="713232"/>
          </a:xfrm>
          <a:prstGeom prst="ellipse">
            <a:avLst/>
          </a:prstGeom>
          <a:solidFill>
            <a:schemeClr val="accent2"/>
          </a:solidFill>
          <a:ln w="12700">
            <a:solidFill>
              <a:schemeClr val="accent2"/>
            </a:solidFill>
            <a:prstDash val="solid"/>
          </a:ln>
        </p:spPr>
        <p:txBody>
          <a:bodyPr/>
          <a:lstStyle/>
          <a:p>
            <a:endParaRPr lang="en-US"/>
          </a:p>
        </p:txBody>
      </p:sp>
      <p:pic>
        <p:nvPicPr>
          <p:cNvPr id="16" name="North Carolina Practices icon" descr="preencoded.png"/>
          <p:cNvPicPr>
            <a:picLocks noChangeAspect="1"/>
          </p:cNvPicPr>
          <p:nvPr/>
        </p:nvPicPr>
        <p:blipFill>
          <a:blip r:embed="rId4"/>
          <a:stretch>
            <a:fillRect/>
          </a:stretch>
        </p:blipFill>
        <p:spPr>
          <a:xfrm>
            <a:off x="4633448" y="3206984"/>
            <a:ext cx="370881" cy="370881"/>
          </a:xfrm>
          <a:prstGeom prst="rect">
            <a:avLst/>
          </a:prstGeom>
        </p:spPr>
      </p:pic>
      <p:sp>
        <p:nvSpPr>
          <p:cNvPr id="17" name="Text 13"/>
          <p:cNvSpPr txBox="1"/>
          <p:nvPr/>
        </p:nvSpPr>
        <p:spPr>
          <a:xfrm>
            <a:off x="5330952" y="3017520"/>
            <a:ext cx="2468880" cy="731520"/>
          </a:xfrm>
          <a:prstGeom prst="rect">
            <a:avLst/>
          </a:prstGeom>
          <a:noFill/>
          <a:ln/>
        </p:spPr>
        <p:txBody>
          <a:bodyPr wrap="square" lIns="0" tIns="0" rIns="0" bIns="0" rtlCol="0" anchor="ctr"/>
          <a:lstStyle/>
          <a:p>
            <a:pPr marL="0" indent="0">
              <a:buNone/>
            </a:pPr>
            <a:r>
              <a:rPr lang="en-US" sz="3000" b="1">
                <a:solidFill>
                  <a:schemeClr val="tx2"/>
                </a:solidFill>
                <a:latin typeface="Montserrat" pitchFamily="34" charset="0"/>
                <a:ea typeface="Montserrat" pitchFamily="34" charset="-122"/>
                <a:cs typeface="Montserrat" pitchFamily="34" charset="-120"/>
              </a:rPr>
              <a:t>4 </a:t>
            </a:r>
            <a:r>
              <a:rPr lang="en-US" sz="1500">
                <a:solidFill>
                  <a:schemeClr val="accent6"/>
                </a:solidFill>
              </a:rPr>
              <a:t>programs</a:t>
            </a:r>
            <a:endParaRPr lang="en-US" sz="3000"/>
          </a:p>
        </p:txBody>
      </p:sp>
      <p:sp>
        <p:nvSpPr>
          <p:cNvPr id="18" name="Text 14"/>
          <p:cNvSpPr txBox="1"/>
          <p:nvPr/>
        </p:nvSpPr>
        <p:spPr>
          <a:xfrm>
            <a:off x="4462272" y="3886200"/>
            <a:ext cx="3291840" cy="1005840"/>
          </a:xfrm>
          <a:prstGeom prst="rect">
            <a:avLst/>
          </a:prstGeom>
          <a:noFill/>
          <a:ln/>
        </p:spPr>
        <p:txBody>
          <a:bodyPr wrap="square" lIns="0" tIns="0" rIns="0" bIns="0" rtlCol="0" anchor="t"/>
          <a:lstStyle/>
          <a:p>
            <a:r>
              <a:rPr lang="en-US" sz="1400"/>
              <a:t>Buncombe County, the City of Raleigh, the City of Durham, and Mecklenburg County. Same state legal framework as Wake County.</a:t>
            </a:r>
            <a:endParaRPr lang="en-US" sz="1400">
              <a:ea typeface="Calibri"/>
              <a:cs typeface="Calibri"/>
            </a:endParaRPr>
          </a:p>
        </p:txBody>
      </p:sp>
      <p:sp>
        <p:nvSpPr>
          <p:cNvPr id="19" name="Text 15"/>
          <p:cNvSpPr txBox="1"/>
          <p:nvPr/>
        </p:nvSpPr>
        <p:spPr>
          <a:xfrm>
            <a:off x="4462272" y="4956048"/>
            <a:ext cx="3291840" cy="457200"/>
          </a:xfrm>
          <a:prstGeom prst="rect">
            <a:avLst/>
          </a:prstGeom>
          <a:noFill/>
          <a:ln/>
        </p:spPr>
        <p:txBody>
          <a:bodyPr wrap="square" lIns="0" tIns="0" rIns="0" bIns="0" rtlCol="0" anchor="t"/>
          <a:lstStyle/>
          <a:p>
            <a:pPr marL="0" indent="0">
              <a:buNone/>
            </a:pPr>
            <a:r>
              <a:rPr lang="en-US" sz="1300" b="1" i="1">
                <a:solidFill>
                  <a:schemeClr val="accent2"/>
                </a:solidFill>
              </a:rPr>
              <a:t>Lens: </a:t>
            </a:r>
            <a:r>
              <a:rPr lang="en-US" sz="1300" i="1">
                <a:solidFill>
                  <a:schemeClr val="accent2"/>
                </a:solidFill>
              </a:rPr>
              <a:t>The most directly transferable models</a:t>
            </a:r>
            <a:endParaRPr lang="en-US" sz="1300"/>
          </a:p>
        </p:txBody>
      </p:sp>
      <p:sp>
        <p:nvSpPr>
          <p:cNvPr id="20" name="Shape 16"/>
          <p:cNvSpPr/>
          <p:nvPr/>
        </p:nvSpPr>
        <p:spPr>
          <a:xfrm>
            <a:off x="10008108" y="2212848"/>
            <a:ext cx="0" cy="182880"/>
          </a:xfrm>
          <a:prstGeom prst="line">
            <a:avLst/>
          </a:prstGeom>
          <a:noFill/>
          <a:ln w="19050">
            <a:solidFill>
              <a:schemeClr val="accent2"/>
            </a:solidFill>
            <a:prstDash val="solid"/>
          </a:ln>
        </p:spPr>
        <p:txBody>
          <a:bodyPr/>
          <a:lstStyle/>
          <a:p>
            <a:endParaRPr lang="en-US"/>
          </a:p>
        </p:txBody>
      </p:sp>
      <p:sp>
        <p:nvSpPr>
          <p:cNvPr id="21" name="Text 17"/>
          <p:cNvSpPr/>
          <p:nvPr/>
        </p:nvSpPr>
        <p:spPr>
          <a:xfrm>
            <a:off x="8284464" y="2395728"/>
            <a:ext cx="3447288" cy="457200"/>
          </a:xfrm>
          <a:prstGeom prst="rect">
            <a:avLst/>
          </a:prstGeom>
          <a:solidFill>
            <a:schemeClr val="accent5"/>
          </a:solidFill>
          <a:ln/>
        </p:spPr>
        <p:txBody>
          <a:bodyPr wrap="square" lIns="0" tIns="0" rIns="0" bIns="0" rtlCol="0" anchor="ctr"/>
          <a:lstStyle/>
          <a:p>
            <a:pPr marL="0" indent="0" algn="ctr">
              <a:buNone/>
            </a:pPr>
            <a:r>
              <a:rPr lang="en-US" sz="1500" b="1">
                <a:solidFill>
                  <a:schemeClr val="tx2"/>
                </a:solidFill>
                <a:latin typeface="Montserrat" pitchFamily="34" charset="0"/>
                <a:ea typeface="Montserrat" pitchFamily="34" charset="-122"/>
                <a:cs typeface="Montserrat" pitchFamily="34" charset="-120"/>
              </a:rPr>
              <a:t>National Models</a:t>
            </a:r>
            <a:endParaRPr lang="en-US" sz="1500"/>
          </a:p>
        </p:txBody>
      </p:sp>
      <p:sp>
        <p:nvSpPr>
          <p:cNvPr id="22" name="National Models circle"/>
          <p:cNvSpPr/>
          <p:nvPr/>
        </p:nvSpPr>
        <p:spPr>
          <a:xfrm>
            <a:off x="8375904" y="3035808"/>
            <a:ext cx="713232" cy="713232"/>
          </a:xfrm>
          <a:prstGeom prst="ellipse">
            <a:avLst/>
          </a:prstGeom>
          <a:solidFill>
            <a:schemeClr val="accent2"/>
          </a:solidFill>
          <a:ln w="12700">
            <a:solidFill>
              <a:schemeClr val="accent2"/>
            </a:solidFill>
            <a:prstDash val="solid"/>
          </a:ln>
        </p:spPr>
        <p:txBody>
          <a:bodyPr/>
          <a:lstStyle/>
          <a:p>
            <a:endParaRPr lang="en-US"/>
          </a:p>
        </p:txBody>
      </p:sp>
      <p:pic>
        <p:nvPicPr>
          <p:cNvPr id="23" name="National Models icon" descr="preencoded.png"/>
          <p:cNvPicPr>
            <a:picLocks noChangeAspect="1"/>
          </p:cNvPicPr>
          <p:nvPr/>
        </p:nvPicPr>
        <p:blipFill>
          <a:blip r:embed="rId5"/>
          <a:stretch>
            <a:fillRect/>
          </a:stretch>
        </p:blipFill>
        <p:spPr>
          <a:xfrm>
            <a:off x="8547080" y="3206984"/>
            <a:ext cx="370881" cy="370881"/>
          </a:xfrm>
          <a:prstGeom prst="rect">
            <a:avLst/>
          </a:prstGeom>
        </p:spPr>
      </p:pic>
      <p:sp>
        <p:nvSpPr>
          <p:cNvPr id="24" name="Text 19"/>
          <p:cNvSpPr txBox="1"/>
          <p:nvPr/>
        </p:nvSpPr>
        <p:spPr>
          <a:xfrm>
            <a:off x="9244584" y="3017520"/>
            <a:ext cx="2468880" cy="731520"/>
          </a:xfrm>
          <a:prstGeom prst="rect">
            <a:avLst/>
          </a:prstGeom>
          <a:noFill/>
          <a:ln/>
        </p:spPr>
        <p:txBody>
          <a:bodyPr wrap="square" lIns="0" tIns="0" rIns="0" bIns="0" rtlCol="0" anchor="ctr"/>
          <a:lstStyle/>
          <a:p>
            <a:pPr marL="0" indent="0">
              <a:buNone/>
            </a:pPr>
            <a:r>
              <a:rPr lang="en-US" sz="3000" b="1">
                <a:solidFill>
                  <a:schemeClr val="tx2"/>
                </a:solidFill>
                <a:latin typeface="Montserrat" pitchFamily="34" charset="0"/>
                <a:ea typeface="Montserrat" pitchFamily="34" charset="-122"/>
                <a:cs typeface="Montserrat" pitchFamily="34" charset="-120"/>
              </a:rPr>
              <a:t>2 </a:t>
            </a:r>
            <a:r>
              <a:rPr lang="en-US" sz="1500">
                <a:solidFill>
                  <a:schemeClr val="accent6"/>
                </a:solidFill>
              </a:rPr>
              <a:t>models</a:t>
            </a:r>
            <a:endParaRPr lang="en-US" sz="3000"/>
          </a:p>
        </p:txBody>
      </p:sp>
      <p:sp>
        <p:nvSpPr>
          <p:cNvPr id="25" name="Text 20"/>
          <p:cNvSpPr txBox="1"/>
          <p:nvPr/>
        </p:nvSpPr>
        <p:spPr>
          <a:xfrm>
            <a:off x="8288462" y="3886200"/>
            <a:ext cx="3579149" cy="1024578"/>
          </a:xfrm>
          <a:prstGeom prst="rect">
            <a:avLst/>
          </a:prstGeom>
          <a:noFill/>
          <a:ln/>
        </p:spPr>
        <p:txBody>
          <a:bodyPr wrap="square" lIns="0" tIns="0" rIns="0" bIns="0" rtlCol="0" anchor="t"/>
          <a:lstStyle/>
          <a:p>
            <a:r>
              <a:rPr lang="en-US" sz="1400">
                <a:ea typeface="+mn-lt"/>
                <a:cs typeface="+mn-lt"/>
              </a:rPr>
              <a:t>Fairfax County, Virginia, and the City of Fresno, California, were selected primarily for the depth of their community engagement practices.</a:t>
            </a:r>
            <a:endParaRPr lang="en-US" sz="1400">
              <a:ea typeface="Calibri"/>
              <a:cs typeface="Calibri"/>
            </a:endParaRPr>
          </a:p>
        </p:txBody>
      </p:sp>
      <p:sp>
        <p:nvSpPr>
          <p:cNvPr id="26" name="Text 21"/>
          <p:cNvSpPr txBox="1"/>
          <p:nvPr/>
        </p:nvSpPr>
        <p:spPr>
          <a:xfrm>
            <a:off x="8375904" y="4956048"/>
            <a:ext cx="3291840" cy="457200"/>
          </a:xfrm>
          <a:prstGeom prst="rect">
            <a:avLst/>
          </a:prstGeom>
          <a:noFill/>
          <a:ln/>
        </p:spPr>
        <p:txBody>
          <a:bodyPr wrap="square" lIns="0" tIns="0" rIns="0" bIns="0" rtlCol="0" anchor="t"/>
          <a:lstStyle/>
          <a:p>
            <a:pPr marL="0" indent="0">
              <a:buNone/>
            </a:pPr>
            <a:r>
              <a:rPr lang="en-US" sz="1300" b="1" i="1">
                <a:solidFill>
                  <a:schemeClr val="accent2"/>
                </a:solidFill>
              </a:rPr>
              <a:t>Lens: </a:t>
            </a:r>
            <a:r>
              <a:rPr lang="en-US" sz="1300" i="1">
                <a:solidFill>
                  <a:schemeClr val="accent2"/>
                </a:solidFill>
              </a:rPr>
              <a:t>How engagement becomes a standing institution</a:t>
            </a:r>
            <a:endParaRPr lang="en-US" sz="1300"/>
          </a:p>
        </p:txBody>
      </p:sp>
      <p:sp>
        <p:nvSpPr>
          <p:cNvPr id="27" name="Text 22"/>
          <p:cNvSpPr txBox="1"/>
          <p:nvPr/>
        </p:nvSpPr>
        <p:spPr>
          <a:xfrm>
            <a:off x="365760" y="5413248"/>
            <a:ext cx="11430000" cy="274320"/>
          </a:xfrm>
          <a:prstGeom prst="rect">
            <a:avLst/>
          </a:prstGeom>
          <a:noFill/>
          <a:ln/>
        </p:spPr>
        <p:txBody>
          <a:bodyPr wrap="square" lIns="0" tIns="0" rIns="0" bIns="0" rtlCol="0" anchor="ctr"/>
          <a:lstStyle/>
          <a:p>
            <a:pPr marL="0" indent="0">
              <a:buNone/>
            </a:pPr>
            <a:endParaRPr lang="en-US" sz="1200"/>
          </a:p>
        </p:txBody>
      </p:sp>
      <p:sp>
        <p:nvSpPr>
          <p:cNvPr id="28"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Team research plan; Objective 1 findings. </a:t>
            </a:r>
            <a:r>
              <a:rPr lang="en-US" sz="1000" u="sng">
                <a:solidFill>
                  <a:schemeClr val="accent2"/>
                </a:solidFill>
                <a:hlinkClick r:id="rId6"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29"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2</a:t>
            </a:fld>
            <a:endParaRPr lang="en-US"/>
          </a:p>
        </p:txBody>
      </p:sp>
      <p:pic>
        <p:nvPicPr>
          <p:cNvPr id="32" name="Picture 31">
            <a:extLst>
              <a:ext uri="{FF2B5EF4-FFF2-40B4-BE49-F238E27FC236}">
                <a16:creationId xmlns:a16="http://schemas.microsoft.com/office/drawing/2014/main" id="{86D64F41-BCA3-F34B-EF20-8834E0D65359}"/>
              </a:ext>
            </a:extLst>
          </p:cNvPr>
          <p:cNvPicPr>
            <a:picLocks noChangeAspect="1"/>
          </p:cNvPicPr>
          <p:nvPr/>
        </p:nvPicPr>
        <p:blipFill>
          <a:blip r:embed="rId7"/>
          <a:stretch>
            <a:fillRect/>
          </a:stretch>
        </p:blipFill>
        <p:spPr>
          <a:xfrm>
            <a:off x="10702633" y="48335"/>
            <a:ext cx="1176475" cy="920929"/>
          </a:xfrm>
          <a:prstGeom prst="rect">
            <a:avLst/>
          </a:prstGeom>
        </p:spPr>
      </p:pic>
      <p:pic>
        <p:nvPicPr>
          <p:cNvPr id="34" name="Picture 33">
            <a:extLst>
              <a:ext uri="{FF2B5EF4-FFF2-40B4-BE49-F238E27FC236}">
                <a16:creationId xmlns:a16="http://schemas.microsoft.com/office/drawing/2014/main" id="{DFA4D230-7F4A-A8B0-B53D-BD96B305EEB5}"/>
              </a:ext>
            </a:extLst>
          </p:cNvPr>
          <p:cNvPicPr>
            <a:picLocks noChangeAspect="1"/>
          </p:cNvPicPr>
          <p:nvPr/>
        </p:nvPicPr>
        <p:blipFill>
          <a:blip r:embed="rId8"/>
          <a:stretch>
            <a:fillRect/>
          </a:stretch>
        </p:blipFill>
        <p:spPr>
          <a:xfrm>
            <a:off x="1261872" y="6149993"/>
            <a:ext cx="534000" cy="6193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r>
              <a:rPr lang="en-US" sz="2400" b="1">
                <a:latin typeface="Montserrat"/>
              </a:rPr>
              <a:t>Wake’s Population is Growing Faster than Most Peers</a:t>
            </a:r>
            <a:endParaRPr lang="en-US" sz="2400">
              <a:latin typeface="Montserrat"/>
            </a:endParaRPr>
          </a:p>
        </p:txBody>
      </p:sp>
      <p:pic>
        <p:nvPicPr>
          <p:cNvPr id="3" name="US benchmark map" descr="map_us.png"/>
          <p:cNvPicPr>
            <a:picLocks noChangeAspect="1"/>
          </p:cNvPicPr>
          <p:nvPr/>
        </p:nvPicPr>
        <p:blipFill>
          <a:blip r:embed="rId3"/>
          <a:stretch>
            <a:fillRect/>
          </a:stretch>
        </p:blipFill>
        <p:spPr>
          <a:xfrm>
            <a:off x="365760" y="1188720"/>
            <a:ext cx="6766560" cy="4246740"/>
          </a:xfrm>
          <a:prstGeom prst="rect">
            <a:avLst/>
          </a:prstGeom>
        </p:spPr>
      </p:pic>
      <p:sp>
        <p:nvSpPr>
          <p:cNvPr id="4" name="NC callout box"/>
          <p:cNvSpPr/>
          <p:nvPr/>
        </p:nvSpPr>
        <p:spPr>
          <a:xfrm>
            <a:off x="5291914" y="3340166"/>
            <a:ext cx="1172971" cy="587819"/>
          </a:xfrm>
          <a:prstGeom prst="rect">
            <a:avLst/>
          </a:prstGeom>
          <a:solidFill>
            <a:schemeClr val="bg1">
              <a:alpha val="0"/>
            </a:schemeClr>
          </a:solidFill>
          <a:ln w="15875">
            <a:solidFill>
              <a:schemeClr val="accent1"/>
            </a:solidFill>
            <a:prstDash val="dash"/>
          </a:ln>
        </p:spPr>
        <p:txBody>
          <a:bodyPr/>
          <a:lstStyle/>
          <a:p>
            <a:endParaRPr lang="en-US"/>
          </a:p>
        </p:txBody>
      </p:sp>
      <p:sp>
        <p:nvSpPr>
          <p:cNvPr id="5" name="Collin pin"/>
          <p:cNvSpPr/>
          <p:nvPr/>
        </p:nvSpPr>
        <p:spPr>
          <a:xfrm>
            <a:off x="3659952" y="4134209"/>
            <a:ext cx="155448" cy="155448"/>
          </a:xfrm>
          <a:prstGeom prst="ellipse">
            <a:avLst/>
          </a:prstGeom>
          <a:solidFill>
            <a:schemeClr val="tx2"/>
          </a:solidFill>
          <a:ln w="19050">
            <a:solidFill>
              <a:schemeClr val="bg1"/>
            </a:solidFill>
            <a:prstDash val="solid"/>
          </a:ln>
        </p:spPr>
        <p:txBody>
          <a:bodyPr/>
          <a:lstStyle/>
          <a:p>
            <a:endParaRPr lang="en-US"/>
          </a:p>
        </p:txBody>
      </p:sp>
      <p:sp>
        <p:nvSpPr>
          <p:cNvPr id="6" name="Text 3"/>
          <p:cNvSpPr txBox="1"/>
          <p:nvPr/>
        </p:nvSpPr>
        <p:spPr>
          <a:xfrm>
            <a:off x="3865692" y="4093061"/>
            <a:ext cx="1188720" cy="237744"/>
          </a:xfrm>
          <a:prstGeom prst="rect">
            <a:avLst/>
          </a:prstGeom>
          <a:noFill/>
          <a:ln/>
        </p:spPr>
        <p:txBody>
          <a:bodyPr wrap="square" lIns="0" tIns="0" rIns="0" bIns="0" rtlCol="0" anchor="ctr"/>
          <a:lstStyle/>
          <a:p>
            <a:pPr marL="0" indent="0">
              <a:buNone/>
            </a:pPr>
            <a:r>
              <a:rPr lang="en-US" sz="1100" b="1">
                <a:solidFill>
                  <a:schemeClr val="tx2"/>
                </a:solidFill>
              </a:rPr>
              <a:t>Collin, TX</a:t>
            </a:r>
            <a:endParaRPr lang="en-US" sz="1100"/>
          </a:p>
        </p:txBody>
      </p:sp>
      <p:sp>
        <p:nvSpPr>
          <p:cNvPr id="7" name="Travis pin"/>
          <p:cNvSpPr/>
          <p:nvPr/>
        </p:nvSpPr>
        <p:spPr>
          <a:xfrm>
            <a:off x="3504894" y="4579132"/>
            <a:ext cx="155448" cy="155448"/>
          </a:xfrm>
          <a:prstGeom prst="ellipse">
            <a:avLst/>
          </a:prstGeom>
          <a:solidFill>
            <a:schemeClr val="tx2"/>
          </a:solidFill>
          <a:ln w="19050">
            <a:solidFill>
              <a:schemeClr val="bg1"/>
            </a:solidFill>
            <a:prstDash val="solid"/>
          </a:ln>
        </p:spPr>
        <p:txBody>
          <a:bodyPr/>
          <a:lstStyle/>
          <a:p>
            <a:endParaRPr lang="en-US"/>
          </a:p>
        </p:txBody>
      </p:sp>
      <p:sp>
        <p:nvSpPr>
          <p:cNvPr id="8" name="Text 5"/>
          <p:cNvSpPr txBox="1"/>
          <p:nvPr/>
        </p:nvSpPr>
        <p:spPr>
          <a:xfrm>
            <a:off x="1982418" y="4537984"/>
            <a:ext cx="1463040" cy="237744"/>
          </a:xfrm>
          <a:prstGeom prst="rect">
            <a:avLst/>
          </a:prstGeom>
          <a:noFill/>
          <a:ln/>
        </p:spPr>
        <p:txBody>
          <a:bodyPr wrap="square" lIns="0" tIns="0" rIns="0" bIns="0" rtlCol="0" anchor="ctr"/>
          <a:lstStyle/>
          <a:p>
            <a:pPr marL="0" indent="0" algn="r">
              <a:buNone/>
            </a:pPr>
            <a:r>
              <a:rPr lang="en-US" sz="1100" b="1">
                <a:solidFill>
                  <a:schemeClr val="tx2"/>
                </a:solidFill>
              </a:rPr>
              <a:t>Travis, TX</a:t>
            </a:r>
            <a:endParaRPr lang="en-US" sz="1100"/>
          </a:p>
        </p:txBody>
      </p:sp>
      <p:sp>
        <p:nvSpPr>
          <p:cNvPr id="9" name="Hillsborough pin"/>
          <p:cNvSpPr/>
          <p:nvPr/>
        </p:nvSpPr>
        <p:spPr>
          <a:xfrm>
            <a:off x="5662147" y="4841087"/>
            <a:ext cx="155448" cy="155448"/>
          </a:xfrm>
          <a:prstGeom prst="ellipse">
            <a:avLst/>
          </a:prstGeom>
          <a:solidFill>
            <a:schemeClr val="tx2"/>
          </a:solidFill>
          <a:ln w="19050">
            <a:solidFill>
              <a:schemeClr val="bg1"/>
            </a:solidFill>
            <a:prstDash val="solid"/>
          </a:ln>
        </p:spPr>
        <p:txBody>
          <a:bodyPr/>
          <a:lstStyle/>
          <a:p>
            <a:endParaRPr lang="en-US"/>
          </a:p>
        </p:txBody>
      </p:sp>
      <p:sp>
        <p:nvSpPr>
          <p:cNvPr id="10" name="Text 7"/>
          <p:cNvSpPr txBox="1"/>
          <p:nvPr/>
        </p:nvSpPr>
        <p:spPr>
          <a:xfrm>
            <a:off x="4139671" y="4799939"/>
            <a:ext cx="1463040" cy="237744"/>
          </a:xfrm>
          <a:prstGeom prst="rect">
            <a:avLst/>
          </a:prstGeom>
          <a:noFill/>
          <a:ln/>
        </p:spPr>
        <p:txBody>
          <a:bodyPr wrap="square" lIns="0" tIns="0" rIns="0" bIns="0" rtlCol="0" anchor="ctr"/>
          <a:lstStyle/>
          <a:p>
            <a:pPr marL="0" indent="0" algn="r">
              <a:buNone/>
            </a:pPr>
            <a:r>
              <a:rPr lang="en-US" sz="1100" b="1">
                <a:solidFill>
                  <a:schemeClr val="tx2"/>
                </a:solidFill>
              </a:rPr>
              <a:t>Hillsborough, FL</a:t>
            </a:r>
            <a:endParaRPr lang="en-US" sz="1100"/>
          </a:p>
        </p:txBody>
      </p:sp>
      <p:sp>
        <p:nvSpPr>
          <p:cNvPr id="11" name="Gwinnett pin"/>
          <p:cNvSpPr/>
          <p:nvPr/>
        </p:nvSpPr>
        <p:spPr>
          <a:xfrm>
            <a:off x="5306730" y="3897700"/>
            <a:ext cx="155448" cy="155448"/>
          </a:xfrm>
          <a:prstGeom prst="ellipse">
            <a:avLst/>
          </a:prstGeom>
          <a:solidFill>
            <a:schemeClr val="tx2"/>
          </a:solidFill>
          <a:ln w="19050">
            <a:solidFill>
              <a:schemeClr val="bg1"/>
            </a:solidFill>
            <a:prstDash val="solid"/>
          </a:ln>
        </p:spPr>
        <p:txBody>
          <a:bodyPr/>
          <a:lstStyle/>
          <a:p>
            <a:endParaRPr lang="en-US"/>
          </a:p>
        </p:txBody>
      </p:sp>
      <p:sp>
        <p:nvSpPr>
          <p:cNvPr id="12" name="Text 9"/>
          <p:cNvSpPr txBox="1"/>
          <p:nvPr/>
        </p:nvSpPr>
        <p:spPr>
          <a:xfrm>
            <a:off x="3784254" y="3856552"/>
            <a:ext cx="1463040" cy="237744"/>
          </a:xfrm>
          <a:prstGeom prst="rect">
            <a:avLst/>
          </a:prstGeom>
          <a:noFill/>
          <a:ln/>
        </p:spPr>
        <p:txBody>
          <a:bodyPr wrap="square" lIns="0" tIns="0" rIns="0" bIns="0" rtlCol="0" anchor="ctr"/>
          <a:lstStyle/>
          <a:p>
            <a:pPr marL="0" indent="0" algn="r">
              <a:buNone/>
            </a:pPr>
            <a:r>
              <a:rPr lang="en-US" sz="1100" b="1">
                <a:solidFill>
                  <a:schemeClr val="tx2"/>
                </a:solidFill>
              </a:rPr>
              <a:t>Gwinnett, GA</a:t>
            </a:r>
            <a:endParaRPr lang="en-US" sz="1100"/>
          </a:p>
        </p:txBody>
      </p:sp>
      <p:sp>
        <p:nvSpPr>
          <p:cNvPr id="13" name="Fairfax pin"/>
          <p:cNvSpPr/>
          <p:nvPr/>
        </p:nvSpPr>
        <p:spPr>
          <a:xfrm>
            <a:off x="6064413" y="2988874"/>
            <a:ext cx="137160" cy="137160"/>
          </a:xfrm>
          <a:prstGeom prst="ellipse">
            <a:avLst/>
          </a:prstGeom>
          <a:solidFill>
            <a:schemeClr val="accent4"/>
          </a:solidFill>
          <a:ln w="19050">
            <a:solidFill>
              <a:schemeClr val="bg1"/>
            </a:solidFill>
            <a:prstDash val="solid"/>
          </a:ln>
        </p:spPr>
        <p:txBody>
          <a:bodyPr/>
          <a:lstStyle/>
          <a:p>
            <a:endParaRPr lang="en-US"/>
          </a:p>
        </p:txBody>
      </p:sp>
      <p:sp>
        <p:nvSpPr>
          <p:cNvPr id="14" name="Text 11"/>
          <p:cNvSpPr txBox="1"/>
          <p:nvPr/>
        </p:nvSpPr>
        <p:spPr>
          <a:xfrm>
            <a:off x="6251865" y="2783134"/>
            <a:ext cx="914400" cy="237744"/>
          </a:xfrm>
          <a:prstGeom prst="rect">
            <a:avLst/>
          </a:prstGeom>
          <a:noFill/>
          <a:ln/>
        </p:spPr>
        <p:txBody>
          <a:bodyPr wrap="square" lIns="0" tIns="0" rIns="0" bIns="0" rtlCol="0" anchor="ctr"/>
          <a:lstStyle/>
          <a:p>
            <a:pPr marL="0" indent="0">
              <a:buNone/>
            </a:pPr>
            <a:r>
              <a:rPr lang="en-US" sz="1100" b="1">
                <a:solidFill>
                  <a:schemeClr val="accent4"/>
                </a:solidFill>
              </a:rPr>
              <a:t>Fairfax, VA</a:t>
            </a:r>
            <a:endParaRPr lang="en-US" sz="1100"/>
          </a:p>
        </p:txBody>
      </p:sp>
      <p:sp>
        <p:nvSpPr>
          <p:cNvPr id="15" name="Fresno pin"/>
          <p:cNvSpPr/>
          <p:nvPr/>
        </p:nvSpPr>
        <p:spPr>
          <a:xfrm>
            <a:off x="770852" y="3171561"/>
            <a:ext cx="137160" cy="137160"/>
          </a:xfrm>
          <a:prstGeom prst="ellipse">
            <a:avLst/>
          </a:prstGeom>
          <a:solidFill>
            <a:schemeClr val="accent4"/>
          </a:solidFill>
          <a:ln w="19050">
            <a:solidFill>
              <a:schemeClr val="bg1"/>
            </a:solidFill>
            <a:prstDash val="solid"/>
          </a:ln>
        </p:spPr>
        <p:txBody>
          <a:bodyPr/>
          <a:lstStyle/>
          <a:p>
            <a:endParaRPr lang="en-US"/>
          </a:p>
        </p:txBody>
      </p:sp>
      <p:sp>
        <p:nvSpPr>
          <p:cNvPr id="16" name="Text 13"/>
          <p:cNvSpPr txBox="1"/>
          <p:nvPr/>
        </p:nvSpPr>
        <p:spPr>
          <a:xfrm>
            <a:off x="747992" y="3368157"/>
            <a:ext cx="914400" cy="237744"/>
          </a:xfrm>
          <a:prstGeom prst="rect">
            <a:avLst/>
          </a:prstGeom>
          <a:noFill/>
          <a:ln/>
        </p:spPr>
        <p:txBody>
          <a:bodyPr wrap="square" lIns="0" tIns="0" rIns="0" bIns="0" rtlCol="0" anchor="ctr"/>
          <a:lstStyle/>
          <a:p>
            <a:pPr marL="0" indent="0">
              <a:buNone/>
            </a:pPr>
            <a:r>
              <a:rPr lang="en-US" sz="1100" b="1">
                <a:solidFill>
                  <a:schemeClr val="accent4"/>
                </a:solidFill>
              </a:rPr>
              <a:t>Fresno, CA</a:t>
            </a:r>
            <a:endParaRPr lang="en-US" sz="1100"/>
          </a:p>
        </p:txBody>
      </p:sp>
      <p:sp>
        <p:nvSpPr>
          <p:cNvPr id="17" name="Wake pin"/>
          <p:cNvSpPr/>
          <p:nvPr/>
        </p:nvSpPr>
        <p:spPr>
          <a:xfrm>
            <a:off x="5950650" y="3484755"/>
            <a:ext cx="182880" cy="182880"/>
          </a:xfrm>
          <a:prstGeom prst="ellipse">
            <a:avLst/>
          </a:prstGeom>
          <a:solidFill>
            <a:schemeClr val="accent1"/>
          </a:solidFill>
          <a:ln w="19050">
            <a:solidFill>
              <a:schemeClr val="bg1"/>
            </a:solidFill>
            <a:prstDash val="solid"/>
          </a:ln>
        </p:spPr>
        <p:txBody>
          <a:bodyPr/>
          <a:lstStyle/>
          <a:p>
            <a:endParaRPr lang="en-US"/>
          </a:p>
        </p:txBody>
      </p:sp>
      <p:sp>
        <p:nvSpPr>
          <p:cNvPr id="18" name="Text 15"/>
          <p:cNvSpPr txBox="1"/>
          <p:nvPr/>
        </p:nvSpPr>
        <p:spPr>
          <a:xfrm>
            <a:off x="6492317" y="3457323"/>
            <a:ext cx="731520" cy="237744"/>
          </a:xfrm>
          <a:prstGeom prst="rect">
            <a:avLst/>
          </a:prstGeom>
          <a:noFill/>
          <a:ln/>
        </p:spPr>
        <p:txBody>
          <a:bodyPr wrap="square" lIns="0" tIns="0" rIns="0" bIns="0" rtlCol="0" anchor="ctr"/>
          <a:lstStyle/>
          <a:p>
            <a:pPr marL="0" indent="0">
              <a:buNone/>
            </a:pPr>
            <a:r>
              <a:rPr lang="en-US" sz="1200" b="1">
                <a:solidFill>
                  <a:schemeClr val="accent1"/>
                </a:solidFill>
              </a:rPr>
              <a:t>Wake, NC</a:t>
            </a:r>
            <a:endParaRPr lang="en-US" sz="1200"/>
          </a:p>
        </p:txBody>
      </p:sp>
      <p:sp>
        <p:nvSpPr>
          <p:cNvPr id="19" name="Wake County legend"/>
          <p:cNvSpPr/>
          <p:nvPr/>
        </p:nvSpPr>
        <p:spPr>
          <a:xfrm>
            <a:off x="498348" y="4155948"/>
            <a:ext cx="137160" cy="137160"/>
          </a:xfrm>
          <a:prstGeom prst="ellipse">
            <a:avLst/>
          </a:prstGeom>
          <a:solidFill>
            <a:schemeClr val="accent1"/>
          </a:solidFill>
          <a:ln w="19050">
            <a:solidFill>
              <a:schemeClr val="bg1"/>
            </a:solidFill>
            <a:prstDash val="solid"/>
          </a:ln>
        </p:spPr>
        <p:txBody>
          <a:bodyPr/>
          <a:lstStyle/>
          <a:p>
            <a:endParaRPr lang="en-US"/>
          </a:p>
        </p:txBody>
      </p:sp>
      <p:sp>
        <p:nvSpPr>
          <p:cNvPr id="20" name="Text 17"/>
          <p:cNvSpPr txBox="1"/>
          <p:nvPr/>
        </p:nvSpPr>
        <p:spPr>
          <a:xfrm>
            <a:off x="713232" y="4105656"/>
            <a:ext cx="2103120" cy="237744"/>
          </a:xfrm>
          <a:prstGeom prst="rect">
            <a:avLst/>
          </a:prstGeom>
          <a:noFill/>
          <a:ln/>
        </p:spPr>
        <p:txBody>
          <a:bodyPr wrap="square" lIns="0" tIns="0" rIns="0" bIns="0" rtlCol="0" anchor="ctr"/>
          <a:lstStyle/>
          <a:p>
            <a:pPr marL="0" indent="0">
              <a:buNone/>
            </a:pPr>
            <a:r>
              <a:rPr lang="en-US" sz="1100">
                <a:solidFill>
                  <a:schemeClr val="tx1"/>
                </a:solidFill>
              </a:rPr>
              <a:t>Wake County</a:t>
            </a:r>
            <a:endParaRPr lang="en-US" sz="1100"/>
          </a:p>
        </p:txBody>
      </p:sp>
      <p:sp>
        <p:nvSpPr>
          <p:cNvPr id="21" name="Peer county legend"/>
          <p:cNvSpPr/>
          <p:nvPr/>
        </p:nvSpPr>
        <p:spPr>
          <a:xfrm>
            <a:off x="498348" y="4430268"/>
            <a:ext cx="137160" cy="137160"/>
          </a:xfrm>
          <a:prstGeom prst="ellipse">
            <a:avLst/>
          </a:prstGeom>
          <a:solidFill>
            <a:schemeClr val="tx2"/>
          </a:solidFill>
          <a:ln w="19050">
            <a:solidFill>
              <a:schemeClr val="bg1"/>
            </a:solidFill>
            <a:prstDash val="solid"/>
          </a:ln>
        </p:spPr>
        <p:txBody>
          <a:bodyPr/>
          <a:lstStyle/>
          <a:p>
            <a:endParaRPr lang="en-US"/>
          </a:p>
        </p:txBody>
      </p:sp>
      <p:sp>
        <p:nvSpPr>
          <p:cNvPr id="22" name="Text 19"/>
          <p:cNvSpPr txBox="1"/>
          <p:nvPr/>
        </p:nvSpPr>
        <p:spPr>
          <a:xfrm>
            <a:off x="713232" y="4379976"/>
            <a:ext cx="2103120" cy="237744"/>
          </a:xfrm>
          <a:prstGeom prst="rect">
            <a:avLst/>
          </a:prstGeom>
          <a:noFill/>
          <a:ln/>
        </p:spPr>
        <p:txBody>
          <a:bodyPr wrap="square" lIns="0" tIns="0" rIns="0" bIns="0" rtlCol="0" anchor="ctr"/>
          <a:lstStyle/>
          <a:p>
            <a:pPr marL="0" indent="0">
              <a:buNone/>
            </a:pPr>
            <a:r>
              <a:rPr lang="en-US" sz="1100">
                <a:solidFill>
                  <a:schemeClr val="tx1"/>
                </a:solidFill>
              </a:rPr>
              <a:t>Peer county</a:t>
            </a:r>
            <a:endParaRPr lang="en-US" sz="1100"/>
          </a:p>
        </p:txBody>
      </p:sp>
      <p:sp>
        <p:nvSpPr>
          <p:cNvPr id="23" name="Best-practice jurisdiction legend"/>
          <p:cNvSpPr/>
          <p:nvPr/>
        </p:nvSpPr>
        <p:spPr>
          <a:xfrm>
            <a:off x="498348" y="4704588"/>
            <a:ext cx="137160" cy="137160"/>
          </a:xfrm>
          <a:prstGeom prst="ellipse">
            <a:avLst/>
          </a:prstGeom>
          <a:solidFill>
            <a:schemeClr val="accent4"/>
          </a:solidFill>
          <a:ln w="19050">
            <a:solidFill>
              <a:schemeClr val="bg1"/>
            </a:solidFill>
            <a:prstDash val="solid"/>
          </a:ln>
        </p:spPr>
        <p:txBody>
          <a:bodyPr/>
          <a:lstStyle/>
          <a:p>
            <a:endParaRPr lang="en-US"/>
          </a:p>
        </p:txBody>
      </p:sp>
      <p:sp>
        <p:nvSpPr>
          <p:cNvPr id="24" name="Text 21"/>
          <p:cNvSpPr txBox="1"/>
          <p:nvPr/>
        </p:nvSpPr>
        <p:spPr>
          <a:xfrm>
            <a:off x="713232" y="4654296"/>
            <a:ext cx="2103120" cy="237744"/>
          </a:xfrm>
          <a:prstGeom prst="rect">
            <a:avLst/>
          </a:prstGeom>
          <a:noFill/>
          <a:ln/>
        </p:spPr>
        <p:txBody>
          <a:bodyPr wrap="square" lIns="0" tIns="0" rIns="0" bIns="0" rtlCol="0" anchor="ctr"/>
          <a:lstStyle/>
          <a:p>
            <a:pPr marL="0" indent="0">
              <a:buNone/>
            </a:pPr>
            <a:r>
              <a:rPr lang="en-US" sz="1100">
                <a:solidFill>
                  <a:schemeClr val="tx1"/>
                </a:solidFill>
              </a:rPr>
              <a:t>Best-practice jurisdiction</a:t>
            </a:r>
            <a:endParaRPr lang="en-US" sz="1100"/>
          </a:p>
        </p:txBody>
      </p:sp>
      <p:sp>
        <p:nvSpPr>
          <p:cNvPr id="25" name="Text 22"/>
          <p:cNvSpPr txBox="1"/>
          <p:nvPr/>
        </p:nvSpPr>
        <p:spPr>
          <a:xfrm>
            <a:off x="7589520" y="1161288"/>
            <a:ext cx="4206240" cy="274320"/>
          </a:xfrm>
          <a:prstGeom prst="rect">
            <a:avLst/>
          </a:prstGeom>
          <a:noFill/>
          <a:ln/>
        </p:spPr>
        <p:txBody>
          <a:bodyPr wrap="square" lIns="0" tIns="0" rIns="0" bIns="0" rtlCol="0" anchor="ctr"/>
          <a:lstStyle/>
          <a:p>
            <a:pPr marL="0" indent="0">
              <a:buNone/>
            </a:pPr>
            <a:r>
              <a:rPr lang="en-US" sz="1300" b="1">
                <a:solidFill>
                  <a:schemeClr val="accent2"/>
                </a:solidFill>
              </a:rPr>
              <a:t>North Carolina practices</a:t>
            </a:r>
            <a:endParaRPr lang="en-US" sz="1300"/>
          </a:p>
        </p:txBody>
      </p:sp>
      <p:pic>
        <p:nvPicPr>
          <p:cNvPr id="26" name="NC inset map" descr="map_nc.png"/>
          <p:cNvPicPr>
            <a:picLocks noChangeAspect="1"/>
          </p:cNvPicPr>
          <p:nvPr/>
        </p:nvPicPr>
        <p:blipFill>
          <a:blip r:embed="rId4"/>
          <a:stretch>
            <a:fillRect/>
          </a:stretch>
        </p:blipFill>
        <p:spPr>
          <a:xfrm>
            <a:off x="7818120" y="1481328"/>
            <a:ext cx="3931920" cy="1628530"/>
          </a:xfrm>
          <a:prstGeom prst="rect">
            <a:avLst/>
          </a:prstGeom>
        </p:spPr>
      </p:pic>
      <p:sp>
        <p:nvSpPr>
          <p:cNvPr id="27" name="Raleigh pin"/>
          <p:cNvSpPr/>
          <p:nvPr/>
        </p:nvSpPr>
        <p:spPr>
          <a:xfrm>
            <a:off x="10339039" y="1942469"/>
            <a:ext cx="100584" cy="100584"/>
          </a:xfrm>
          <a:prstGeom prst="ellipse">
            <a:avLst/>
          </a:prstGeom>
          <a:solidFill>
            <a:schemeClr val="accent4"/>
          </a:solidFill>
          <a:ln w="19050">
            <a:solidFill>
              <a:schemeClr val="bg1"/>
            </a:solidFill>
            <a:prstDash val="solid"/>
          </a:ln>
        </p:spPr>
        <p:txBody>
          <a:bodyPr/>
          <a:lstStyle/>
          <a:p>
            <a:endParaRPr lang="en-US"/>
          </a:p>
        </p:txBody>
      </p:sp>
      <p:sp>
        <p:nvSpPr>
          <p:cNvPr id="28" name="Durham pin"/>
          <p:cNvSpPr/>
          <p:nvPr/>
        </p:nvSpPr>
        <p:spPr>
          <a:xfrm>
            <a:off x="10224796" y="1829408"/>
            <a:ext cx="100584" cy="100584"/>
          </a:xfrm>
          <a:prstGeom prst="ellipse">
            <a:avLst/>
          </a:prstGeom>
          <a:solidFill>
            <a:schemeClr val="accent4"/>
          </a:solidFill>
          <a:ln w="19050">
            <a:solidFill>
              <a:schemeClr val="bg1"/>
            </a:solidFill>
            <a:prstDash val="solid"/>
          </a:ln>
        </p:spPr>
        <p:txBody>
          <a:bodyPr/>
          <a:lstStyle/>
          <a:p>
            <a:endParaRPr lang="en-US"/>
          </a:p>
        </p:txBody>
      </p:sp>
      <p:sp>
        <p:nvSpPr>
          <p:cNvPr id="29" name="Text 25"/>
          <p:cNvSpPr txBox="1"/>
          <p:nvPr/>
        </p:nvSpPr>
        <p:spPr>
          <a:xfrm>
            <a:off x="9589288" y="1605380"/>
            <a:ext cx="640080" cy="201168"/>
          </a:xfrm>
          <a:prstGeom prst="rect">
            <a:avLst/>
          </a:prstGeom>
          <a:noFill/>
          <a:ln/>
        </p:spPr>
        <p:txBody>
          <a:bodyPr wrap="square" lIns="0" tIns="0" rIns="0" bIns="0" rtlCol="0" anchor="ctr"/>
          <a:lstStyle/>
          <a:p>
            <a:pPr marL="0" indent="0" algn="r">
              <a:buNone/>
            </a:pPr>
            <a:r>
              <a:rPr lang="en-US" sz="1000" b="1">
                <a:solidFill>
                  <a:schemeClr val="accent4"/>
                </a:solidFill>
              </a:rPr>
              <a:t>Durham</a:t>
            </a:r>
            <a:endParaRPr lang="en-US" sz="1000"/>
          </a:p>
        </p:txBody>
      </p:sp>
      <p:sp>
        <p:nvSpPr>
          <p:cNvPr id="30" name="Text 26"/>
          <p:cNvSpPr txBox="1"/>
          <p:nvPr/>
        </p:nvSpPr>
        <p:spPr>
          <a:xfrm>
            <a:off x="10608787" y="1864745"/>
            <a:ext cx="1188720" cy="201168"/>
          </a:xfrm>
          <a:prstGeom prst="rect">
            <a:avLst/>
          </a:prstGeom>
          <a:noFill/>
          <a:ln/>
        </p:spPr>
        <p:txBody>
          <a:bodyPr wrap="square" lIns="0" tIns="0" rIns="0" bIns="0" rtlCol="0" anchor="ctr"/>
          <a:lstStyle/>
          <a:p>
            <a:pPr marL="0" indent="0" algn="l">
              <a:buNone/>
            </a:pPr>
            <a:r>
              <a:rPr lang="en-US" sz="1000" b="1">
                <a:solidFill>
                  <a:schemeClr val="accent1"/>
                </a:solidFill>
              </a:rPr>
              <a:t>Raleigh, in Wake</a:t>
            </a:r>
            <a:endParaRPr lang="en-US" sz="1000"/>
          </a:p>
        </p:txBody>
      </p:sp>
      <p:sp>
        <p:nvSpPr>
          <p:cNvPr id="31" name="Text 27"/>
          <p:cNvSpPr txBox="1"/>
          <p:nvPr/>
        </p:nvSpPr>
        <p:spPr>
          <a:xfrm>
            <a:off x="8322017" y="1743477"/>
            <a:ext cx="822960" cy="201168"/>
          </a:xfrm>
          <a:prstGeom prst="rect">
            <a:avLst/>
          </a:prstGeom>
          <a:noFill/>
          <a:ln/>
        </p:spPr>
        <p:txBody>
          <a:bodyPr wrap="square" lIns="0" tIns="0" rIns="0" bIns="0" rtlCol="0" anchor="ctr"/>
          <a:lstStyle/>
          <a:p>
            <a:pPr marL="0" indent="0" algn="ctr">
              <a:buNone/>
            </a:pPr>
            <a:r>
              <a:rPr lang="en-US" sz="1000" b="1">
                <a:solidFill>
                  <a:schemeClr val="accent4"/>
                </a:solidFill>
              </a:rPr>
              <a:t>Buncombe</a:t>
            </a:r>
            <a:endParaRPr lang="en-US" sz="1000"/>
          </a:p>
        </p:txBody>
      </p:sp>
      <p:sp>
        <p:nvSpPr>
          <p:cNvPr id="32" name="Text 28"/>
          <p:cNvSpPr txBox="1"/>
          <p:nvPr/>
        </p:nvSpPr>
        <p:spPr>
          <a:xfrm>
            <a:off x="9579931" y="2349265"/>
            <a:ext cx="1280160" cy="201168"/>
          </a:xfrm>
          <a:prstGeom prst="rect">
            <a:avLst/>
          </a:prstGeom>
          <a:noFill/>
          <a:ln/>
        </p:spPr>
        <p:txBody>
          <a:bodyPr wrap="square" lIns="0" tIns="0" rIns="0" bIns="0" rtlCol="0" anchor="ctr"/>
          <a:lstStyle/>
          <a:p>
            <a:pPr marL="0" indent="0" algn="l">
              <a:buNone/>
            </a:pPr>
            <a:r>
              <a:rPr lang="en-US" sz="1000" b="1">
                <a:solidFill>
                  <a:schemeClr val="tx2"/>
                </a:solidFill>
              </a:rPr>
              <a:t>Mecklenburg (peer)</a:t>
            </a:r>
            <a:endParaRPr lang="en-US" sz="1000"/>
          </a:p>
        </p:txBody>
      </p:sp>
      <p:sp>
        <p:nvSpPr>
          <p:cNvPr id="33" name="Text 29"/>
          <p:cNvSpPr txBox="1"/>
          <p:nvPr/>
        </p:nvSpPr>
        <p:spPr>
          <a:xfrm>
            <a:off x="7589520" y="3310128"/>
            <a:ext cx="4206240" cy="274320"/>
          </a:xfrm>
          <a:prstGeom prst="rect">
            <a:avLst/>
          </a:prstGeom>
          <a:noFill/>
          <a:ln/>
        </p:spPr>
        <p:txBody>
          <a:bodyPr wrap="square" lIns="0" tIns="0" rIns="0" bIns="0" rtlCol="0" anchor="ctr"/>
          <a:lstStyle/>
          <a:p>
            <a:pPr marL="0" indent="0">
              <a:buNone/>
            </a:pPr>
            <a:r>
              <a:rPr lang="en-US" sz="1300" b="1">
                <a:solidFill>
                  <a:schemeClr val="accent2"/>
                </a:solidFill>
              </a:rPr>
              <a:t>Benchmark numbers</a:t>
            </a:r>
            <a:endParaRPr lang="en-US" sz="1300"/>
          </a:p>
        </p:txBody>
      </p:sp>
      <p:sp>
        <p:nvSpPr>
          <p:cNvPr id="34" name="Text 30"/>
          <p:cNvSpPr txBox="1"/>
          <p:nvPr/>
        </p:nvSpPr>
        <p:spPr>
          <a:xfrm>
            <a:off x="7635240" y="3602736"/>
            <a:ext cx="1371600" cy="219456"/>
          </a:xfrm>
          <a:prstGeom prst="rect">
            <a:avLst/>
          </a:prstGeom>
          <a:noFill/>
          <a:ln/>
        </p:spPr>
        <p:txBody>
          <a:bodyPr wrap="square" lIns="0" tIns="0" rIns="0" bIns="0" rtlCol="0" anchor="ctr"/>
          <a:lstStyle/>
          <a:p>
            <a:pPr marL="0" indent="0" algn="l">
              <a:buNone/>
            </a:pPr>
            <a:r>
              <a:rPr lang="en-US" sz="1000" b="1">
                <a:solidFill>
                  <a:schemeClr val="accent6"/>
                </a:solidFill>
              </a:rPr>
              <a:t>County</a:t>
            </a:r>
            <a:endParaRPr lang="en-US" sz="1000"/>
          </a:p>
        </p:txBody>
      </p:sp>
      <p:sp>
        <p:nvSpPr>
          <p:cNvPr id="35" name="Text 31"/>
          <p:cNvSpPr txBox="1"/>
          <p:nvPr/>
        </p:nvSpPr>
        <p:spPr>
          <a:xfrm>
            <a:off x="9006840" y="3602736"/>
            <a:ext cx="685800" cy="219456"/>
          </a:xfrm>
          <a:prstGeom prst="rect">
            <a:avLst/>
          </a:prstGeom>
          <a:noFill/>
          <a:ln/>
        </p:spPr>
        <p:txBody>
          <a:bodyPr wrap="square" lIns="0" tIns="0" rIns="0" bIns="0" rtlCol="0" anchor="ctr"/>
          <a:lstStyle/>
          <a:p>
            <a:pPr marL="0" indent="0" algn="r">
              <a:buNone/>
            </a:pPr>
            <a:r>
              <a:rPr lang="en-US" sz="1000" b="1">
                <a:solidFill>
                  <a:schemeClr val="accent6"/>
                </a:solidFill>
              </a:rPr>
              <a:t>2025 pop.</a:t>
            </a:r>
            <a:endParaRPr lang="en-US" sz="1000"/>
          </a:p>
        </p:txBody>
      </p:sp>
      <p:sp>
        <p:nvSpPr>
          <p:cNvPr id="36" name="Text 32"/>
          <p:cNvSpPr txBox="1"/>
          <p:nvPr/>
        </p:nvSpPr>
        <p:spPr>
          <a:xfrm>
            <a:off x="9875520" y="3602736"/>
            <a:ext cx="1920240" cy="219456"/>
          </a:xfrm>
          <a:prstGeom prst="rect">
            <a:avLst/>
          </a:prstGeom>
          <a:noFill/>
          <a:ln/>
        </p:spPr>
        <p:txBody>
          <a:bodyPr wrap="square" lIns="0" tIns="0" rIns="0" bIns="0" rtlCol="0" anchor="ctr"/>
          <a:lstStyle/>
          <a:p>
            <a:pPr marL="0" indent="0" algn="l">
              <a:buNone/>
            </a:pPr>
            <a:r>
              <a:rPr lang="en-US" sz="1000" b="1">
                <a:solidFill>
                  <a:schemeClr val="accent6"/>
                </a:solidFill>
              </a:rPr>
              <a:t>Growth since 2020</a:t>
            </a:r>
            <a:endParaRPr lang="en-US" sz="1000"/>
          </a:p>
        </p:txBody>
      </p:sp>
      <p:sp>
        <p:nvSpPr>
          <p:cNvPr id="37" name="Text 33"/>
          <p:cNvSpPr txBox="1"/>
          <p:nvPr/>
        </p:nvSpPr>
        <p:spPr>
          <a:xfrm>
            <a:off x="7635240" y="3858768"/>
            <a:ext cx="1371600" cy="219456"/>
          </a:xfrm>
          <a:prstGeom prst="rect">
            <a:avLst/>
          </a:prstGeom>
          <a:noFill/>
          <a:ln/>
        </p:spPr>
        <p:txBody>
          <a:bodyPr wrap="square" lIns="0" tIns="0" rIns="0" bIns="0" rtlCol="0" anchor="ctr"/>
          <a:lstStyle/>
          <a:p>
            <a:pPr marL="0" indent="0">
              <a:buNone/>
            </a:pPr>
            <a:r>
              <a:rPr lang="en-US" sz="1100">
                <a:solidFill>
                  <a:schemeClr val="tx1"/>
                </a:solidFill>
              </a:rPr>
              <a:t>Collin, TX</a:t>
            </a:r>
            <a:endParaRPr lang="en-US" sz="1100"/>
          </a:p>
        </p:txBody>
      </p:sp>
      <p:sp>
        <p:nvSpPr>
          <p:cNvPr id="38" name="Text 34"/>
          <p:cNvSpPr txBox="1"/>
          <p:nvPr/>
        </p:nvSpPr>
        <p:spPr>
          <a:xfrm>
            <a:off x="9006840" y="3858768"/>
            <a:ext cx="685800" cy="219456"/>
          </a:xfrm>
          <a:prstGeom prst="rect">
            <a:avLst/>
          </a:prstGeom>
          <a:noFill/>
          <a:ln/>
        </p:spPr>
        <p:txBody>
          <a:bodyPr wrap="square" lIns="0" tIns="0" rIns="0" bIns="0" rtlCol="0" anchor="ctr"/>
          <a:lstStyle/>
          <a:p>
            <a:pPr marL="0" indent="0" algn="r">
              <a:buNone/>
            </a:pPr>
            <a:r>
              <a:rPr lang="en-US" sz="1100">
                <a:solidFill>
                  <a:schemeClr val="tx1"/>
                </a:solidFill>
              </a:rPr>
              <a:t>1.30M</a:t>
            </a:r>
            <a:endParaRPr lang="en-US" sz="1100"/>
          </a:p>
        </p:txBody>
      </p:sp>
      <p:sp>
        <p:nvSpPr>
          <p:cNvPr id="39" name="Collin, TX growth bar"/>
          <p:cNvSpPr/>
          <p:nvPr/>
        </p:nvSpPr>
        <p:spPr>
          <a:xfrm>
            <a:off x="9875520" y="3895344"/>
            <a:ext cx="1325880" cy="155448"/>
          </a:xfrm>
          <a:prstGeom prst="rect">
            <a:avLst/>
          </a:prstGeom>
          <a:solidFill>
            <a:schemeClr val="tx2"/>
          </a:solidFill>
          <a:ln w="12700">
            <a:solidFill>
              <a:schemeClr val="tx2"/>
            </a:solidFill>
            <a:prstDash val="solid"/>
          </a:ln>
        </p:spPr>
        <p:txBody>
          <a:bodyPr/>
          <a:lstStyle/>
          <a:p>
            <a:endParaRPr lang="en-US"/>
          </a:p>
        </p:txBody>
      </p:sp>
      <p:sp>
        <p:nvSpPr>
          <p:cNvPr id="40" name="Text 36"/>
          <p:cNvSpPr txBox="1"/>
          <p:nvPr/>
        </p:nvSpPr>
        <p:spPr>
          <a:xfrm>
            <a:off x="11256264" y="3858768"/>
            <a:ext cx="548640" cy="219456"/>
          </a:xfrm>
          <a:prstGeom prst="rect">
            <a:avLst/>
          </a:prstGeom>
          <a:noFill/>
          <a:ln/>
        </p:spPr>
        <p:txBody>
          <a:bodyPr wrap="square" lIns="0" tIns="0" rIns="0" bIns="0" rtlCol="0" anchor="ctr"/>
          <a:lstStyle/>
          <a:p>
            <a:pPr marL="0" indent="0">
              <a:buNone/>
            </a:pPr>
            <a:r>
              <a:rPr lang="en-US" sz="1100" b="1">
                <a:solidFill>
                  <a:schemeClr val="tx2"/>
                </a:solidFill>
              </a:rPr>
              <a:t>21.7%</a:t>
            </a:r>
            <a:endParaRPr lang="en-US" sz="1100"/>
          </a:p>
        </p:txBody>
      </p:sp>
      <p:sp>
        <p:nvSpPr>
          <p:cNvPr id="41" name="Wake row highlight"/>
          <p:cNvSpPr/>
          <p:nvPr/>
        </p:nvSpPr>
        <p:spPr>
          <a:xfrm>
            <a:off x="7589520" y="4105656"/>
            <a:ext cx="4233672" cy="256032"/>
          </a:xfrm>
          <a:prstGeom prst="rect">
            <a:avLst/>
          </a:prstGeom>
          <a:solidFill>
            <a:schemeClr val="accent1">
              <a:alpha val="15000"/>
            </a:schemeClr>
          </a:solidFill>
          <a:ln w="12700">
            <a:solidFill>
              <a:schemeClr val="accent1">
                <a:alpha val="15000"/>
              </a:schemeClr>
            </a:solidFill>
            <a:prstDash val="solid"/>
          </a:ln>
        </p:spPr>
        <p:txBody>
          <a:bodyPr/>
          <a:lstStyle/>
          <a:p>
            <a:endParaRPr lang="en-US"/>
          </a:p>
        </p:txBody>
      </p:sp>
      <p:sp>
        <p:nvSpPr>
          <p:cNvPr id="42" name="Text 38"/>
          <p:cNvSpPr txBox="1"/>
          <p:nvPr/>
        </p:nvSpPr>
        <p:spPr>
          <a:xfrm>
            <a:off x="7635240" y="4123944"/>
            <a:ext cx="1371600" cy="219456"/>
          </a:xfrm>
          <a:prstGeom prst="rect">
            <a:avLst/>
          </a:prstGeom>
          <a:noFill/>
          <a:ln/>
        </p:spPr>
        <p:txBody>
          <a:bodyPr wrap="square" lIns="0" tIns="0" rIns="0" bIns="0" rtlCol="0" anchor="ctr"/>
          <a:lstStyle/>
          <a:p>
            <a:pPr marL="0" indent="0">
              <a:buNone/>
            </a:pPr>
            <a:r>
              <a:rPr lang="en-US" sz="1100" b="1">
                <a:solidFill>
                  <a:schemeClr val="tx1"/>
                </a:solidFill>
              </a:rPr>
              <a:t>Wake, NC</a:t>
            </a:r>
            <a:endParaRPr lang="en-US" sz="1100"/>
          </a:p>
        </p:txBody>
      </p:sp>
      <p:sp>
        <p:nvSpPr>
          <p:cNvPr id="43" name="Text 39"/>
          <p:cNvSpPr txBox="1"/>
          <p:nvPr/>
        </p:nvSpPr>
        <p:spPr>
          <a:xfrm>
            <a:off x="9006840" y="4123944"/>
            <a:ext cx="685800" cy="219456"/>
          </a:xfrm>
          <a:prstGeom prst="rect">
            <a:avLst/>
          </a:prstGeom>
          <a:noFill/>
          <a:ln/>
        </p:spPr>
        <p:txBody>
          <a:bodyPr wrap="square" lIns="0" tIns="0" rIns="0" bIns="0" rtlCol="0" anchor="ctr"/>
          <a:lstStyle/>
          <a:p>
            <a:pPr marL="0" indent="0" algn="r">
              <a:buNone/>
            </a:pPr>
            <a:r>
              <a:rPr lang="en-US" sz="1100" b="1">
                <a:solidFill>
                  <a:schemeClr val="tx1"/>
                </a:solidFill>
              </a:rPr>
              <a:t>1.26M</a:t>
            </a:r>
            <a:endParaRPr lang="en-US" sz="1100"/>
          </a:p>
        </p:txBody>
      </p:sp>
      <p:sp>
        <p:nvSpPr>
          <p:cNvPr id="44" name="Wake, NC growth bar"/>
          <p:cNvSpPr/>
          <p:nvPr/>
        </p:nvSpPr>
        <p:spPr>
          <a:xfrm>
            <a:off x="9875520" y="4160520"/>
            <a:ext cx="690435" cy="155448"/>
          </a:xfrm>
          <a:prstGeom prst="rect">
            <a:avLst/>
          </a:prstGeom>
          <a:solidFill>
            <a:schemeClr val="accent1"/>
          </a:solidFill>
          <a:ln w="12700">
            <a:solidFill>
              <a:schemeClr val="accent1"/>
            </a:solidFill>
            <a:prstDash val="solid"/>
          </a:ln>
        </p:spPr>
        <p:txBody>
          <a:bodyPr/>
          <a:lstStyle/>
          <a:p>
            <a:endParaRPr lang="en-US"/>
          </a:p>
        </p:txBody>
      </p:sp>
      <p:sp>
        <p:nvSpPr>
          <p:cNvPr id="45" name="Text 41"/>
          <p:cNvSpPr txBox="1"/>
          <p:nvPr/>
        </p:nvSpPr>
        <p:spPr>
          <a:xfrm>
            <a:off x="10620819" y="4123944"/>
            <a:ext cx="548640" cy="219456"/>
          </a:xfrm>
          <a:prstGeom prst="rect">
            <a:avLst/>
          </a:prstGeom>
          <a:noFill/>
          <a:ln/>
        </p:spPr>
        <p:txBody>
          <a:bodyPr wrap="square" lIns="0" tIns="0" rIns="0" bIns="0" rtlCol="0" anchor="ctr"/>
          <a:lstStyle/>
          <a:p>
            <a:pPr marL="0" indent="0">
              <a:buNone/>
            </a:pPr>
            <a:r>
              <a:rPr lang="en-US" sz="1100" b="1">
                <a:solidFill>
                  <a:schemeClr val="accent1"/>
                </a:solidFill>
              </a:rPr>
              <a:t>11.3%</a:t>
            </a:r>
            <a:endParaRPr lang="en-US" sz="1100"/>
          </a:p>
        </p:txBody>
      </p:sp>
      <p:sp>
        <p:nvSpPr>
          <p:cNvPr id="46" name="Text 42"/>
          <p:cNvSpPr txBox="1"/>
          <p:nvPr/>
        </p:nvSpPr>
        <p:spPr>
          <a:xfrm>
            <a:off x="7635240" y="4389120"/>
            <a:ext cx="1371600" cy="219456"/>
          </a:xfrm>
          <a:prstGeom prst="rect">
            <a:avLst/>
          </a:prstGeom>
          <a:noFill/>
          <a:ln/>
        </p:spPr>
        <p:txBody>
          <a:bodyPr wrap="square" lIns="0" tIns="0" rIns="0" bIns="0" rtlCol="0" anchor="ctr"/>
          <a:lstStyle/>
          <a:p>
            <a:pPr marL="0" indent="0">
              <a:buNone/>
            </a:pPr>
            <a:r>
              <a:rPr lang="en-US" sz="1100">
                <a:solidFill>
                  <a:schemeClr val="tx1"/>
                </a:solidFill>
              </a:rPr>
              <a:t>Mecklenburg, NC</a:t>
            </a:r>
            <a:endParaRPr lang="en-US" sz="1100"/>
          </a:p>
        </p:txBody>
      </p:sp>
      <p:sp>
        <p:nvSpPr>
          <p:cNvPr id="47" name="Text 43"/>
          <p:cNvSpPr txBox="1"/>
          <p:nvPr/>
        </p:nvSpPr>
        <p:spPr>
          <a:xfrm>
            <a:off x="9006840" y="4389120"/>
            <a:ext cx="685800" cy="219456"/>
          </a:xfrm>
          <a:prstGeom prst="rect">
            <a:avLst/>
          </a:prstGeom>
          <a:noFill/>
          <a:ln/>
        </p:spPr>
        <p:txBody>
          <a:bodyPr wrap="square" lIns="0" tIns="0" rIns="0" bIns="0" rtlCol="0" anchor="ctr"/>
          <a:lstStyle/>
          <a:p>
            <a:pPr marL="0" indent="0" algn="r">
              <a:buNone/>
            </a:pPr>
            <a:r>
              <a:rPr lang="en-US" sz="1100">
                <a:solidFill>
                  <a:schemeClr val="tx1"/>
                </a:solidFill>
              </a:rPr>
              <a:t>1.23M</a:t>
            </a:r>
            <a:endParaRPr lang="en-US" sz="1100"/>
          </a:p>
        </p:txBody>
      </p:sp>
      <p:sp>
        <p:nvSpPr>
          <p:cNvPr id="48" name="Mecklenburg, NC growth bar"/>
          <p:cNvSpPr/>
          <p:nvPr/>
        </p:nvSpPr>
        <p:spPr>
          <a:xfrm>
            <a:off x="9875520" y="4425696"/>
            <a:ext cx="647665" cy="155448"/>
          </a:xfrm>
          <a:prstGeom prst="rect">
            <a:avLst/>
          </a:prstGeom>
          <a:solidFill>
            <a:schemeClr val="tx2"/>
          </a:solidFill>
          <a:ln w="12700">
            <a:solidFill>
              <a:schemeClr val="tx2"/>
            </a:solidFill>
            <a:prstDash val="solid"/>
          </a:ln>
        </p:spPr>
        <p:txBody>
          <a:bodyPr/>
          <a:lstStyle/>
          <a:p>
            <a:endParaRPr lang="en-US"/>
          </a:p>
        </p:txBody>
      </p:sp>
      <p:sp>
        <p:nvSpPr>
          <p:cNvPr id="49" name="Text 45"/>
          <p:cNvSpPr txBox="1"/>
          <p:nvPr/>
        </p:nvSpPr>
        <p:spPr>
          <a:xfrm>
            <a:off x="10578049" y="4389120"/>
            <a:ext cx="548640" cy="219456"/>
          </a:xfrm>
          <a:prstGeom prst="rect">
            <a:avLst/>
          </a:prstGeom>
          <a:noFill/>
          <a:ln/>
        </p:spPr>
        <p:txBody>
          <a:bodyPr wrap="square" lIns="0" tIns="0" rIns="0" bIns="0" rtlCol="0" anchor="ctr"/>
          <a:lstStyle/>
          <a:p>
            <a:pPr marL="0" indent="0">
              <a:buNone/>
            </a:pPr>
            <a:r>
              <a:rPr lang="en-US" sz="1100" b="1">
                <a:solidFill>
                  <a:schemeClr val="tx2"/>
                </a:solidFill>
              </a:rPr>
              <a:t>10.6%</a:t>
            </a:r>
            <a:endParaRPr lang="en-US" sz="1100"/>
          </a:p>
        </p:txBody>
      </p:sp>
      <p:sp>
        <p:nvSpPr>
          <p:cNvPr id="50" name="Text 46"/>
          <p:cNvSpPr txBox="1"/>
          <p:nvPr/>
        </p:nvSpPr>
        <p:spPr>
          <a:xfrm>
            <a:off x="7635240" y="4654296"/>
            <a:ext cx="1371600" cy="219456"/>
          </a:xfrm>
          <a:prstGeom prst="rect">
            <a:avLst/>
          </a:prstGeom>
          <a:noFill/>
          <a:ln/>
        </p:spPr>
        <p:txBody>
          <a:bodyPr wrap="square" lIns="0" tIns="0" rIns="0" bIns="0" rtlCol="0" anchor="ctr"/>
          <a:lstStyle/>
          <a:p>
            <a:pPr marL="0" indent="0">
              <a:buNone/>
            </a:pPr>
            <a:r>
              <a:rPr lang="en-US" sz="1100">
                <a:solidFill>
                  <a:schemeClr val="tx1"/>
                </a:solidFill>
              </a:rPr>
              <a:t>Hillsborough, FL</a:t>
            </a:r>
            <a:endParaRPr lang="en-US" sz="1100"/>
          </a:p>
        </p:txBody>
      </p:sp>
      <p:sp>
        <p:nvSpPr>
          <p:cNvPr id="51" name="Text 47"/>
          <p:cNvSpPr txBox="1"/>
          <p:nvPr/>
        </p:nvSpPr>
        <p:spPr>
          <a:xfrm>
            <a:off x="9006840" y="4654296"/>
            <a:ext cx="685800" cy="219456"/>
          </a:xfrm>
          <a:prstGeom prst="rect">
            <a:avLst/>
          </a:prstGeom>
          <a:noFill/>
          <a:ln/>
        </p:spPr>
        <p:txBody>
          <a:bodyPr wrap="square" lIns="0" tIns="0" rIns="0" bIns="0" rtlCol="0" anchor="ctr"/>
          <a:lstStyle/>
          <a:p>
            <a:pPr marL="0" indent="0" algn="r">
              <a:buNone/>
            </a:pPr>
            <a:r>
              <a:rPr lang="en-US" sz="1100">
                <a:solidFill>
                  <a:schemeClr val="tx1"/>
                </a:solidFill>
              </a:rPr>
              <a:t>1.57M</a:t>
            </a:r>
            <a:endParaRPr lang="en-US" sz="1100"/>
          </a:p>
        </p:txBody>
      </p:sp>
      <p:sp>
        <p:nvSpPr>
          <p:cNvPr id="52" name="Hillsborough, FL growth bar"/>
          <p:cNvSpPr/>
          <p:nvPr/>
        </p:nvSpPr>
        <p:spPr>
          <a:xfrm>
            <a:off x="9875520" y="4690872"/>
            <a:ext cx="476584" cy="155448"/>
          </a:xfrm>
          <a:prstGeom prst="rect">
            <a:avLst/>
          </a:prstGeom>
          <a:solidFill>
            <a:schemeClr val="tx2"/>
          </a:solidFill>
          <a:ln w="12700">
            <a:solidFill>
              <a:schemeClr val="tx2"/>
            </a:solidFill>
            <a:prstDash val="solid"/>
          </a:ln>
        </p:spPr>
        <p:txBody>
          <a:bodyPr/>
          <a:lstStyle/>
          <a:p>
            <a:endParaRPr lang="en-US"/>
          </a:p>
        </p:txBody>
      </p:sp>
      <p:sp>
        <p:nvSpPr>
          <p:cNvPr id="53" name="Text 49"/>
          <p:cNvSpPr txBox="1"/>
          <p:nvPr/>
        </p:nvSpPr>
        <p:spPr>
          <a:xfrm>
            <a:off x="10406968" y="4654296"/>
            <a:ext cx="548640" cy="219456"/>
          </a:xfrm>
          <a:prstGeom prst="rect">
            <a:avLst/>
          </a:prstGeom>
          <a:noFill/>
          <a:ln/>
        </p:spPr>
        <p:txBody>
          <a:bodyPr wrap="square" lIns="0" tIns="0" rIns="0" bIns="0" rtlCol="0" anchor="ctr"/>
          <a:lstStyle/>
          <a:p>
            <a:pPr marL="0" indent="0">
              <a:buNone/>
            </a:pPr>
            <a:r>
              <a:rPr lang="en-US" sz="1100" b="1">
                <a:solidFill>
                  <a:schemeClr val="tx2"/>
                </a:solidFill>
              </a:rPr>
              <a:t>7.8%</a:t>
            </a:r>
            <a:endParaRPr lang="en-US" sz="1100"/>
          </a:p>
        </p:txBody>
      </p:sp>
      <p:sp>
        <p:nvSpPr>
          <p:cNvPr id="54" name="Text 50"/>
          <p:cNvSpPr txBox="1"/>
          <p:nvPr/>
        </p:nvSpPr>
        <p:spPr>
          <a:xfrm>
            <a:off x="7635240" y="4919472"/>
            <a:ext cx="1371600" cy="219456"/>
          </a:xfrm>
          <a:prstGeom prst="rect">
            <a:avLst/>
          </a:prstGeom>
          <a:noFill/>
          <a:ln/>
        </p:spPr>
        <p:txBody>
          <a:bodyPr wrap="square" lIns="0" tIns="0" rIns="0" bIns="0" rtlCol="0" anchor="ctr"/>
          <a:lstStyle/>
          <a:p>
            <a:pPr marL="0" indent="0">
              <a:buNone/>
            </a:pPr>
            <a:r>
              <a:rPr lang="en-US" sz="1100">
                <a:solidFill>
                  <a:schemeClr val="tx1"/>
                </a:solidFill>
              </a:rPr>
              <a:t>Travis, TX</a:t>
            </a:r>
            <a:endParaRPr lang="en-US" sz="1100"/>
          </a:p>
        </p:txBody>
      </p:sp>
      <p:sp>
        <p:nvSpPr>
          <p:cNvPr id="55" name="Text 51"/>
          <p:cNvSpPr txBox="1"/>
          <p:nvPr/>
        </p:nvSpPr>
        <p:spPr>
          <a:xfrm>
            <a:off x="9006840" y="4919472"/>
            <a:ext cx="685800" cy="219456"/>
          </a:xfrm>
          <a:prstGeom prst="rect">
            <a:avLst/>
          </a:prstGeom>
          <a:noFill/>
          <a:ln/>
        </p:spPr>
        <p:txBody>
          <a:bodyPr wrap="square" lIns="0" tIns="0" rIns="0" bIns="0" rtlCol="0" anchor="ctr"/>
          <a:lstStyle/>
          <a:p>
            <a:pPr marL="0" indent="0" algn="r">
              <a:buNone/>
            </a:pPr>
            <a:r>
              <a:rPr lang="en-US" sz="1100">
                <a:solidFill>
                  <a:schemeClr val="tx1"/>
                </a:solidFill>
              </a:rPr>
              <a:t>1.39M</a:t>
            </a:r>
            <a:endParaRPr lang="en-US" sz="1100"/>
          </a:p>
        </p:txBody>
      </p:sp>
      <p:sp>
        <p:nvSpPr>
          <p:cNvPr id="56" name="Travis, TX growth bar"/>
          <p:cNvSpPr/>
          <p:nvPr/>
        </p:nvSpPr>
        <p:spPr>
          <a:xfrm>
            <a:off x="9875520" y="4956048"/>
            <a:ext cx="470474" cy="155448"/>
          </a:xfrm>
          <a:prstGeom prst="rect">
            <a:avLst/>
          </a:prstGeom>
          <a:solidFill>
            <a:schemeClr val="tx2"/>
          </a:solidFill>
          <a:ln w="12700">
            <a:solidFill>
              <a:schemeClr val="tx2"/>
            </a:solidFill>
            <a:prstDash val="solid"/>
          </a:ln>
        </p:spPr>
        <p:txBody>
          <a:bodyPr/>
          <a:lstStyle/>
          <a:p>
            <a:endParaRPr lang="en-US"/>
          </a:p>
        </p:txBody>
      </p:sp>
      <p:sp>
        <p:nvSpPr>
          <p:cNvPr id="57" name="Text 53"/>
          <p:cNvSpPr txBox="1"/>
          <p:nvPr/>
        </p:nvSpPr>
        <p:spPr>
          <a:xfrm>
            <a:off x="10400858" y="4919472"/>
            <a:ext cx="548640" cy="219456"/>
          </a:xfrm>
          <a:prstGeom prst="rect">
            <a:avLst/>
          </a:prstGeom>
          <a:noFill/>
          <a:ln/>
        </p:spPr>
        <p:txBody>
          <a:bodyPr wrap="square" lIns="0" tIns="0" rIns="0" bIns="0" rtlCol="0" anchor="ctr"/>
          <a:lstStyle/>
          <a:p>
            <a:pPr marL="0" indent="0">
              <a:buNone/>
            </a:pPr>
            <a:r>
              <a:rPr lang="en-US" sz="1100" b="1">
                <a:solidFill>
                  <a:schemeClr val="tx2"/>
                </a:solidFill>
              </a:rPr>
              <a:t>7.7%</a:t>
            </a:r>
            <a:endParaRPr lang="en-US" sz="1100"/>
          </a:p>
        </p:txBody>
      </p:sp>
      <p:sp>
        <p:nvSpPr>
          <p:cNvPr id="58" name="Text 54"/>
          <p:cNvSpPr txBox="1"/>
          <p:nvPr/>
        </p:nvSpPr>
        <p:spPr>
          <a:xfrm>
            <a:off x="7635240" y="5184648"/>
            <a:ext cx="1371600" cy="219456"/>
          </a:xfrm>
          <a:prstGeom prst="rect">
            <a:avLst/>
          </a:prstGeom>
          <a:noFill/>
          <a:ln/>
        </p:spPr>
        <p:txBody>
          <a:bodyPr wrap="square" lIns="0" tIns="0" rIns="0" bIns="0" rtlCol="0" anchor="ctr"/>
          <a:lstStyle/>
          <a:p>
            <a:pPr marL="0" indent="0">
              <a:buNone/>
            </a:pPr>
            <a:r>
              <a:rPr lang="en-US" sz="1100">
                <a:solidFill>
                  <a:schemeClr val="tx1"/>
                </a:solidFill>
              </a:rPr>
              <a:t>Gwinnett, GA</a:t>
            </a:r>
            <a:endParaRPr lang="en-US" sz="1100"/>
          </a:p>
        </p:txBody>
      </p:sp>
      <p:sp>
        <p:nvSpPr>
          <p:cNvPr id="59" name="Text 55"/>
          <p:cNvSpPr txBox="1"/>
          <p:nvPr/>
        </p:nvSpPr>
        <p:spPr>
          <a:xfrm>
            <a:off x="9006840" y="5184648"/>
            <a:ext cx="685800" cy="219456"/>
          </a:xfrm>
          <a:prstGeom prst="rect">
            <a:avLst/>
          </a:prstGeom>
          <a:noFill/>
          <a:ln/>
        </p:spPr>
        <p:txBody>
          <a:bodyPr wrap="square" lIns="0" tIns="0" rIns="0" bIns="0" rtlCol="0" anchor="ctr"/>
          <a:lstStyle/>
          <a:p>
            <a:pPr marL="0" indent="0" algn="r">
              <a:buNone/>
            </a:pPr>
            <a:r>
              <a:rPr lang="en-US" sz="1100">
                <a:solidFill>
                  <a:schemeClr val="tx1"/>
                </a:solidFill>
              </a:rPr>
              <a:t>1.02M</a:t>
            </a:r>
            <a:endParaRPr lang="en-US" sz="1100"/>
          </a:p>
        </p:txBody>
      </p:sp>
      <p:sp>
        <p:nvSpPr>
          <p:cNvPr id="60" name="Gwinnett, GA growth bar"/>
          <p:cNvSpPr/>
          <p:nvPr/>
        </p:nvSpPr>
        <p:spPr>
          <a:xfrm>
            <a:off x="9875520" y="5221224"/>
            <a:ext cx="384933" cy="155448"/>
          </a:xfrm>
          <a:prstGeom prst="rect">
            <a:avLst/>
          </a:prstGeom>
          <a:solidFill>
            <a:schemeClr val="tx2"/>
          </a:solidFill>
          <a:ln w="12700">
            <a:solidFill>
              <a:schemeClr val="tx2"/>
            </a:solidFill>
            <a:prstDash val="solid"/>
          </a:ln>
        </p:spPr>
        <p:txBody>
          <a:bodyPr/>
          <a:lstStyle/>
          <a:p>
            <a:endParaRPr lang="en-US"/>
          </a:p>
        </p:txBody>
      </p:sp>
      <p:sp>
        <p:nvSpPr>
          <p:cNvPr id="61" name="Text 57"/>
          <p:cNvSpPr txBox="1"/>
          <p:nvPr/>
        </p:nvSpPr>
        <p:spPr>
          <a:xfrm>
            <a:off x="10315317" y="5184648"/>
            <a:ext cx="548640" cy="219456"/>
          </a:xfrm>
          <a:prstGeom prst="rect">
            <a:avLst/>
          </a:prstGeom>
          <a:noFill/>
          <a:ln/>
        </p:spPr>
        <p:txBody>
          <a:bodyPr wrap="square" lIns="0" tIns="0" rIns="0" bIns="0" rtlCol="0" anchor="ctr"/>
          <a:lstStyle/>
          <a:p>
            <a:pPr marL="0" indent="0">
              <a:buNone/>
            </a:pPr>
            <a:r>
              <a:rPr lang="en-US" sz="1100" b="1">
                <a:solidFill>
                  <a:schemeClr val="tx2"/>
                </a:solidFill>
              </a:rPr>
              <a:t>6.3%</a:t>
            </a:r>
            <a:endParaRPr lang="en-US" sz="1100"/>
          </a:p>
        </p:txBody>
      </p:sp>
      <p:sp>
        <p:nvSpPr>
          <p:cNvPr id="62"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U.S. Census Bureau QuickFacts, July 1, 2025 estimates (team research by Ashley Ju). </a:t>
            </a:r>
            <a:r>
              <a:rPr lang="en-US" sz="1000" u="sng">
                <a:solidFill>
                  <a:schemeClr val="accent2"/>
                </a:solidFill>
                <a:hlinkClick r:id="rId5"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63"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3</a:t>
            </a:fld>
            <a:endParaRPr lang="en-US"/>
          </a:p>
        </p:txBody>
      </p:sp>
      <p:pic>
        <p:nvPicPr>
          <p:cNvPr id="64" name="Picture 63">
            <a:extLst>
              <a:ext uri="{FF2B5EF4-FFF2-40B4-BE49-F238E27FC236}">
                <a16:creationId xmlns:a16="http://schemas.microsoft.com/office/drawing/2014/main" id="{BE531872-85E6-E6AC-9F33-67704C59F773}"/>
              </a:ext>
            </a:extLst>
          </p:cNvPr>
          <p:cNvPicPr>
            <a:picLocks noChangeAspect="1"/>
          </p:cNvPicPr>
          <p:nvPr/>
        </p:nvPicPr>
        <p:blipFill>
          <a:blip r:embed="rId6"/>
          <a:stretch>
            <a:fillRect/>
          </a:stretch>
        </p:blipFill>
        <p:spPr>
          <a:xfrm>
            <a:off x="10702633" y="48335"/>
            <a:ext cx="1176475" cy="920929"/>
          </a:xfrm>
          <a:prstGeom prst="rect">
            <a:avLst/>
          </a:prstGeom>
        </p:spPr>
      </p:pic>
      <p:pic>
        <p:nvPicPr>
          <p:cNvPr id="65" name="Picture 64">
            <a:extLst>
              <a:ext uri="{FF2B5EF4-FFF2-40B4-BE49-F238E27FC236}">
                <a16:creationId xmlns:a16="http://schemas.microsoft.com/office/drawing/2014/main" id="{DC39A5C6-EB4D-C863-DB6B-86346EEC5713}"/>
              </a:ext>
            </a:extLst>
          </p:cNvPr>
          <p:cNvPicPr>
            <a:picLocks noChangeAspect="1"/>
          </p:cNvPicPr>
          <p:nvPr/>
        </p:nvPicPr>
        <p:blipFill>
          <a:blip r:embed="rId7"/>
          <a:stretch>
            <a:fillRect/>
          </a:stretch>
        </p:blipFill>
        <p:spPr>
          <a:xfrm>
            <a:off x="1261872" y="6149993"/>
            <a:ext cx="534000" cy="61938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59" y="256032"/>
            <a:ext cx="10336873" cy="713232"/>
          </a:xfrm>
          <a:prstGeom prst="rect">
            <a:avLst/>
          </a:prstGeom>
          <a:noFill/>
          <a:ln/>
        </p:spPr>
        <p:txBody>
          <a:bodyPr wrap="square" lIns="0" tIns="0" rIns="0" bIns="0" rtlCol="0" anchor="b"/>
          <a:lstStyle/>
          <a:p>
            <a:pPr marL="0" indent="0" algn="l">
              <a:buNone/>
            </a:pPr>
            <a:r>
              <a:rPr lang="en-US" sz="2400" b="1">
                <a:solidFill>
                  <a:schemeClr val="tx1"/>
                </a:solidFill>
                <a:latin typeface="Montserrat" pitchFamily="34" charset="0"/>
                <a:ea typeface="Montserrat" pitchFamily="34" charset="-122"/>
                <a:cs typeface="Montserrat" pitchFamily="34" charset="-120"/>
              </a:rPr>
              <a:t>Mecklenburg and Gwinnett Run the Most Standardized Toolkits</a:t>
            </a:r>
            <a:endParaRPr lang="en-US" sz="2400"/>
          </a:p>
        </p:txBody>
      </p:sp>
      <p:sp>
        <p:nvSpPr>
          <p:cNvPr id="3" name="Text 1"/>
          <p:cNvSpPr/>
          <p:nvPr/>
        </p:nvSpPr>
        <p:spPr>
          <a:xfrm>
            <a:off x="1856232" y="1188720"/>
            <a:ext cx="1609344" cy="384048"/>
          </a:xfrm>
          <a:prstGeom prst="rect">
            <a:avLst/>
          </a:prstGeom>
          <a:solidFill>
            <a:schemeClr val="accent1"/>
          </a:solidFill>
          <a:ln/>
        </p:spPr>
        <p:txBody>
          <a:bodyPr wrap="square" lIns="0" tIns="0" rIns="0" bIns="0" rtlCol="0" anchor="ctr"/>
          <a:lstStyle/>
          <a:p>
            <a:pPr marL="0" indent="0" algn="ctr">
              <a:buNone/>
            </a:pPr>
            <a:r>
              <a:rPr lang="en-US" sz="1300" b="1">
                <a:solidFill>
                  <a:schemeClr val="bg1"/>
                </a:solidFill>
                <a:latin typeface="Montserrat" pitchFamily="34" charset="0"/>
                <a:ea typeface="Montserrat" pitchFamily="34" charset="-122"/>
                <a:cs typeface="Montserrat" pitchFamily="34" charset="-120"/>
              </a:rPr>
              <a:t>Wake</a:t>
            </a:r>
            <a:endParaRPr lang="en-US" sz="1300"/>
          </a:p>
        </p:txBody>
      </p:sp>
      <p:sp>
        <p:nvSpPr>
          <p:cNvPr id="4" name="Text 2"/>
          <p:cNvSpPr/>
          <p:nvPr/>
        </p:nvSpPr>
        <p:spPr>
          <a:xfrm>
            <a:off x="3520440" y="1188720"/>
            <a:ext cx="1609344" cy="384048"/>
          </a:xfrm>
          <a:prstGeom prst="rect">
            <a:avLst/>
          </a:prstGeom>
          <a:solidFill>
            <a:schemeClr val="tx2"/>
          </a:solidFill>
          <a:ln/>
        </p:spPr>
        <p:txBody>
          <a:bodyPr wrap="square" lIns="0" tIns="0" rIns="0" bIns="0" rtlCol="0" anchor="ctr"/>
          <a:lstStyle/>
          <a:p>
            <a:pPr marL="0" indent="0" algn="ctr">
              <a:buNone/>
            </a:pPr>
            <a:r>
              <a:rPr lang="en-US" sz="1300" b="1">
                <a:solidFill>
                  <a:schemeClr val="bg1"/>
                </a:solidFill>
                <a:latin typeface="Montserrat" pitchFamily="34" charset="0"/>
                <a:ea typeface="Montserrat" pitchFamily="34" charset="-122"/>
                <a:cs typeface="Montserrat" pitchFamily="34" charset="-120"/>
              </a:rPr>
              <a:t>Mecklenburg</a:t>
            </a:r>
            <a:endParaRPr lang="en-US" sz="1300"/>
          </a:p>
        </p:txBody>
      </p:sp>
      <p:sp>
        <p:nvSpPr>
          <p:cNvPr id="5" name="Text 3"/>
          <p:cNvSpPr/>
          <p:nvPr/>
        </p:nvSpPr>
        <p:spPr>
          <a:xfrm>
            <a:off x="5184648" y="1188720"/>
            <a:ext cx="1609344" cy="384048"/>
          </a:xfrm>
          <a:prstGeom prst="rect">
            <a:avLst/>
          </a:prstGeom>
          <a:solidFill>
            <a:schemeClr val="tx2"/>
          </a:solidFill>
          <a:ln/>
        </p:spPr>
        <p:txBody>
          <a:bodyPr wrap="square" lIns="0" tIns="0" rIns="0" bIns="0" rtlCol="0" anchor="ctr"/>
          <a:lstStyle/>
          <a:p>
            <a:pPr marL="0" indent="0" algn="ctr">
              <a:buNone/>
            </a:pPr>
            <a:r>
              <a:rPr lang="en-US" sz="1300" b="1">
                <a:solidFill>
                  <a:schemeClr val="bg1"/>
                </a:solidFill>
                <a:latin typeface="Montserrat" pitchFamily="34" charset="0"/>
                <a:ea typeface="Montserrat" pitchFamily="34" charset="-122"/>
                <a:cs typeface="Montserrat" pitchFamily="34" charset="-120"/>
              </a:rPr>
              <a:t>Travis</a:t>
            </a:r>
            <a:endParaRPr lang="en-US" sz="1300"/>
          </a:p>
        </p:txBody>
      </p:sp>
      <p:sp>
        <p:nvSpPr>
          <p:cNvPr id="6" name="Text 4"/>
          <p:cNvSpPr/>
          <p:nvPr/>
        </p:nvSpPr>
        <p:spPr>
          <a:xfrm>
            <a:off x="6848856" y="1188720"/>
            <a:ext cx="1609344" cy="384048"/>
          </a:xfrm>
          <a:prstGeom prst="rect">
            <a:avLst/>
          </a:prstGeom>
          <a:solidFill>
            <a:schemeClr val="tx2"/>
          </a:solidFill>
          <a:ln/>
        </p:spPr>
        <p:txBody>
          <a:bodyPr wrap="square" lIns="0" tIns="0" rIns="0" bIns="0" rtlCol="0" anchor="ctr"/>
          <a:lstStyle/>
          <a:p>
            <a:pPr marL="0" indent="0" algn="ctr">
              <a:buNone/>
            </a:pPr>
            <a:r>
              <a:rPr lang="en-US" sz="1300" b="1">
                <a:solidFill>
                  <a:schemeClr val="bg1"/>
                </a:solidFill>
                <a:latin typeface="Montserrat" pitchFamily="34" charset="0"/>
                <a:ea typeface="Montserrat" pitchFamily="34" charset="-122"/>
                <a:cs typeface="Montserrat" pitchFamily="34" charset="-120"/>
              </a:rPr>
              <a:t>Hillsborough</a:t>
            </a:r>
            <a:endParaRPr lang="en-US" sz="1300"/>
          </a:p>
        </p:txBody>
      </p:sp>
      <p:sp>
        <p:nvSpPr>
          <p:cNvPr id="7" name="Text 5"/>
          <p:cNvSpPr/>
          <p:nvPr/>
        </p:nvSpPr>
        <p:spPr>
          <a:xfrm>
            <a:off x="8513064" y="1188720"/>
            <a:ext cx="1609344" cy="384048"/>
          </a:xfrm>
          <a:prstGeom prst="rect">
            <a:avLst/>
          </a:prstGeom>
          <a:solidFill>
            <a:schemeClr val="tx2"/>
          </a:solidFill>
          <a:ln/>
        </p:spPr>
        <p:txBody>
          <a:bodyPr wrap="square" lIns="0" tIns="0" rIns="0" bIns="0" rtlCol="0" anchor="ctr"/>
          <a:lstStyle/>
          <a:p>
            <a:pPr marL="0" indent="0" algn="ctr">
              <a:buNone/>
            </a:pPr>
            <a:r>
              <a:rPr lang="en-US" sz="1300" b="1">
                <a:solidFill>
                  <a:schemeClr val="bg1"/>
                </a:solidFill>
                <a:latin typeface="Montserrat" pitchFamily="34" charset="0"/>
                <a:ea typeface="Montserrat" pitchFamily="34" charset="-122"/>
                <a:cs typeface="Montserrat" pitchFamily="34" charset="-120"/>
              </a:rPr>
              <a:t>Collin</a:t>
            </a:r>
            <a:endParaRPr lang="en-US" sz="1300"/>
          </a:p>
        </p:txBody>
      </p:sp>
      <p:sp>
        <p:nvSpPr>
          <p:cNvPr id="8" name="Text 6"/>
          <p:cNvSpPr/>
          <p:nvPr/>
        </p:nvSpPr>
        <p:spPr>
          <a:xfrm>
            <a:off x="10177272" y="1188720"/>
            <a:ext cx="1609344" cy="384048"/>
          </a:xfrm>
          <a:prstGeom prst="rect">
            <a:avLst/>
          </a:prstGeom>
          <a:solidFill>
            <a:schemeClr val="tx2"/>
          </a:solidFill>
          <a:ln/>
        </p:spPr>
        <p:txBody>
          <a:bodyPr wrap="square" lIns="0" tIns="0" rIns="0" bIns="0" rtlCol="0" anchor="ctr"/>
          <a:lstStyle/>
          <a:p>
            <a:pPr marL="0" indent="0" algn="ctr">
              <a:buNone/>
            </a:pPr>
            <a:r>
              <a:rPr lang="en-US" sz="1300" b="1">
                <a:solidFill>
                  <a:schemeClr val="bg1"/>
                </a:solidFill>
                <a:latin typeface="Montserrat" pitchFamily="34" charset="0"/>
                <a:ea typeface="Montserrat" pitchFamily="34" charset="-122"/>
                <a:cs typeface="Montserrat" pitchFamily="34" charset="-120"/>
              </a:rPr>
              <a:t>Gwinnett</a:t>
            </a:r>
            <a:endParaRPr lang="en-US" sz="1300"/>
          </a:p>
        </p:txBody>
      </p:sp>
      <p:sp>
        <p:nvSpPr>
          <p:cNvPr id="9" name="Text 7"/>
          <p:cNvSpPr txBox="1"/>
          <p:nvPr/>
        </p:nvSpPr>
        <p:spPr>
          <a:xfrm>
            <a:off x="365760" y="1645920"/>
            <a:ext cx="1389888" cy="530352"/>
          </a:xfrm>
          <a:prstGeom prst="rect">
            <a:avLst/>
          </a:prstGeom>
          <a:noFill/>
          <a:ln/>
        </p:spPr>
        <p:txBody>
          <a:bodyPr wrap="square" lIns="0" tIns="0" rIns="0" bIns="0" rtlCol="0" anchor="ctr"/>
          <a:lstStyle/>
          <a:p>
            <a:pPr marL="0" indent="0">
              <a:buNone/>
            </a:pPr>
            <a:r>
              <a:rPr lang="en-US" sz="1200" b="1">
                <a:solidFill>
                  <a:schemeClr val="tx2"/>
                </a:solidFill>
              </a:rPr>
              <a:t>Budget engagement</a:t>
            </a:r>
            <a:endParaRPr lang="en-US" sz="1200"/>
          </a:p>
        </p:txBody>
      </p:sp>
      <p:sp>
        <p:nvSpPr>
          <p:cNvPr id="10" name="Wake Budget engagement"/>
          <p:cNvSpPr/>
          <p:nvPr/>
        </p:nvSpPr>
        <p:spPr>
          <a:xfrm>
            <a:off x="1856232" y="1645920"/>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2 hearings (one evening); 16-day online comment form</a:t>
            </a:r>
            <a:endParaRPr lang="en-US" sz="1050"/>
          </a:p>
        </p:txBody>
      </p:sp>
      <p:sp>
        <p:nvSpPr>
          <p:cNvPr id="11" name="Mecklenburg Budget engagement"/>
          <p:cNvSpPr/>
          <p:nvPr/>
        </p:nvSpPr>
        <p:spPr>
          <a:xfrm>
            <a:off x="3520440" y="1645920"/>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Priority survey and dashboard; 2 hearings</a:t>
            </a:r>
            <a:endParaRPr lang="en-US" sz="1050"/>
          </a:p>
        </p:txBody>
      </p:sp>
      <p:sp>
        <p:nvSpPr>
          <p:cNvPr id="12" name="Travis Budget engagement"/>
          <p:cNvSpPr/>
          <p:nvPr/>
        </p:nvSpPr>
        <p:spPr>
          <a:xfrm>
            <a:off x="5184648" y="1645920"/>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Multilingual community survey; budget comment period</a:t>
            </a:r>
            <a:endParaRPr lang="en-US" sz="1050"/>
          </a:p>
        </p:txBody>
      </p:sp>
      <p:sp>
        <p:nvSpPr>
          <p:cNvPr id="13" name="Hillsborough Budget engagement"/>
          <p:cNvSpPr/>
          <p:nvPr/>
        </p:nvSpPr>
        <p:spPr>
          <a:xfrm>
            <a:off x="6848856" y="1645920"/>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Hybrid hearings held in the evening</a:t>
            </a:r>
            <a:endParaRPr lang="en-US" sz="1050"/>
          </a:p>
        </p:txBody>
      </p:sp>
      <p:sp>
        <p:nvSpPr>
          <p:cNvPr id="14" name="Collin Budget engagement"/>
          <p:cNvSpPr/>
          <p:nvPr/>
        </p:nvSpPr>
        <p:spPr>
          <a:xfrm>
            <a:off x="8513064" y="1645920"/>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Truth-in-Taxation hearings</a:t>
            </a:r>
            <a:endParaRPr lang="en-US" sz="1050"/>
          </a:p>
        </p:txBody>
      </p:sp>
      <p:sp>
        <p:nvSpPr>
          <p:cNvPr id="15" name="Gwinnett Budget engagement"/>
          <p:cNvSpPr/>
          <p:nvPr/>
        </p:nvSpPr>
        <p:spPr>
          <a:xfrm>
            <a:off x="10177272" y="1645920"/>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Citizen budget review teams; online comment</a:t>
            </a:r>
            <a:endParaRPr lang="en-US" sz="1050"/>
          </a:p>
        </p:txBody>
      </p:sp>
      <p:sp>
        <p:nvSpPr>
          <p:cNvPr id="16" name="Text 14"/>
          <p:cNvSpPr txBox="1"/>
          <p:nvPr/>
        </p:nvSpPr>
        <p:spPr>
          <a:xfrm>
            <a:off x="365760" y="2231136"/>
            <a:ext cx="1389888" cy="530352"/>
          </a:xfrm>
          <a:prstGeom prst="rect">
            <a:avLst/>
          </a:prstGeom>
          <a:noFill/>
          <a:ln/>
        </p:spPr>
        <p:txBody>
          <a:bodyPr wrap="square" lIns="0" tIns="0" rIns="0" bIns="0" rtlCol="0" anchor="ctr"/>
          <a:lstStyle/>
          <a:p>
            <a:pPr marL="0" indent="0">
              <a:buNone/>
            </a:pPr>
            <a:r>
              <a:rPr lang="en-US" sz="1200" b="1">
                <a:solidFill>
                  <a:schemeClr val="tx2"/>
                </a:solidFill>
              </a:rPr>
              <a:t>Digital platform</a:t>
            </a:r>
            <a:endParaRPr lang="en-US" sz="1200"/>
          </a:p>
        </p:txBody>
      </p:sp>
      <p:sp>
        <p:nvSpPr>
          <p:cNvPr id="17" name="Wake Digital platform"/>
          <p:cNvSpPr/>
          <p:nvPr/>
        </p:nvSpPr>
        <p:spPr>
          <a:xfrm>
            <a:off x="1856232" y="2231136"/>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Separate pages by project (PLANWake, parks plan)</a:t>
            </a:r>
            <a:endParaRPr lang="en-US" sz="1050"/>
          </a:p>
        </p:txBody>
      </p:sp>
      <p:sp>
        <p:nvSpPr>
          <p:cNvPr id="18" name="Mecklenburg Digital platform"/>
          <p:cNvSpPr/>
          <p:nvPr/>
        </p:nvSpPr>
        <p:spPr>
          <a:xfrm>
            <a:off x="3520440" y="2231136"/>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Engage Mecklenburg portal</a:t>
            </a:r>
            <a:endParaRPr lang="en-US" sz="1050"/>
          </a:p>
        </p:txBody>
      </p:sp>
      <p:sp>
        <p:nvSpPr>
          <p:cNvPr id="19" name="Travis Digital platform"/>
          <p:cNvSpPr/>
          <p:nvPr/>
        </p:nvSpPr>
        <p:spPr>
          <a:xfrm>
            <a:off x="5184648" y="2231136"/>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Project sites, such as parks</a:t>
            </a:r>
            <a:endParaRPr lang="en-US" sz="1050"/>
          </a:p>
        </p:txBody>
      </p:sp>
      <p:sp>
        <p:nvSpPr>
          <p:cNvPr id="20" name="Hillsborough Digital platform"/>
          <p:cNvSpPr/>
          <p:nvPr/>
        </p:nvSpPr>
        <p:spPr>
          <a:xfrm>
            <a:off x="6848856" y="2231136"/>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HC Engage hub</a:t>
            </a:r>
            <a:endParaRPr lang="en-US" sz="1050"/>
          </a:p>
        </p:txBody>
      </p:sp>
      <p:sp>
        <p:nvSpPr>
          <p:cNvPr id="21" name="Collin Digital platform"/>
          <p:cNvSpPr/>
          <p:nvPr/>
        </p:nvSpPr>
        <p:spPr>
          <a:xfrm>
            <a:off x="8513064" y="2231136"/>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Project sites for thoroughfare and freeway plans</a:t>
            </a:r>
            <a:endParaRPr lang="en-US" sz="1050"/>
          </a:p>
        </p:txBody>
      </p:sp>
      <p:sp>
        <p:nvSpPr>
          <p:cNvPr id="22" name="Gwinnett Digital platform"/>
          <p:cNvSpPr/>
          <p:nvPr/>
        </p:nvSpPr>
        <p:spPr>
          <a:xfrm>
            <a:off x="10177272" y="2231136"/>
            <a:ext cx="1609344" cy="530352"/>
          </a:xfrm>
          <a:prstGeom prst="rect">
            <a:avLst/>
          </a:prstGeom>
          <a:solidFill>
            <a:schemeClr val="bg1"/>
          </a:solidFill>
          <a:ln w="9525">
            <a:solidFill>
              <a:schemeClr val="accent6">
                <a:alpha val="45000"/>
              </a:schemeClr>
            </a:solidFill>
          </a:ln>
        </p:spPr>
        <p:txBody>
          <a:bodyPr wrap="square" lIns="25400" tIns="25400" rIns="25400" bIns="25400" rtlCol="0" anchor="ctr"/>
          <a:lstStyle/>
          <a:p>
            <a:pPr marL="0" indent="0" algn="ctr">
              <a:buNone/>
            </a:pPr>
            <a:r>
              <a:rPr lang="en-US" sz="1050" i="1">
                <a:solidFill>
                  <a:schemeClr val="accent6"/>
                </a:solidFill>
              </a:rPr>
              <a:t>None found</a:t>
            </a:r>
            <a:endParaRPr lang="en-US" sz="1050"/>
          </a:p>
        </p:txBody>
      </p:sp>
      <p:sp>
        <p:nvSpPr>
          <p:cNvPr id="23" name="Text 21"/>
          <p:cNvSpPr txBox="1"/>
          <p:nvPr/>
        </p:nvSpPr>
        <p:spPr>
          <a:xfrm>
            <a:off x="365760" y="2816352"/>
            <a:ext cx="1389888" cy="530352"/>
          </a:xfrm>
          <a:prstGeom prst="rect">
            <a:avLst/>
          </a:prstGeom>
          <a:noFill/>
          <a:ln/>
        </p:spPr>
        <p:txBody>
          <a:bodyPr wrap="square" lIns="0" tIns="0" rIns="0" bIns="0" rtlCol="0" anchor="ctr"/>
          <a:lstStyle/>
          <a:p>
            <a:pPr marL="0" indent="0">
              <a:buNone/>
            </a:pPr>
            <a:r>
              <a:rPr lang="en-US" sz="1200" b="1">
                <a:solidFill>
                  <a:schemeClr val="tx2"/>
                </a:solidFill>
              </a:rPr>
              <a:t>Advisory boards</a:t>
            </a:r>
            <a:endParaRPr lang="en-US" sz="1200"/>
          </a:p>
        </p:txBody>
      </p:sp>
      <p:sp>
        <p:nvSpPr>
          <p:cNvPr id="24" name="Wake Advisory boards"/>
          <p:cNvSpPr/>
          <p:nvPr/>
        </p:nvSpPr>
        <p:spPr>
          <a:xfrm>
            <a:off x="1856232" y="2816352"/>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Appointed boards; monthly appointments; district seats</a:t>
            </a:r>
            <a:endParaRPr lang="en-US" sz="1050"/>
          </a:p>
        </p:txBody>
      </p:sp>
      <p:sp>
        <p:nvSpPr>
          <p:cNvPr id="25" name="Mecklenburg Advisory boards"/>
          <p:cNvSpPr/>
          <p:nvPr/>
        </p:nvSpPr>
        <p:spPr>
          <a:xfrm>
            <a:off x="3520440" y="2816352"/>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45 boards, including a budget committee</a:t>
            </a:r>
            <a:endParaRPr lang="en-US" sz="1050"/>
          </a:p>
        </p:txBody>
      </p:sp>
      <p:sp>
        <p:nvSpPr>
          <p:cNvPr id="26" name="Travis Advisory boards"/>
          <p:cNvSpPr/>
          <p:nvPr/>
        </p:nvSpPr>
        <p:spPr>
          <a:xfrm>
            <a:off x="5184648" y="2816352"/>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Uniform appointment process</a:t>
            </a:r>
            <a:endParaRPr lang="en-US" sz="1050"/>
          </a:p>
        </p:txBody>
      </p:sp>
      <p:sp>
        <p:nvSpPr>
          <p:cNvPr id="27" name="Hillsborough Advisory boards"/>
          <p:cNvSpPr/>
          <p:nvPr/>
        </p:nvSpPr>
        <p:spPr>
          <a:xfrm>
            <a:off x="6848856" y="2816352"/>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Diversity Advisory Council with reserved seats</a:t>
            </a:r>
            <a:endParaRPr lang="en-US" sz="1050"/>
          </a:p>
        </p:txBody>
      </p:sp>
      <p:sp>
        <p:nvSpPr>
          <p:cNvPr id="28" name="Collin Advisory boards"/>
          <p:cNvSpPr/>
          <p:nvPr/>
        </p:nvSpPr>
        <p:spPr>
          <a:xfrm>
            <a:off x="8513064" y="2816352"/>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Appointed boards</a:t>
            </a:r>
            <a:endParaRPr lang="en-US" sz="1050"/>
          </a:p>
        </p:txBody>
      </p:sp>
      <p:sp>
        <p:nvSpPr>
          <p:cNvPr id="29" name="Gwinnett Advisory boards"/>
          <p:cNvSpPr/>
          <p:nvPr/>
        </p:nvSpPr>
        <p:spPr>
          <a:xfrm>
            <a:off x="10177272" y="2816352"/>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Youth Commission; Outreach Advisory Board</a:t>
            </a:r>
            <a:endParaRPr lang="en-US" sz="1050"/>
          </a:p>
        </p:txBody>
      </p:sp>
      <p:sp>
        <p:nvSpPr>
          <p:cNvPr id="30" name="Text 28"/>
          <p:cNvSpPr txBox="1"/>
          <p:nvPr/>
        </p:nvSpPr>
        <p:spPr>
          <a:xfrm>
            <a:off x="365760" y="3401568"/>
            <a:ext cx="1389888" cy="530352"/>
          </a:xfrm>
          <a:prstGeom prst="rect">
            <a:avLst/>
          </a:prstGeom>
          <a:noFill/>
          <a:ln/>
        </p:spPr>
        <p:txBody>
          <a:bodyPr wrap="square" lIns="0" tIns="0" rIns="0" bIns="0" rtlCol="0" anchor="ctr"/>
          <a:lstStyle/>
          <a:p>
            <a:pPr marL="0" indent="0">
              <a:buNone/>
            </a:pPr>
            <a:r>
              <a:rPr lang="en-US" sz="1200" b="1">
                <a:solidFill>
                  <a:schemeClr val="tx2"/>
                </a:solidFill>
              </a:rPr>
              <a:t>Language access</a:t>
            </a:r>
            <a:endParaRPr lang="en-US" sz="1200"/>
          </a:p>
        </p:txBody>
      </p:sp>
      <p:sp>
        <p:nvSpPr>
          <p:cNvPr id="31" name="Wake Language access"/>
          <p:cNvSpPr/>
          <p:nvPr/>
        </p:nvSpPr>
        <p:spPr>
          <a:xfrm>
            <a:off x="1856232" y="3401568"/>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Board materials in 5 languages + ASL on request; phone interpreting</a:t>
            </a:r>
            <a:endParaRPr lang="en-US" sz="1050"/>
          </a:p>
        </p:txBody>
      </p:sp>
      <p:sp>
        <p:nvSpPr>
          <p:cNvPr id="32" name="Mecklenburg Language access"/>
          <p:cNvSpPr/>
          <p:nvPr/>
        </p:nvSpPr>
        <p:spPr>
          <a:xfrm>
            <a:off x="3520440" y="3401568"/>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Bilingual broadcasts; transcripts in 60+ languages</a:t>
            </a:r>
            <a:endParaRPr lang="en-US" sz="1050"/>
          </a:p>
        </p:txBody>
      </p:sp>
      <p:sp>
        <p:nvSpPr>
          <p:cNvPr id="33" name="Travis Language access"/>
          <p:cNvSpPr/>
          <p:nvPr/>
        </p:nvSpPr>
        <p:spPr>
          <a:xfrm>
            <a:off x="5184648" y="3401568"/>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Countywide Language Access Plan</a:t>
            </a:r>
            <a:endParaRPr lang="en-US" sz="1050"/>
          </a:p>
        </p:txBody>
      </p:sp>
      <p:sp>
        <p:nvSpPr>
          <p:cNvPr id="34" name="Hillsborough Language access"/>
          <p:cNvSpPr/>
          <p:nvPr/>
        </p:nvSpPr>
        <p:spPr>
          <a:xfrm>
            <a:off x="6848856" y="3401568"/>
            <a:ext cx="1609344" cy="530352"/>
          </a:xfrm>
          <a:prstGeom prst="rect">
            <a:avLst/>
          </a:prstGeom>
          <a:solidFill>
            <a:schemeClr val="bg1"/>
          </a:solidFill>
          <a:ln w="9525">
            <a:solidFill>
              <a:schemeClr val="accent6">
                <a:alpha val="45000"/>
              </a:schemeClr>
            </a:solidFill>
          </a:ln>
        </p:spPr>
        <p:txBody>
          <a:bodyPr wrap="square" lIns="25400" tIns="25400" rIns="25400" bIns="25400" rtlCol="0" anchor="ctr"/>
          <a:lstStyle/>
          <a:p>
            <a:pPr marL="0" indent="0" algn="ctr">
              <a:buNone/>
            </a:pPr>
            <a:r>
              <a:rPr lang="en-US" sz="1050" i="1">
                <a:solidFill>
                  <a:schemeClr val="accent6"/>
                </a:solidFill>
              </a:rPr>
              <a:t>None found</a:t>
            </a:r>
            <a:endParaRPr lang="en-US" sz="1050"/>
          </a:p>
        </p:txBody>
      </p:sp>
      <p:sp>
        <p:nvSpPr>
          <p:cNvPr id="35" name="Collin Language access"/>
          <p:cNvSpPr/>
          <p:nvPr/>
        </p:nvSpPr>
        <p:spPr>
          <a:xfrm>
            <a:off x="8513064" y="3401568"/>
            <a:ext cx="1609344" cy="530352"/>
          </a:xfrm>
          <a:prstGeom prst="rect">
            <a:avLst/>
          </a:prstGeom>
          <a:solidFill>
            <a:schemeClr val="bg1"/>
          </a:solidFill>
          <a:ln w="9525">
            <a:solidFill>
              <a:schemeClr val="accent6">
                <a:alpha val="45000"/>
              </a:schemeClr>
            </a:solidFill>
          </a:ln>
        </p:spPr>
        <p:txBody>
          <a:bodyPr wrap="square" lIns="25400" tIns="25400" rIns="25400" bIns="25400" rtlCol="0" anchor="ctr"/>
          <a:lstStyle/>
          <a:p>
            <a:pPr marL="0" indent="0" algn="ctr">
              <a:buNone/>
            </a:pPr>
            <a:r>
              <a:rPr lang="en-US" sz="1050" i="1">
                <a:solidFill>
                  <a:schemeClr val="accent6"/>
                </a:solidFill>
              </a:rPr>
              <a:t>None found</a:t>
            </a:r>
            <a:endParaRPr lang="en-US" sz="1050"/>
          </a:p>
        </p:txBody>
      </p:sp>
      <p:sp>
        <p:nvSpPr>
          <p:cNvPr id="36" name="Gwinnett Language access"/>
          <p:cNvSpPr/>
          <p:nvPr/>
        </p:nvSpPr>
        <p:spPr>
          <a:xfrm>
            <a:off x="10177272" y="3401568"/>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Resident language collaboration group</a:t>
            </a:r>
            <a:endParaRPr lang="en-US" sz="1050"/>
          </a:p>
        </p:txBody>
      </p:sp>
      <p:sp>
        <p:nvSpPr>
          <p:cNvPr id="37" name="Text 35"/>
          <p:cNvSpPr txBox="1"/>
          <p:nvPr/>
        </p:nvSpPr>
        <p:spPr>
          <a:xfrm>
            <a:off x="365760" y="3986784"/>
            <a:ext cx="1389888" cy="530352"/>
          </a:xfrm>
          <a:prstGeom prst="rect">
            <a:avLst/>
          </a:prstGeom>
          <a:noFill/>
          <a:ln/>
        </p:spPr>
        <p:txBody>
          <a:bodyPr wrap="square" lIns="0" tIns="0" rIns="0" bIns="0" rtlCol="0" anchor="ctr"/>
          <a:lstStyle/>
          <a:p>
            <a:pPr marL="0" indent="0">
              <a:buNone/>
            </a:pPr>
            <a:r>
              <a:rPr lang="en-US" sz="1200" b="1">
                <a:solidFill>
                  <a:schemeClr val="tx2"/>
                </a:solidFill>
              </a:rPr>
              <a:t>Access points and outreach</a:t>
            </a:r>
            <a:endParaRPr lang="en-US" sz="1200"/>
          </a:p>
        </p:txBody>
      </p:sp>
      <p:sp>
        <p:nvSpPr>
          <p:cNvPr id="38" name="Wake Access points and outreach"/>
          <p:cNvSpPr/>
          <p:nvPr/>
        </p:nvSpPr>
        <p:spPr>
          <a:xfrm>
            <a:off x="1856232" y="3986784"/>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Mobile outreach run by single departments</a:t>
            </a:r>
            <a:endParaRPr lang="en-US" sz="1050"/>
          </a:p>
        </p:txBody>
      </p:sp>
      <p:sp>
        <p:nvSpPr>
          <p:cNvPr id="39" name="Mecklenburg Access points and outreach"/>
          <p:cNvSpPr/>
          <p:nvPr/>
        </p:nvSpPr>
        <p:spPr>
          <a:xfrm>
            <a:off x="3520440" y="3986784"/>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Community resource centers; hybrid district meetings</a:t>
            </a:r>
            <a:endParaRPr lang="en-US" sz="1050"/>
          </a:p>
        </p:txBody>
      </p:sp>
      <p:sp>
        <p:nvSpPr>
          <p:cNvPr id="40" name="Travis Access points and outreach"/>
          <p:cNvSpPr/>
          <p:nvPr/>
        </p:nvSpPr>
        <p:spPr>
          <a:xfrm>
            <a:off x="5184648" y="3986784"/>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Remote phone testimony; 7 community centers</a:t>
            </a:r>
            <a:endParaRPr lang="en-US" sz="1050"/>
          </a:p>
        </p:txBody>
      </p:sp>
      <p:sp>
        <p:nvSpPr>
          <p:cNvPr id="41" name="Hillsborough Access points and outreach"/>
          <p:cNvSpPr/>
          <p:nvPr/>
        </p:nvSpPr>
        <p:spPr>
          <a:xfrm>
            <a:off x="6848856" y="3986784"/>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Neighborhood relations office</a:t>
            </a:r>
            <a:endParaRPr lang="en-US" sz="1050"/>
          </a:p>
        </p:txBody>
      </p:sp>
      <p:sp>
        <p:nvSpPr>
          <p:cNvPr id="42" name="Collin Access points and outreach"/>
          <p:cNvSpPr/>
          <p:nvPr/>
        </p:nvSpPr>
        <p:spPr>
          <a:xfrm>
            <a:off x="8513064" y="3986784"/>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Open houses in growth towns</a:t>
            </a:r>
            <a:endParaRPr lang="en-US" sz="1050"/>
          </a:p>
        </p:txBody>
      </p:sp>
      <p:sp>
        <p:nvSpPr>
          <p:cNvPr id="43" name="Gwinnett Access points and outreach"/>
          <p:cNvSpPr/>
          <p:nvPr/>
        </p:nvSpPr>
        <p:spPr>
          <a:xfrm>
            <a:off x="10177272" y="3986784"/>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Gwinnett 101; mobile recreation unit</a:t>
            </a:r>
            <a:endParaRPr lang="en-US" sz="1050"/>
          </a:p>
        </p:txBody>
      </p:sp>
      <p:sp>
        <p:nvSpPr>
          <p:cNvPr id="44" name="Text 42"/>
          <p:cNvSpPr txBox="1"/>
          <p:nvPr/>
        </p:nvSpPr>
        <p:spPr>
          <a:xfrm>
            <a:off x="365760" y="4572000"/>
            <a:ext cx="1389888" cy="530352"/>
          </a:xfrm>
          <a:prstGeom prst="rect">
            <a:avLst/>
          </a:prstGeom>
          <a:noFill/>
          <a:ln/>
        </p:spPr>
        <p:txBody>
          <a:bodyPr wrap="square" lIns="0" tIns="0" rIns="0" bIns="0" rtlCol="0" anchor="ctr"/>
          <a:lstStyle/>
          <a:p>
            <a:pPr marL="0" indent="0">
              <a:buNone/>
            </a:pPr>
            <a:r>
              <a:rPr lang="en-US" sz="1200" b="1">
                <a:solidFill>
                  <a:schemeClr val="tx2"/>
                </a:solidFill>
              </a:rPr>
              <a:t>Equity or engagement office</a:t>
            </a:r>
            <a:endParaRPr lang="en-US" sz="1200"/>
          </a:p>
        </p:txBody>
      </p:sp>
      <p:sp>
        <p:nvSpPr>
          <p:cNvPr id="45" name="Wake Equity or engagement office"/>
          <p:cNvSpPr/>
          <p:nvPr/>
        </p:nvSpPr>
        <p:spPr>
          <a:xfrm>
            <a:off x="1856232" y="4572000"/>
            <a:ext cx="1609344" cy="530352"/>
          </a:xfrm>
          <a:prstGeom prst="rect">
            <a:avLst/>
          </a:prstGeom>
          <a:solidFill>
            <a:schemeClr val="accent5"/>
          </a:solidFill>
          <a:ln>
            <a:solidFill>
              <a:schemeClr val="accent5"/>
            </a:solidFill>
          </a:ln>
        </p:spPr>
        <p:txBody>
          <a:bodyPr wrap="square" lIns="25400" tIns="25400" rIns="25400" bIns="25400" rtlCol="0" anchor="ctr"/>
          <a:lstStyle/>
          <a:p>
            <a:pPr marL="0" indent="0" algn="ctr">
              <a:buNone/>
            </a:pPr>
            <a:r>
              <a:rPr lang="en-US" sz="1050">
                <a:solidFill>
                  <a:schemeClr val="tx1"/>
                </a:solidFill>
              </a:rPr>
              <a:t>Equity office exists; engagement run by departments</a:t>
            </a:r>
            <a:endParaRPr lang="en-US" sz="1050"/>
          </a:p>
        </p:txBody>
      </p:sp>
      <p:sp>
        <p:nvSpPr>
          <p:cNvPr id="46" name="Mecklenburg Equity or engagement office"/>
          <p:cNvSpPr/>
          <p:nvPr/>
        </p:nvSpPr>
        <p:spPr>
          <a:xfrm>
            <a:off x="3520440" y="4572000"/>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Office of Equity and Inclusion; Equity Action Plan</a:t>
            </a:r>
            <a:endParaRPr lang="en-US" sz="1050"/>
          </a:p>
        </p:txBody>
      </p:sp>
      <p:sp>
        <p:nvSpPr>
          <p:cNvPr id="47" name="Travis Equity or engagement office"/>
          <p:cNvSpPr/>
          <p:nvPr/>
        </p:nvSpPr>
        <p:spPr>
          <a:xfrm>
            <a:off x="5184648" y="4572000"/>
            <a:ext cx="1609344" cy="530352"/>
          </a:xfrm>
          <a:prstGeom prst="rect">
            <a:avLst/>
          </a:prstGeom>
          <a:solidFill>
            <a:schemeClr val="bg1"/>
          </a:solidFill>
          <a:ln w="9525">
            <a:solidFill>
              <a:schemeClr val="accent6">
                <a:alpha val="45000"/>
              </a:schemeClr>
            </a:solidFill>
          </a:ln>
        </p:spPr>
        <p:txBody>
          <a:bodyPr wrap="square" lIns="25400" tIns="25400" rIns="25400" bIns="25400" rtlCol="0" anchor="ctr"/>
          <a:lstStyle/>
          <a:p>
            <a:pPr marL="0" indent="0" algn="ctr">
              <a:buNone/>
            </a:pPr>
            <a:r>
              <a:rPr lang="en-US" sz="1050" i="1">
                <a:solidFill>
                  <a:schemeClr val="accent6"/>
                </a:solidFill>
              </a:rPr>
              <a:t>None found</a:t>
            </a:r>
            <a:endParaRPr lang="en-US" sz="1050"/>
          </a:p>
        </p:txBody>
      </p:sp>
      <p:sp>
        <p:nvSpPr>
          <p:cNvPr id="48" name="Hillsborough Equity or engagement office"/>
          <p:cNvSpPr/>
          <p:nvPr/>
        </p:nvSpPr>
        <p:spPr>
          <a:xfrm>
            <a:off x="6848856" y="4572000"/>
            <a:ext cx="1609344" cy="530352"/>
          </a:xfrm>
          <a:prstGeom prst="rect">
            <a:avLst/>
          </a:prstGeom>
          <a:solidFill>
            <a:schemeClr val="bg1"/>
          </a:solidFill>
          <a:ln w="9525">
            <a:solidFill>
              <a:schemeClr val="accent6">
                <a:alpha val="45000"/>
              </a:schemeClr>
            </a:solidFill>
          </a:ln>
        </p:spPr>
        <p:txBody>
          <a:bodyPr wrap="square" lIns="25400" tIns="25400" rIns="25400" bIns="25400" rtlCol="0" anchor="ctr"/>
          <a:lstStyle/>
          <a:p>
            <a:pPr marL="0" indent="0" algn="ctr">
              <a:buNone/>
            </a:pPr>
            <a:r>
              <a:rPr lang="en-US" sz="1050" i="1">
                <a:solidFill>
                  <a:schemeClr val="accent6"/>
                </a:solidFill>
              </a:rPr>
              <a:t>None found</a:t>
            </a:r>
            <a:endParaRPr lang="en-US" sz="1050"/>
          </a:p>
        </p:txBody>
      </p:sp>
      <p:sp>
        <p:nvSpPr>
          <p:cNvPr id="49" name="Collin Equity or engagement office"/>
          <p:cNvSpPr/>
          <p:nvPr/>
        </p:nvSpPr>
        <p:spPr>
          <a:xfrm>
            <a:off x="8513064" y="4572000"/>
            <a:ext cx="1609344" cy="530352"/>
          </a:xfrm>
          <a:prstGeom prst="rect">
            <a:avLst/>
          </a:prstGeom>
          <a:solidFill>
            <a:schemeClr val="bg1"/>
          </a:solidFill>
          <a:ln w="9525">
            <a:solidFill>
              <a:schemeClr val="accent6">
                <a:alpha val="45000"/>
              </a:schemeClr>
            </a:solidFill>
          </a:ln>
        </p:spPr>
        <p:txBody>
          <a:bodyPr wrap="square" lIns="25400" tIns="25400" rIns="25400" bIns="25400" rtlCol="0" anchor="ctr"/>
          <a:lstStyle/>
          <a:p>
            <a:pPr marL="0" indent="0" algn="ctr">
              <a:buNone/>
            </a:pPr>
            <a:r>
              <a:rPr lang="en-US" sz="1050" i="1">
                <a:solidFill>
                  <a:schemeClr val="accent6"/>
                </a:solidFill>
              </a:rPr>
              <a:t>None found</a:t>
            </a:r>
            <a:endParaRPr lang="en-US" sz="1050"/>
          </a:p>
        </p:txBody>
      </p:sp>
      <p:sp>
        <p:nvSpPr>
          <p:cNvPr id="50" name="Gwinnett Equity or engagement office"/>
          <p:cNvSpPr/>
          <p:nvPr/>
        </p:nvSpPr>
        <p:spPr>
          <a:xfrm>
            <a:off x="10177272" y="4572000"/>
            <a:ext cx="1609344" cy="530352"/>
          </a:xfrm>
          <a:prstGeom prst="rect">
            <a:avLst/>
          </a:prstGeom>
          <a:solidFill>
            <a:schemeClr val="accent4">
              <a:alpha val="45000"/>
            </a:schemeClr>
          </a:solidFill>
          <a:ln>
            <a:solidFill>
              <a:schemeClr val="accent4">
                <a:alpha val="45000"/>
              </a:schemeClr>
            </a:solidFill>
          </a:ln>
        </p:spPr>
        <p:txBody>
          <a:bodyPr wrap="square" lIns="25400" tIns="25400" rIns="25400" bIns="25400" rtlCol="0" anchor="ctr"/>
          <a:lstStyle/>
          <a:p>
            <a:pPr marL="0" indent="0" algn="ctr">
              <a:buNone/>
            </a:pPr>
            <a:r>
              <a:rPr lang="en-US" sz="1050">
                <a:solidFill>
                  <a:schemeClr val="tx1"/>
                </a:solidFill>
              </a:rPr>
              <a:t>Civic Engagement and Social Impact divisions</a:t>
            </a:r>
            <a:endParaRPr lang="en-US" sz="1050"/>
          </a:p>
        </p:txBody>
      </p:sp>
      <p:sp>
        <p:nvSpPr>
          <p:cNvPr id="51" name="Wake column outline"/>
          <p:cNvSpPr/>
          <p:nvPr/>
        </p:nvSpPr>
        <p:spPr>
          <a:xfrm>
            <a:off x="1828800" y="1161288"/>
            <a:ext cx="1664208" cy="3995928"/>
          </a:xfrm>
          <a:prstGeom prst="rect">
            <a:avLst/>
          </a:prstGeom>
          <a:solidFill>
            <a:schemeClr val="bg1">
              <a:alpha val="0"/>
            </a:schemeClr>
          </a:solidFill>
          <a:ln w="25400">
            <a:solidFill>
              <a:schemeClr val="accent1"/>
            </a:solidFill>
            <a:prstDash val="solid"/>
          </a:ln>
        </p:spPr>
        <p:txBody>
          <a:bodyPr/>
          <a:lstStyle/>
          <a:p>
            <a:endParaRPr lang="en-US"/>
          </a:p>
        </p:txBody>
      </p:sp>
      <p:sp>
        <p:nvSpPr>
          <p:cNvPr id="52" name="Shape 50"/>
          <p:cNvSpPr/>
          <p:nvPr/>
        </p:nvSpPr>
        <p:spPr>
          <a:xfrm>
            <a:off x="1828800" y="5276088"/>
            <a:ext cx="274320" cy="182880"/>
          </a:xfrm>
          <a:prstGeom prst="rect">
            <a:avLst/>
          </a:prstGeom>
          <a:solidFill>
            <a:schemeClr val="accent4">
              <a:alpha val="45000"/>
            </a:schemeClr>
          </a:solidFill>
          <a:ln w="6350">
            <a:solidFill>
              <a:schemeClr val="accent4">
                <a:alpha val="45000"/>
              </a:schemeClr>
            </a:solidFill>
            <a:prstDash val="solid"/>
          </a:ln>
        </p:spPr>
        <p:txBody>
          <a:bodyPr/>
          <a:lstStyle/>
          <a:p>
            <a:endParaRPr lang="en-US"/>
          </a:p>
        </p:txBody>
      </p:sp>
      <p:sp>
        <p:nvSpPr>
          <p:cNvPr id="53" name="Text 51"/>
          <p:cNvSpPr txBox="1"/>
          <p:nvPr/>
        </p:nvSpPr>
        <p:spPr>
          <a:xfrm>
            <a:off x="2194560" y="5239512"/>
            <a:ext cx="2468880" cy="256032"/>
          </a:xfrm>
          <a:prstGeom prst="rect">
            <a:avLst/>
          </a:prstGeom>
          <a:noFill/>
          <a:ln/>
        </p:spPr>
        <p:txBody>
          <a:bodyPr wrap="square" lIns="0" tIns="0" rIns="0" bIns="0" rtlCol="0" anchor="ctr"/>
          <a:lstStyle/>
          <a:p>
            <a:pPr marL="0" indent="0">
              <a:buNone/>
            </a:pPr>
            <a:r>
              <a:rPr lang="en-US" sz="1100">
                <a:solidFill>
                  <a:schemeClr val="tx1"/>
                </a:solidFill>
              </a:rPr>
              <a:t>Countywide, dedicated tool</a:t>
            </a:r>
            <a:endParaRPr lang="en-US" sz="1100"/>
          </a:p>
        </p:txBody>
      </p:sp>
      <p:sp>
        <p:nvSpPr>
          <p:cNvPr id="54" name="Shape 52"/>
          <p:cNvSpPr/>
          <p:nvPr/>
        </p:nvSpPr>
        <p:spPr>
          <a:xfrm>
            <a:off x="4754880" y="5276088"/>
            <a:ext cx="274320" cy="182880"/>
          </a:xfrm>
          <a:prstGeom prst="rect">
            <a:avLst/>
          </a:prstGeom>
          <a:solidFill>
            <a:schemeClr val="accent5"/>
          </a:solidFill>
          <a:ln w="6350">
            <a:solidFill>
              <a:schemeClr val="accent5"/>
            </a:solidFill>
            <a:prstDash val="solid"/>
          </a:ln>
        </p:spPr>
        <p:txBody>
          <a:bodyPr/>
          <a:lstStyle/>
          <a:p>
            <a:endParaRPr lang="en-US"/>
          </a:p>
        </p:txBody>
      </p:sp>
      <p:sp>
        <p:nvSpPr>
          <p:cNvPr id="55" name="Text 53"/>
          <p:cNvSpPr txBox="1"/>
          <p:nvPr/>
        </p:nvSpPr>
        <p:spPr>
          <a:xfrm>
            <a:off x="5120640" y="5239512"/>
            <a:ext cx="2468880" cy="256032"/>
          </a:xfrm>
          <a:prstGeom prst="rect">
            <a:avLst/>
          </a:prstGeom>
          <a:noFill/>
          <a:ln/>
        </p:spPr>
        <p:txBody>
          <a:bodyPr wrap="square" lIns="0" tIns="0" rIns="0" bIns="0" rtlCol="0" anchor="ctr"/>
          <a:lstStyle/>
          <a:p>
            <a:pPr marL="0" indent="0">
              <a:buNone/>
            </a:pPr>
            <a:r>
              <a:rPr lang="en-US" sz="1100">
                <a:solidFill>
                  <a:schemeClr val="tx1"/>
                </a:solidFill>
              </a:rPr>
              <a:t>Limited or project-specific</a:t>
            </a:r>
            <a:endParaRPr lang="en-US" sz="1100"/>
          </a:p>
        </p:txBody>
      </p:sp>
      <p:sp>
        <p:nvSpPr>
          <p:cNvPr id="56" name="Shape 54"/>
          <p:cNvSpPr/>
          <p:nvPr/>
        </p:nvSpPr>
        <p:spPr>
          <a:xfrm>
            <a:off x="7680960" y="5276088"/>
            <a:ext cx="274320" cy="182880"/>
          </a:xfrm>
          <a:prstGeom prst="rect">
            <a:avLst/>
          </a:prstGeom>
          <a:solidFill>
            <a:schemeClr val="bg1"/>
          </a:solidFill>
          <a:ln w="6350">
            <a:solidFill>
              <a:schemeClr val="accent6">
                <a:alpha val="50000"/>
              </a:schemeClr>
            </a:solidFill>
            <a:prstDash val="solid"/>
          </a:ln>
        </p:spPr>
        <p:txBody>
          <a:bodyPr/>
          <a:lstStyle/>
          <a:p>
            <a:endParaRPr lang="en-US"/>
          </a:p>
        </p:txBody>
      </p:sp>
      <p:sp>
        <p:nvSpPr>
          <p:cNvPr id="57" name="Text 55"/>
          <p:cNvSpPr txBox="1"/>
          <p:nvPr/>
        </p:nvSpPr>
        <p:spPr>
          <a:xfrm>
            <a:off x="8046720" y="5239512"/>
            <a:ext cx="2468880" cy="256032"/>
          </a:xfrm>
          <a:prstGeom prst="rect">
            <a:avLst/>
          </a:prstGeom>
          <a:noFill/>
          <a:ln/>
        </p:spPr>
        <p:txBody>
          <a:bodyPr wrap="square" lIns="0" tIns="0" rIns="0" bIns="0" rtlCol="0" anchor="ctr"/>
          <a:lstStyle/>
          <a:p>
            <a:pPr marL="0" indent="0">
              <a:buNone/>
            </a:pPr>
            <a:r>
              <a:rPr lang="en-US" sz="1100">
                <a:solidFill>
                  <a:schemeClr val="tx1"/>
                </a:solidFill>
              </a:rPr>
              <a:t>None found in public materials</a:t>
            </a:r>
            <a:endParaRPr lang="en-US" sz="1100"/>
          </a:p>
        </p:txBody>
      </p:sp>
      <p:sp>
        <p:nvSpPr>
          <p:cNvPr id="58"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County budget, engagement, and board pages (team research by Hailey Gardinier and Andrew Owens); Wake County website. Ratings are a team assessment. </a:t>
            </a:r>
            <a:r>
              <a:rPr lang="en-US" sz="1000" u="sng">
                <a:solidFill>
                  <a:schemeClr val="accent2"/>
                </a:solidFill>
                <a:hlinkClick r:id="rId3"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59"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4</a:t>
            </a:fld>
            <a:endParaRPr lang="en-US"/>
          </a:p>
        </p:txBody>
      </p:sp>
      <p:pic>
        <p:nvPicPr>
          <p:cNvPr id="60" name="Picture 59">
            <a:extLst>
              <a:ext uri="{FF2B5EF4-FFF2-40B4-BE49-F238E27FC236}">
                <a16:creationId xmlns:a16="http://schemas.microsoft.com/office/drawing/2014/main" id="{7A77E0BF-7B51-BAB9-AA86-55822869F096}"/>
              </a:ext>
            </a:extLst>
          </p:cNvPr>
          <p:cNvPicPr>
            <a:picLocks noChangeAspect="1"/>
          </p:cNvPicPr>
          <p:nvPr/>
        </p:nvPicPr>
        <p:blipFill>
          <a:blip r:embed="rId4"/>
          <a:stretch>
            <a:fillRect/>
          </a:stretch>
        </p:blipFill>
        <p:spPr>
          <a:xfrm>
            <a:off x="10702633" y="48335"/>
            <a:ext cx="1176475" cy="920929"/>
          </a:xfrm>
          <a:prstGeom prst="rect">
            <a:avLst/>
          </a:prstGeom>
        </p:spPr>
      </p:pic>
      <p:pic>
        <p:nvPicPr>
          <p:cNvPr id="61" name="Picture 60">
            <a:extLst>
              <a:ext uri="{FF2B5EF4-FFF2-40B4-BE49-F238E27FC236}">
                <a16:creationId xmlns:a16="http://schemas.microsoft.com/office/drawing/2014/main" id="{2007AC51-5E46-85B9-1252-F6C2A7B6E204}"/>
              </a:ext>
            </a:extLst>
          </p:cNvPr>
          <p:cNvPicPr>
            <a:picLocks noChangeAspect="1"/>
          </p:cNvPicPr>
          <p:nvPr/>
        </p:nvPicPr>
        <p:blipFill>
          <a:blip r:embed="rId5"/>
          <a:stretch>
            <a:fillRect/>
          </a:stretch>
        </p:blipFill>
        <p:spPr>
          <a:xfrm>
            <a:off x="1261872" y="6149993"/>
            <a:ext cx="534000" cy="61938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r>
              <a:rPr lang="en-US" sz="2400">
                <a:latin typeface="Montserrat"/>
              </a:rPr>
              <a:t>Wake </a:t>
            </a:r>
            <a:r>
              <a:rPr lang="en-US">
                <a:latin typeface="Montserrat"/>
              </a:rPr>
              <a:t>County </a:t>
            </a:r>
            <a:r>
              <a:rPr lang="en-US" sz="2400">
                <a:latin typeface="Montserrat"/>
              </a:rPr>
              <a:t>Has Breadth but </a:t>
            </a:r>
            <a:r>
              <a:rPr lang="en-US">
                <a:latin typeface="Montserrat"/>
              </a:rPr>
              <a:t>Lacks a</a:t>
            </a:r>
            <a:r>
              <a:rPr lang="en-US" sz="2400">
                <a:latin typeface="Montserrat"/>
              </a:rPr>
              <a:t> Countywide Anchor</a:t>
            </a:r>
            <a:endParaRPr lang="en-US">
              <a:latin typeface="Montserrat"/>
            </a:endParaRPr>
          </a:p>
        </p:txBody>
      </p:sp>
      <p:sp>
        <p:nvSpPr>
          <p:cNvPr id="3" name="Text 1"/>
          <p:cNvSpPr txBox="1"/>
          <p:nvPr/>
        </p:nvSpPr>
        <p:spPr>
          <a:xfrm>
            <a:off x="365760" y="1188720"/>
            <a:ext cx="5120640" cy="292608"/>
          </a:xfrm>
          <a:prstGeom prst="rect">
            <a:avLst/>
          </a:prstGeom>
          <a:noFill/>
          <a:ln/>
        </p:spPr>
        <p:txBody>
          <a:bodyPr wrap="square" lIns="0" tIns="0" rIns="0" bIns="0" rtlCol="0" anchor="ctr"/>
          <a:lstStyle/>
          <a:p>
            <a:pPr marL="0" indent="0">
              <a:buNone/>
            </a:pPr>
            <a:r>
              <a:rPr lang="en-US" sz="1400" b="1">
                <a:solidFill>
                  <a:schemeClr val="accent2"/>
                </a:solidFill>
              </a:rPr>
              <a:t>Engagement toolkit score (out of 12)</a:t>
            </a:r>
            <a:endParaRPr lang="en-US" sz="1400"/>
          </a:p>
        </p:txBody>
      </p:sp>
      <p:graphicFrame>
        <p:nvGraphicFramePr>
          <p:cNvPr id="4" name="Toolkit score chart"/>
          <p:cNvGraphicFramePr/>
          <p:nvPr>
            <p:extLst>
              <p:ext uri="{D42A27DB-BD31-4B8C-83A1-F6EECF244321}">
                <p14:modId xmlns:p14="http://schemas.microsoft.com/office/powerpoint/2010/main" val="470216964"/>
              </p:ext>
            </p:extLst>
          </p:nvPr>
        </p:nvGraphicFramePr>
        <p:xfrm>
          <a:off x="274320" y="1481328"/>
          <a:ext cx="530352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365760" y="4937760"/>
            <a:ext cx="5120640" cy="548640"/>
          </a:xfrm>
          <a:prstGeom prst="rect">
            <a:avLst/>
          </a:prstGeom>
          <a:noFill/>
          <a:ln/>
        </p:spPr>
        <p:txBody>
          <a:bodyPr wrap="square" lIns="0" tIns="0" rIns="0" bIns="0" rtlCol="0" anchor="t"/>
          <a:lstStyle/>
          <a:p>
            <a:pPr marL="0" indent="0">
              <a:buNone/>
            </a:pPr>
            <a:r>
              <a:rPr lang="en-US" sz="1100" i="1">
                <a:solidFill>
                  <a:schemeClr val="accent6"/>
                </a:solidFill>
              </a:rPr>
              <a:t>Scoring: 2 points for a countywide, dedicated tool, 1 for a limited one, 0 if none found, across the six categories on the previous slide.</a:t>
            </a:r>
            <a:endParaRPr lang="en-US" sz="1100"/>
          </a:p>
        </p:txBody>
      </p:sp>
      <p:sp>
        <p:nvSpPr>
          <p:cNvPr id="6" name="Takeaway 1"/>
          <p:cNvSpPr/>
          <p:nvPr/>
        </p:nvSpPr>
        <p:spPr>
          <a:xfrm>
            <a:off x="5989320" y="1234440"/>
            <a:ext cx="5833872" cy="1298448"/>
          </a:xfrm>
          <a:prstGeom prst="roundRect">
            <a:avLst>
              <a:gd name="adj" fmla="val 5634"/>
            </a:avLst>
          </a:prstGeom>
          <a:solidFill>
            <a:schemeClr val="bg2"/>
          </a:solidFill>
          <a:ln w="9525">
            <a:solidFill>
              <a:schemeClr val="bg2"/>
            </a:solidFill>
            <a:prstDash val="solid"/>
          </a:ln>
        </p:spPr>
        <p:txBody>
          <a:bodyPr/>
          <a:lstStyle/>
          <a:p>
            <a:endParaRPr lang="en-US"/>
          </a:p>
        </p:txBody>
      </p:sp>
      <p:sp>
        <p:nvSpPr>
          <p:cNvPr id="7" name="Takeaway 1 circle"/>
          <p:cNvSpPr/>
          <p:nvPr/>
        </p:nvSpPr>
        <p:spPr>
          <a:xfrm>
            <a:off x="6172200" y="1536192"/>
            <a:ext cx="694944" cy="694944"/>
          </a:xfrm>
          <a:prstGeom prst="ellipse">
            <a:avLst/>
          </a:prstGeom>
          <a:solidFill>
            <a:schemeClr val="accent2"/>
          </a:solidFill>
          <a:ln w="12700">
            <a:solidFill>
              <a:schemeClr val="accent2"/>
            </a:solidFill>
            <a:prstDash val="solid"/>
          </a:ln>
        </p:spPr>
        <p:txBody>
          <a:bodyPr/>
          <a:lstStyle/>
          <a:p>
            <a:endParaRPr lang="en-US"/>
          </a:p>
        </p:txBody>
      </p:sp>
      <p:pic>
        <p:nvPicPr>
          <p:cNvPr id="8" name="Takeaway 1 icon" descr="preencoded.png"/>
          <p:cNvPicPr>
            <a:picLocks noChangeAspect="1"/>
          </p:cNvPicPr>
          <p:nvPr/>
        </p:nvPicPr>
        <p:blipFill>
          <a:blip r:embed="rId4"/>
          <a:stretch>
            <a:fillRect/>
          </a:stretch>
        </p:blipFill>
        <p:spPr>
          <a:xfrm>
            <a:off x="6338987" y="1702979"/>
            <a:ext cx="361371" cy="361371"/>
          </a:xfrm>
          <a:prstGeom prst="rect">
            <a:avLst/>
          </a:prstGeom>
        </p:spPr>
      </p:pic>
      <p:sp>
        <p:nvSpPr>
          <p:cNvPr id="9" name="Text 5"/>
          <p:cNvSpPr txBox="1"/>
          <p:nvPr/>
        </p:nvSpPr>
        <p:spPr>
          <a:xfrm>
            <a:off x="7040880" y="1325880"/>
            <a:ext cx="4617720" cy="1115568"/>
          </a:xfrm>
          <a:prstGeom prst="rect">
            <a:avLst/>
          </a:prstGeom>
          <a:noFill/>
          <a:ln/>
        </p:spPr>
        <p:txBody>
          <a:bodyPr wrap="square" lIns="0" tIns="0" rIns="0" bIns="0" rtlCol="0" anchor="ctr"/>
          <a:lstStyle/>
          <a:p>
            <a:pPr marL="0" indent="0">
              <a:spcAft>
                <a:spcPts val="300"/>
              </a:spcAft>
              <a:buNone/>
            </a:pPr>
            <a:r>
              <a:rPr lang="en-US" sz="1400" b="1">
                <a:solidFill>
                  <a:schemeClr val="tx2"/>
                </a:solidFill>
                <a:latin typeface="Montserrat"/>
                <a:ea typeface="Montserrat" pitchFamily="34" charset="-122"/>
                <a:cs typeface="Montserrat" pitchFamily="34" charset="-120"/>
              </a:rPr>
              <a:t>Breadth Without Depth</a:t>
            </a:r>
            <a:endParaRPr lang="en-US" sz="1400">
              <a:solidFill>
                <a:schemeClr val="tx2"/>
              </a:solidFill>
              <a:latin typeface="Montserrat"/>
            </a:endParaRPr>
          </a:p>
          <a:p>
            <a:pPr marL="0" indent="0">
              <a:spcAft>
                <a:spcPts val="300"/>
              </a:spcAft>
              <a:buNone/>
            </a:pPr>
            <a:r>
              <a:rPr lang="en-US" sz="1300">
                <a:solidFill>
                  <a:schemeClr val="tx1"/>
                </a:solidFill>
              </a:rPr>
              <a:t>Wake has something in place in all six categories, yet none of them works at the countywide level that Mecklenburg reaches in every category.</a:t>
            </a:r>
            <a:endParaRPr lang="en-US" sz="1400"/>
          </a:p>
        </p:txBody>
      </p:sp>
      <p:sp>
        <p:nvSpPr>
          <p:cNvPr id="10" name="Takeaway 2"/>
          <p:cNvSpPr/>
          <p:nvPr/>
        </p:nvSpPr>
        <p:spPr>
          <a:xfrm>
            <a:off x="5989320" y="2697480"/>
            <a:ext cx="5833872" cy="1298448"/>
          </a:xfrm>
          <a:prstGeom prst="roundRect">
            <a:avLst>
              <a:gd name="adj" fmla="val 5634"/>
            </a:avLst>
          </a:prstGeom>
          <a:solidFill>
            <a:schemeClr val="bg2"/>
          </a:solidFill>
          <a:ln w="9525">
            <a:solidFill>
              <a:schemeClr val="bg2"/>
            </a:solidFill>
            <a:prstDash val="solid"/>
          </a:ln>
        </p:spPr>
        <p:txBody>
          <a:bodyPr/>
          <a:lstStyle/>
          <a:p>
            <a:endParaRPr lang="en-US"/>
          </a:p>
        </p:txBody>
      </p:sp>
      <p:sp>
        <p:nvSpPr>
          <p:cNvPr id="11" name="Takeaway 2 circle"/>
          <p:cNvSpPr/>
          <p:nvPr/>
        </p:nvSpPr>
        <p:spPr>
          <a:xfrm>
            <a:off x="6172200" y="2999232"/>
            <a:ext cx="694944" cy="694944"/>
          </a:xfrm>
          <a:prstGeom prst="ellipse">
            <a:avLst/>
          </a:prstGeom>
          <a:solidFill>
            <a:schemeClr val="accent2"/>
          </a:solidFill>
          <a:ln w="12700">
            <a:solidFill>
              <a:schemeClr val="accent2"/>
            </a:solidFill>
            <a:prstDash val="solid"/>
          </a:ln>
        </p:spPr>
        <p:txBody>
          <a:bodyPr/>
          <a:lstStyle/>
          <a:p>
            <a:endParaRPr lang="en-US"/>
          </a:p>
        </p:txBody>
      </p:sp>
      <p:pic>
        <p:nvPicPr>
          <p:cNvPr id="12" name="Takeaway 2 icon" descr="preencoded.png"/>
          <p:cNvPicPr>
            <a:picLocks noChangeAspect="1"/>
          </p:cNvPicPr>
          <p:nvPr/>
        </p:nvPicPr>
        <p:blipFill>
          <a:blip r:embed="rId5"/>
          <a:stretch>
            <a:fillRect/>
          </a:stretch>
        </p:blipFill>
        <p:spPr>
          <a:xfrm>
            <a:off x="6338987" y="3166019"/>
            <a:ext cx="361371" cy="361371"/>
          </a:xfrm>
          <a:prstGeom prst="rect">
            <a:avLst/>
          </a:prstGeom>
        </p:spPr>
      </p:pic>
      <p:sp>
        <p:nvSpPr>
          <p:cNvPr id="13" name="Text 8"/>
          <p:cNvSpPr txBox="1"/>
          <p:nvPr/>
        </p:nvSpPr>
        <p:spPr>
          <a:xfrm>
            <a:off x="7040880" y="2788920"/>
            <a:ext cx="4617720" cy="1115568"/>
          </a:xfrm>
          <a:prstGeom prst="rect">
            <a:avLst/>
          </a:prstGeom>
          <a:noFill/>
          <a:ln/>
        </p:spPr>
        <p:txBody>
          <a:bodyPr wrap="square" lIns="0" tIns="0" rIns="0" bIns="0" rtlCol="0" anchor="ctr"/>
          <a:lstStyle/>
          <a:p>
            <a:pPr>
              <a:spcAft>
                <a:spcPts val="300"/>
              </a:spcAft>
            </a:pPr>
            <a:r>
              <a:rPr lang="en-US" sz="1400" b="1">
                <a:solidFill>
                  <a:schemeClr val="tx2"/>
                </a:solidFill>
                <a:latin typeface="Montserrat"/>
                <a:ea typeface="+mn-lt"/>
                <a:cs typeface="+mn-lt"/>
              </a:rPr>
              <a:t>Leaders Built Infrastructure, Not More Meetings</a:t>
            </a:r>
            <a:endParaRPr lang="en-US">
              <a:solidFill>
                <a:schemeClr val="tx2"/>
              </a:solidFill>
              <a:latin typeface="Montserrat"/>
            </a:endParaRPr>
          </a:p>
          <a:p>
            <a:pPr marL="0" indent="0">
              <a:spcAft>
                <a:spcPts val="300"/>
              </a:spcAft>
              <a:buNone/>
            </a:pPr>
            <a:r>
              <a:rPr lang="en-US" sz="1300">
                <a:solidFill>
                  <a:schemeClr val="tx1"/>
                </a:solidFill>
              </a:rPr>
              <a:t>Mecklenburg and Gwinnett each pair a permanent home for engagement</a:t>
            </a:r>
            <a:r>
              <a:rPr lang="en-US" sz="1300"/>
              <a:t> with </a:t>
            </a:r>
            <a:r>
              <a:rPr lang="en-US" sz="1300">
                <a:solidFill>
                  <a:schemeClr val="tx1"/>
                </a:solidFill>
              </a:rPr>
              <a:t>a portal or a dedicated division</a:t>
            </a:r>
            <a:r>
              <a:rPr lang="en-US" sz="1300"/>
              <a:t>.</a:t>
            </a:r>
            <a:endParaRPr lang="en-US" sz="1400"/>
          </a:p>
        </p:txBody>
      </p:sp>
      <p:sp>
        <p:nvSpPr>
          <p:cNvPr id="14" name="Takeaway 3"/>
          <p:cNvSpPr/>
          <p:nvPr/>
        </p:nvSpPr>
        <p:spPr>
          <a:xfrm>
            <a:off x="5989320" y="4160520"/>
            <a:ext cx="5833872" cy="1298448"/>
          </a:xfrm>
          <a:prstGeom prst="roundRect">
            <a:avLst>
              <a:gd name="adj" fmla="val 5634"/>
            </a:avLst>
          </a:prstGeom>
          <a:solidFill>
            <a:schemeClr val="bg2"/>
          </a:solidFill>
          <a:ln w="9525">
            <a:solidFill>
              <a:schemeClr val="bg2"/>
            </a:solidFill>
            <a:prstDash val="solid"/>
          </a:ln>
        </p:spPr>
        <p:txBody>
          <a:bodyPr/>
          <a:lstStyle/>
          <a:p>
            <a:endParaRPr lang="en-US"/>
          </a:p>
        </p:txBody>
      </p:sp>
      <p:sp>
        <p:nvSpPr>
          <p:cNvPr id="15" name="Takeaway 3 circle"/>
          <p:cNvSpPr/>
          <p:nvPr/>
        </p:nvSpPr>
        <p:spPr>
          <a:xfrm>
            <a:off x="6172200" y="4462272"/>
            <a:ext cx="694944" cy="694944"/>
          </a:xfrm>
          <a:prstGeom prst="ellipse">
            <a:avLst/>
          </a:prstGeom>
          <a:solidFill>
            <a:schemeClr val="accent1"/>
          </a:solidFill>
          <a:ln w="12700">
            <a:solidFill>
              <a:schemeClr val="accent1"/>
            </a:solidFill>
            <a:prstDash val="solid"/>
          </a:ln>
        </p:spPr>
        <p:txBody>
          <a:bodyPr/>
          <a:lstStyle/>
          <a:p>
            <a:endParaRPr lang="en-US"/>
          </a:p>
        </p:txBody>
      </p:sp>
      <p:pic>
        <p:nvPicPr>
          <p:cNvPr id="16" name="Takeaway 3 icon" descr="preencoded.png"/>
          <p:cNvPicPr>
            <a:picLocks noChangeAspect="1"/>
          </p:cNvPicPr>
          <p:nvPr/>
        </p:nvPicPr>
        <p:blipFill>
          <a:blip r:embed="rId6"/>
          <a:stretch>
            <a:fillRect/>
          </a:stretch>
        </p:blipFill>
        <p:spPr>
          <a:xfrm>
            <a:off x="6338987" y="4629059"/>
            <a:ext cx="361371" cy="361371"/>
          </a:xfrm>
          <a:prstGeom prst="rect">
            <a:avLst/>
          </a:prstGeom>
        </p:spPr>
      </p:pic>
      <p:sp>
        <p:nvSpPr>
          <p:cNvPr id="17" name="Text 11"/>
          <p:cNvSpPr txBox="1"/>
          <p:nvPr/>
        </p:nvSpPr>
        <p:spPr>
          <a:xfrm>
            <a:off x="7040880" y="4251960"/>
            <a:ext cx="4617720" cy="1115568"/>
          </a:xfrm>
          <a:prstGeom prst="rect">
            <a:avLst/>
          </a:prstGeom>
          <a:noFill/>
          <a:ln/>
        </p:spPr>
        <p:txBody>
          <a:bodyPr wrap="square" lIns="0" tIns="0" rIns="0" bIns="0" rtlCol="0" anchor="ctr"/>
          <a:lstStyle/>
          <a:p>
            <a:pPr>
              <a:spcAft>
                <a:spcPts val="300"/>
              </a:spcAft>
            </a:pPr>
            <a:r>
              <a:rPr lang="en-US" sz="1400" b="1">
                <a:solidFill>
                  <a:schemeClr val="tx2"/>
                </a:solidFill>
                <a:latin typeface="Montserrat"/>
                <a:ea typeface="+mn-lt"/>
                <a:cs typeface="+mn-lt"/>
              </a:rPr>
              <a:t>Wake County’s Gaps Are Coordination Gaps</a:t>
            </a:r>
            <a:endParaRPr lang="en-US" b="1">
              <a:solidFill>
                <a:schemeClr val="tx2"/>
              </a:solidFill>
              <a:latin typeface="Montserrat"/>
            </a:endParaRPr>
          </a:p>
          <a:p>
            <a:pPr marL="0" indent="0">
              <a:spcAft>
                <a:spcPts val="300"/>
              </a:spcAft>
              <a:buNone/>
            </a:pPr>
            <a:r>
              <a:rPr lang="en-US" sz="1300">
                <a:solidFill>
                  <a:schemeClr val="tx1"/>
                </a:solidFill>
              </a:rPr>
              <a:t>A single front door, shared standards, and a structured resident role in the budget would close most of the distance to the top peers.</a:t>
            </a:r>
            <a:endParaRPr lang="en-US" sz="1400"/>
          </a:p>
        </p:txBody>
      </p:sp>
      <p:sp>
        <p:nvSpPr>
          <p:cNvPr id="18"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Team assessment of public county materials. Ratings will be validated through Wake department interviews. </a:t>
            </a:r>
            <a:r>
              <a:rPr lang="en-US" sz="1000" u="sng">
                <a:solidFill>
                  <a:schemeClr val="accent2"/>
                </a:solidFill>
                <a:hlinkClick r:id="rId7"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5</a:t>
            </a:fld>
            <a:endParaRPr lang="en-US"/>
          </a:p>
        </p:txBody>
      </p:sp>
      <p:pic>
        <p:nvPicPr>
          <p:cNvPr id="19" name="Picture 18">
            <a:extLst>
              <a:ext uri="{FF2B5EF4-FFF2-40B4-BE49-F238E27FC236}">
                <a16:creationId xmlns:a16="http://schemas.microsoft.com/office/drawing/2014/main" id="{525EEB04-16C0-5707-D86A-EAF24A117E6D}"/>
              </a:ext>
            </a:extLst>
          </p:cNvPr>
          <p:cNvPicPr>
            <a:picLocks noChangeAspect="1"/>
          </p:cNvPicPr>
          <p:nvPr/>
        </p:nvPicPr>
        <p:blipFill>
          <a:blip r:embed="rId8"/>
          <a:stretch>
            <a:fillRect/>
          </a:stretch>
        </p:blipFill>
        <p:spPr>
          <a:xfrm>
            <a:off x="10702633" y="48335"/>
            <a:ext cx="1176475" cy="920929"/>
          </a:xfrm>
          <a:prstGeom prst="rect">
            <a:avLst/>
          </a:prstGeom>
        </p:spPr>
      </p:pic>
      <p:pic>
        <p:nvPicPr>
          <p:cNvPr id="20" name="Picture 19">
            <a:extLst>
              <a:ext uri="{FF2B5EF4-FFF2-40B4-BE49-F238E27FC236}">
                <a16:creationId xmlns:a16="http://schemas.microsoft.com/office/drawing/2014/main" id="{2AFEC43A-221A-C9EF-66DD-E1EC3B7187BD}"/>
              </a:ext>
            </a:extLst>
          </p:cNvPr>
          <p:cNvPicPr>
            <a:picLocks noChangeAspect="1"/>
          </p:cNvPicPr>
          <p:nvPr/>
        </p:nvPicPr>
        <p:blipFill>
          <a:blip r:embed="rId9"/>
          <a:stretch>
            <a:fillRect/>
          </a:stretch>
        </p:blipFill>
        <p:spPr>
          <a:xfrm>
            <a:off x="1261872" y="6149993"/>
            <a:ext cx="534000" cy="619385"/>
          </a:xfrm>
          <a:prstGeom prst="rect">
            <a:avLst/>
          </a:prstGeom>
        </p:spPr>
      </p:pic>
      <p:sp>
        <p:nvSpPr>
          <p:cNvPr id="22" name="TextBox 21">
            <a:extLst>
              <a:ext uri="{FF2B5EF4-FFF2-40B4-BE49-F238E27FC236}">
                <a16:creationId xmlns:a16="http://schemas.microsoft.com/office/drawing/2014/main" id="{F68C5B70-0D4E-DC9A-4CB1-086DDFADD7D8}"/>
              </a:ext>
            </a:extLst>
          </p:cNvPr>
          <p:cNvSpPr txBox="1"/>
          <p:nvPr/>
        </p:nvSpPr>
        <p:spPr>
          <a:xfrm>
            <a:off x="5412956" y="1728216"/>
            <a:ext cx="370624" cy="292388"/>
          </a:xfrm>
          <a:prstGeom prst="rect">
            <a:avLst/>
          </a:prstGeom>
          <a:noFill/>
        </p:spPr>
        <p:txBody>
          <a:bodyPr wrap="square" rtlCol="0">
            <a:spAutoFit/>
          </a:bodyPr>
          <a:lstStyle/>
          <a:p>
            <a:r>
              <a:rPr lang="en-US" sz="1300" b="1"/>
              <a:t>12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pPr>
              <a:spcBef>
                <a:spcPts val="0"/>
              </a:spcBef>
            </a:pPr>
            <a:r>
              <a:rPr lang="en-US" sz="2400" b="1">
                <a:latin typeface="Montserrat"/>
              </a:rPr>
              <a:t>Six Barriers Point to </a:t>
            </a:r>
            <a:r>
              <a:rPr lang="en-US" sz="2400">
                <a:latin typeface="Montserrat"/>
              </a:rPr>
              <a:t>Six </a:t>
            </a:r>
            <a:r>
              <a:rPr lang="en-US">
                <a:latin typeface="Montserrat"/>
              </a:rPr>
              <a:t>Action </a:t>
            </a:r>
            <a:r>
              <a:rPr lang="en-US" sz="2400">
                <a:latin typeface="Montserrat"/>
              </a:rPr>
              <a:t>Areas</a:t>
            </a:r>
            <a:endParaRPr lang="en-US" sz="2400"/>
          </a:p>
        </p:txBody>
      </p:sp>
      <p:sp>
        <p:nvSpPr>
          <p:cNvPr id="3" name="Practice area 1"/>
          <p:cNvSpPr/>
          <p:nvPr/>
        </p:nvSpPr>
        <p:spPr>
          <a:xfrm>
            <a:off x="365760" y="1207008"/>
            <a:ext cx="5669280" cy="1325880"/>
          </a:xfrm>
          <a:prstGeom prst="roundRect">
            <a:avLst>
              <a:gd name="adj" fmla="val 5517"/>
            </a:avLst>
          </a:prstGeom>
          <a:solidFill>
            <a:schemeClr val="bg2"/>
          </a:solidFill>
          <a:ln w="9525">
            <a:solidFill>
              <a:schemeClr val="bg2"/>
            </a:solidFill>
            <a:prstDash val="solid"/>
          </a:ln>
        </p:spPr>
        <p:txBody>
          <a:bodyPr/>
          <a:lstStyle/>
          <a:p>
            <a:endParaRPr lang="en-US"/>
          </a:p>
        </p:txBody>
      </p:sp>
      <p:sp>
        <p:nvSpPr>
          <p:cNvPr id="4" name="Practice area 1 circle"/>
          <p:cNvSpPr/>
          <p:nvPr/>
        </p:nvSpPr>
        <p:spPr>
          <a:xfrm>
            <a:off x="548640" y="150876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5" name="Practice area 1 icon" descr="preencoded.png"/>
          <p:cNvPicPr>
            <a:picLocks noChangeAspect="1"/>
          </p:cNvPicPr>
          <p:nvPr/>
        </p:nvPicPr>
        <p:blipFill>
          <a:blip r:embed="rId3"/>
          <a:stretch>
            <a:fillRect/>
          </a:stretch>
        </p:blipFill>
        <p:spPr>
          <a:xfrm>
            <a:off x="724205" y="1684325"/>
            <a:ext cx="380390" cy="380390"/>
          </a:xfrm>
          <a:prstGeom prst="rect">
            <a:avLst/>
          </a:prstGeom>
        </p:spPr>
      </p:pic>
      <p:sp>
        <p:nvSpPr>
          <p:cNvPr id="6" name="Text 3"/>
          <p:cNvSpPr txBox="1"/>
          <p:nvPr/>
        </p:nvSpPr>
        <p:spPr>
          <a:xfrm>
            <a:off x="1463040" y="1280160"/>
            <a:ext cx="4434840" cy="1179576"/>
          </a:xfrm>
          <a:prstGeom prst="rect">
            <a:avLst/>
          </a:prstGeom>
          <a:noFill/>
          <a:ln/>
        </p:spPr>
        <p:txBody>
          <a:bodyPr wrap="square" lIns="0" tIns="0" rIns="0" bIns="0" rtlCol="0" anchor="ctr"/>
          <a:lstStyle/>
          <a:p>
            <a:pPr marL="0" indent="0">
              <a:spcAft>
                <a:spcPts val="400"/>
              </a:spcAft>
              <a:buNone/>
            </a:pPr>
            <a:r>
              <a:rPr lang="en-US" sz="1300" b="1" kern="0" spc="200">
                <a:solidFill>
                  <a:schemeClr val="accent1"/>
                </a:solidFill>
              </a:rPr>
              <a:t>BARRIER</a:t>
            </a:r>
            <a:r>
              <a:rPr lang="en-US" sz="900" b="1" kern="0" spc="200">
                <a:solidFill>
                  <a:schemeClr val="accent1"/>
                </a:solidFill>
              </a:rPr>
              <a:t>  </a:t>
            </a:r>
            <a:r>
              <a:rPr lang="en-US" sz="1200">
                <a:solidFill>
                  <a:schemeClr val="accent6"/>
                </a:solidFill>
              </a:rPr>
              <a:t>No shared definition or standard across departments</a:t>
            </a:r>
            <a:endParaRPr lang="en-US" sz="900"/>
          </a:p>
          <a:p>
            <a:pPr marL="0" indent="0">
              <a:spcAft>
                <a:spcPts val="400"/>
              </a:spcAft>
              <a:buNone/>
            </a:pPr>
            <a:r>
              <a:rPr lang="en-US" sz="1500" b="1">
                <a:solidFill>
                  <a:schemeClr val="tx2"/>
                </a:solidFill>
                <a:latin typeface="Montserrat" pitchFamily="34" charset="0"/>
                <a:ea typeface="Montserrat" pitchFamily="34" charset="-122"/>
                <a:cs typeface="Montserrat" pitchFamily="34" charset="-120"/>
              </a:rPr>
              <a:t>1. Set a shared engagement standard</a:t>
            </a:r>
            <a:endParaRPr lang="en-US" sz="900"/>
          </a:p>
          <a:p>
            <a:pPr marL="0" indent="0">
              <a:spcAft>
                <a:spcPts val="400"/>
              </a:spcAft>
              <a:buNone/>
            </a:pPr>
            <a:r>
              <a:rPr lang="en-US" sz="1200" i="1">
                <a:solidFill>
                  <a:schemeClr val="accent2"/>
                </a:solidFill>
              </a:rPr>
              <a:t>Buncombe ICEP framework; One Fairfax</a:t>
            </a:r>
            <a:endParaRPr lang="en-US" sz="900"/>
          </a:p>
        </p:txBody>
      </p:sp>
      <p:sp>
        <p:nvSpPr>
          <p:cNvPr id="7" name="Practice area 2"/>
          <p:cNvSpPr/>
          <p:nvPr/>
        </p:nvSpPr>
        <p:spPr>
          <a:xfrm>
            <a:off x="6153912" y="1207008"/>
            <a:ext cx="5669280" cy="1325880"/>
          </a:xfrm>
          <a:prstGeom prst="roundRect">
            <a:avLst>
              <a:gd name="adj" fmla="val 5517"/>
            </a:avLst>
          </a:prstGeom>
          <a:solidFill>
            <a:schemeClr val="bg2"/>
          </a:solidFill>
          <a:ln w="9525">
            <a:solidFill>
              <a:schemeClr val="bg2"/>
            </a:solidFill>
            <a:prstDash val="solid"/>
          </a:ln>
        </p:spPr>
        <p:txBody>
          <a:bodyPr/>
          <a:lstStyle/>
          <a:p>
            <a:endParaRPr lang="en-US"/>
          </a:p>
        </p:txBody>
      </p:sp>
      <p:sp>
        <p:nvSpPr>
          <p:cNvPr id="8" name="Practice area 2 circle"/>
          <p:cNvSpPr/>
          <p:nvPr/>
        </p:nvSpPr>
        <p:spPr>
          <a:xfrm>
            <a:off x="6336792" y="150876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9" name="Practice area 2 icon" descr="preencoded.png"/>
          <p:cNvPicPr>
            <a:picLocks noChangeAspect="1"/>
          </p:cNvPicPr>
          <p:nvPr/>
        </p:nvPicPr>
        <p:blipFill>
          <a:blip r:embed="rId4"/>
          <a:stretch>
            <a:fillRect/>
          </a:stretch>
        </p:blipFill>
        <p:spPr>
          <a:xfrm>
            <a:off x="6512357" y="1684325"/>
            <a:ext cx="380390" cy="380390"/>
          </a:xfrm>
          <a:prstGeom prst="rect">
            <a:avLst/>
          </a:prstGeom>
        </p:spPr>
      </p:pic>
      <p:sp>
        <p:nvSpPr>
          <p:cNvPr id="10" name="Text 6"/>
          <p:cNvSpPr txBox="1"/>
          <p:nvPr/>
        </p:nvSpPr>
        <p:spPr>
          <a:xfrm>
            <a:off x="7251192" y="1280160"/>
            <a:ext cx="4434840" cy="1179576"/>
          </a:xfrm>
          <a:prstGeom prst="rect">
            <a:avLst/>
          </a:prstGeom>
          <a:noFill/>
          <a:ln/>
        </p:spPr>
        <p:txBody>
          <a:bodyPr wrap="square" lIns="0" tIns="0" rIns="0" bIns="0" rtlCol="0" anchor="ctr"/>
          <a:lstStyle/>
          <a:p>
            <a:pPr marL="0" indent="0">
              <a:spcAft>
                <a:spcPts val="400"/>
              </a:spcAft>
              <a:buNone/>
            </a:pPr>
            <a:r>
              <a:rPr lang="en-US" sz="1300" b="1" kern="0" spc="200">
                <a:solidFill>
                  <a:schemeClr val="accent1"/>
                </a:solidFill>
              </a:rPr>
              <a:t>BARRIER</a:t>
            </a:r>
            <a:r>
              <a:rPr lang="en-US" sz="900" b="1" kern="0" spc="200">
                <a:solidFill>
                  <a:schemeClr val="accent1"/>
                </a:solidFill>
              </a:rPr>
              <a:t>  </a:t>
            </a:r>
            <a:r>
              <a:rPr lang="en-US" sz="1200">
                <a:solidFill>
                  <a:schemeClr val="accent6"/>
                </a:solidFill>
              </a:rPr>
              <a:t>Transportation, work schedules, and childcare keep residents away</a:t>
            </a:r>
            <a:endParaRPr lang="en-US" sz="900"/>
          </a:p>
          <a:p>
            <a:pPr marL="0" indent="0">
              <a:spcAft>
                <a:spcPts val="400"/>
              </a:spcAft>
              <a:buNone/>
            </a:pPr>
            <a:r>
              <a:rPr lang="en-US" sz="1500" b="1">
                <a:solidFill>
                  <a:schemeClr val="tx2"/>
                </a:solidFill>
                <a:latin typeface="Montserrat" pitchFamily="34" charset="0"/>
                <a:ea typeface="Montserrat" pitchFamily="34" charset="-122"/>
                <a:cs typeface="Montserrat" pitchFamily="34" charset="-120"/>
              </a:rPr>
              <a:t>2. Take engagement to residents</a:t>
            </a:r>
            <a:endParaRPr lang="en-US" sz="900"/>
          </a:p>
          <a:p>
            <a:pPr marL="0" indent="0">
              <a:spcAft>
                <a:spcPts val="400"/>
              </a:spcAft>
              <a:buNone/>
            </a:pPr>
            <a:r>
              <a:rPr lang="en-US" sz="1200" i="1">
                <a:solidFill>
                  <a:schemeClr val="accent2"/>
                </a:solidFill>
              </a:rPr>
              <a:t>Buncombe intercepts; Raleigh Engagement on the Go; Fresno</a:t>
            </a:r>
            <a:endParaRPr lang="en-US" sz="900"/>
          </a:p>
        </p:txBody>
      </p:sp>
      <p:sp>
        <p:nvSpPr>
          <p:cNvPr id="11" name="Practice area 3"/>
          <p:cNvSpPr/>
          <p:nvPr/>
        </p:nvSpPr>
        <p:spPr>
          <a:xfrm>
            <a:off x="365760" y="2670048"/>
            <a:ext cx="5669280" cy="1325880"/>
          </a:xfrm>
          <a:prstGeom prst="roundRect">
            <a:avLst>
              <a:gd name="adj" fmla="val 5517"/>
            </a:avLst>
          </a:prstGeom>
          <a:solidFill>
            <a:schemeClr val="bg2"/>
          </a:solidFill>
          <a:ln w="9525">
            <a:solidFill>
              <a:schemeClr val="bg2"/>
            </a:solidFill>
            <a:prstDash val="solid"/>
          </a:ln>
        </p:spPr>
        <p:txBody>
          <a:bodyPr/>
          <a:lstStyle/>
          <a:p>
            <a:endParaRPr lang="en-US"/>
          </a:p>
        </p:txBody>
      </p:sp>
      <p:sp>
        <p:nvSpPr>
          <p:cNvPr id="12" name="Practice area 3 circle"/>
          <p:cNvSpPr/>
          <p:nvPr/>
        </p:nvSpPr>
        <p:spPr>
          <a:xfrm>
            <a:off x="548640" y="297180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13" name="Practice area 3 icon" descr="preencoded.png"/>
          <p:cNvPicPr>
            <a:picLocks noChangeAspect="1"/>
          </p:cNvPicPr>
          <p:nvPr/>
        </p:nvPicPr>
        <p:blipFill>
          <a:blip r:embed="rId5"/>
          <a:stretch>
            <a:fillRect/>
          </a:stretch>
        </p:blipFill>
        <p:spPr>
          <a:xfrm>
            <a:off x="724205" y="3147365"/>
            <a:ext cx="380390" cy="380390"/>
          </a:xfrm>
          <a:prstGeom prst="rect">
            <a:avLst/>
          </a:prstGeom>
        </p:spPr>
      </p:pic>
      <p:sp>
        <p:nvSpPr>
          <p:cNvPr id="14" name="Text 9"/>
          <p:cNvSpPr txBox="1"/>
          <p:nvPr/>
        </p:nvSpPr>
        <p:spPr>
          <a:xfrm>
            <a:off x="1463040" y="2743200"/>
            <a:ext cx="4434840" cy="1179576"/>
          </a:xfrm>
          <a:prstGeom prst="rect">
            <a:avLst/>
          </a:prstGeom>
          <a:noFill/>
          <a:ln/>
        </p:spPr>
        <p:txBody>
          <a:bodyPr wrap="square" lIns="0" tIns="0" rIns="0" bIns="0" rtlCol="0" anchor="ctr"/>
          <a:lstStyle/>
          <a:p>
            <a:pPr marL="0" indent="0">
              <a:spcAft>
                <a:spcPts val="400"/>
              </a:spcAft>
              <a:buNone/>
            </a:pPr>
            <a:r>
              <a:rPr lang="en-US" sz="1300" b="1" kern="0" spc="200">
                <a:solidFill>
                  <a:schemeClr val="accent1"/>
                </a:solidFill>
              </a:rPr>
              <a:t>BARRIER</a:t>
            </a:r>
            <a:r>
              <a:rPr lang="en-US" sz="900" b="1" kern="0" spc="200">
                <a:solidFill>
                  <a:schemeClr val="accent1"/>
                </a:solidFill>
              </a:rPr>
              <a:t>  </a:t>
            </a:r>
            <a:r>
              <a:rPr lang="en-US" sz="1200">
                <a:solidFill>
                  <a:schemeClr val="accent6"/>
                </a:solidFill>
              </a:rPr>
              <a:t>Low trust, and the same residents show up each time</a:t>
            </a:r>
            <a:endParaRPr lang="en-US" sz="900"/>
          </a:p>
          <a:p>
            <a:pPr marL="0" indent="0">
              <a:spcAft>
                <a:spcPts val="400"/>
              </a:spcAft>
              <a:buNone/>
            </a:pPr>
            <a:r>
              <a:rPr lang="en-US" sz="1500" b="1">
                <a:solidFill>
                  <a:schemeClr val="tx2"/>
                </a:solidFill>
                <a:latin typeface="Montserrat" pitchFamily="34" charset="0"/>
                <a:ea typeface="Montserrat" pitchFamily="34" charset="-122"/>
                <a:cs typeface="Montserrat" pitchFamily="34" charset="-120"/>
              </a:rPr>
              <a:t>3. Work through trusted messengers</a:t>
            </a:r>
            <a:endParaRPr lang="en-US" sz="900"/>
          </a:p>
          <a:p>
            <a:pPr marL="0" indent="0">
              <a:spcAft>
                <a:spcPts val="400"/>
              </a:spcAft>
              <a:buNone/>
            </a:pPr>
            <a:r>
              <a:rPr lang="en-US" sz="1200" i="1">
                <a:solidFill>
                  <a:schemeClr val="accent2"/>
                </a:solidFill>
              </a:rPr>
              <a:t>Raleigh and Buncombe Community Connectors; Fresno; Fairfax</a:t>
            </a:r>
            <a:endParaRPr lang="en-US" sz="900"/>
          </a:p>
        </p:txBody>
      </p:sp>
      <p:sp>
        <p:nvSpPr>
          <p:cNvPr id="15" name="Practice area 4"/>
          <p:cNvSpPr/>
          <p:nvPr/>
        </p:nvSpPr>
        <p:spPr>
          <a:xfrm>
            <a:off x="6153912" y="2670048"/>
            <a:ext cx="5669280" cy="1325880"/>
          </a:xfrm>
          <a:prstGeom prst="roundRect">
            <a:avLst>
              <a:gd name="adj" fmla="val 5517"/>
            </a:avLst>
          </a:prstGeom>
          <a:solidFill>
            <a:schemeClr val="bg2"/>
          </a:solidFill>
          <a:ln w="9525">
            <a:solidFill>
              <a:schemeClr val="bg2"/>
            </a:solidFill>
            <a:prstDash val="solid"/>
          </a:ln>
        </p:spPr>
        <p:txBody>
          <a:bodyPr/>
          <a:lstStyle/>
          <a:p>
            <a:endParaRPr lang="en-US"/>
          </a:p>
        </p:txBody>
      </p:sp>
      <p:sp>
        <p:nvSpPr>
          <p:cNvPr id="16" name="Practice area 4 circle"/>
          <p:cNvSpPr/>
          <p:nvPr/>
        </p:nvSpPr>
        <p:spPr>
          <a:xfrm>
            <a:off x="6336792" y="297180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17" name="Practice area 4 icon" descr="preencoded.png"/>
          <p:cNvPicPr>
            <a:picLocks noChangeAspect="1"/>
          </p:cNvPicPr>
          <p:nvPr/>
        </p:nvPicPr>
        <p:blipFill>
          <a:blip r:embed="rId6"/>
          <a:stretch>
            <a:fillRect/>
          </a:stretch>
        </p:blipFill>
        <p:spPr>
          <a:xfrm>
            <a:off x="6512357" y="3147365"/>
            <a:ext cx="380390" cy="380390"/>
          </a:xfrm>
          <a:prstGeom prst="rect">
            <a:avLst/>
          </a:prstGeom>
        </p:spPr>
      </p:pic>
      <p:sp>
        <p:nvSpPr>
          <p:cNvPr id="18" name="Text 12"/>
          <p:cNvSpPr txBox="1"/>
          <p:nvPr/>
        </p:nvSpPr>
        <p:spPr>
          <a:xfrm>
            <a:off x="7251192" y="2743200"/>
            <a:ext cx="4434840" cy="1179576"/>
          </a:xfrm>
          <a:prstGeom prst="rect">
            <a:avLst/>
          </a:prstGeom>
          <a:noFill/>
          <a:ln/>
        </p:spPr>
        <p:txBody>
          <a:bodyPr wrap="square" lIns="0" tIns="0" rIns="0" bIns="0" rtlCol="0" anchor="ctr"/>
          <a:lstStyle/>
          <a:p>
            <a:pPr marL="0" indent="0">
              <a:spcAft>
                <a:spcPts val="400"/>
              </a:spcAft>
              <a:buNone/>
            </a:pPr>
            <a:r>
              <a:rPr lang="en-US" sz="1300" b="1" kern="0" spc="200">
                <a:solidFill>
                  <a:schemeClr val="accent1"/>
                </a:solidFill>
              </a:rPr>
              <a:t>BARRIER</a:t>
            </a:r>
            <a:r>
              <a:rPr lang="en-US" sz="900" b="1" kern="0" spc="200">
                <a:solidFill>
                  <a:schemeClr val="accent1"/>
                </a:solidFill>
              </a:rPr>
              <a:t>  </a:t>
            </a:r>
            <a:r>
              <a:rPr lang="en-US" sz="1200">
                <a:solidFill>
                  <a:schemeClr val="accent6"/>
                </a:solidFill>
              </a:rPr>
              <a:t>Language help is mostly available on request</a:t>
            </a:r>
            <a:endParaRPr lang="en-US" sz="900"/>
          </a:p>
          <a:p>
            <a:pPr marL="0" indent="0">
              <a:spcAft>
                <a:spcPts val="400"/>
              </a:spcAft>
              <a:buNone/>
            </a:pPr>
            <a:r>
              <a:rPr lang="en-US" sz="1500" b="1">
                <a:solidFill>
                  <a:schemeClr val="tx2"/>
                </a:solidFill>
                <a:latin typeface="Montserrat" pitchFamily="34" charset="0"/>
                <a:ea typeface="Montserrat" pitchFamily="34" charset="-122"/>
                <a:cs typeface="Montserrat" pitchFamily="34" charset="-120"/>
              </a:rPr>
              <a:t>4. Centralize language access</a:t>
            </a:r>
            <a:endParaRPr lang="en-US" sz="900"/>
          </a:p>
          <a:p>
            <a:pPr marL="0" indent="0">
              <a:spcAft>
                <a:spcPts val="400"/>
              </a:spcAft>
              <a:buNone/>
            </a:pPr>
            <a:r>
              <a:rPr lang="en-US" sz="1200" i="1">
                <a:solidFill>
                  <a:schemeClr val="accent2"/>
                </a:solidFill>
              </a:rPr>
              <a:t>Fairfax Language Access Program; Travis County plan</a:t>
            </a:r>
            <a:endParaRPr lang="en-US" sz="900"/>
          </a:p>
        </p:txBody>
      </p:sp>
      <p:sp>
        <p:nvSpPr>
          <p:cNvPr id="19" name="Practice area 5"/>
          <p:cNvSpPr/>
          <p:nvPr/>
        </p:nvSpPr>
        <p:spPr>
          <a:xfrm>
            <a:off x="365760" y="4133088"/>
            <a:ext cx="5669280" cy="1325880"/>
          </a:xfrm>
          <a:prstGeom prst="roundRect">
            <a:avLst>
              <a:gd name="adj" fmla="val 5517"/>
            </a:avLst>
          </a:prstGeom>
          <a:solidFill>
            <a:schemeClr val="bg2"/>
          </a:solidFill>
          <a:ln w="9525">
            <a:solidFill>
              <a:schemeClr val="bg2"/>
            </a:solidFill>
            <a:prstDash val="solid"/>
          </a:ln>
        </p:spPr>
        <p:txBody>
          <a:bodyPr/>
          <a:lstStyle/>
          <a:p>
            <a:endParaRPr lang="en-US"/>
          </a:p>
        </p:txBody>
      </p:sp>
      <p:sp>
        <p:nvSpPr>
          <p:cNvPr id="20" name="Practice area 5 circle"/>
          <p:cNvSpPr/>
          <p:nvPr/>
        </p:nvSpPr>
        <p:spPr>
          <a:xfrm>
            <a:off x="548640" y="443484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21" name="Practice area 5 icon" descr="preencoded.png"/>
          <p:cNvPicPr>
            <a:picLocks noChangeAspect="1"/>
          </p:cNvPicPr>
          <p:nvPr/>
        </p:nvPicPr>
        <p:blipFill>
          <a:blip r:embed="rId7"/>
          <a:stretch>
            <a:fillRect/>
          </a:stretch>
        </p:blipFill>
        <p:spPr>
          <a:xfrm>
            <a:off x="724205" y="4610405"/>
            <a:ext cx="380390" cy="380390"/>
          </a:xfrm>
          <a:prstGeom prst="rect">
            <a:avLst/>
          </a:prstGeom>
        </p:spPr>
      </p:pic>
      <p:sp>
        <p:nvSpPr>
          <p:cNvPr id="22" name="Text 15"/>
          <p:cNvSpPr txBox="1"/>
          <p:nvPr/>
        </p:nvSpPr>
        <p:spPr>
          <a:xfrm>
            <a:off x="1463040" y="4206240"/>
            <a:ext cx="4434840" cy="1179576"/>
          </a:xfrm>
          <a:prstGeom prst="rect">
            <a:avLst/>
          </a:prstGeom>
          <a:noFill/>
          <a:ln/>
        </p:spPr>
        <p:txBody>
          <a:bodyPr wrap="square" lIns="0" tIns="0" rIns="0" bIns="0" rtlCol="0" anchor="ctr"/>
          <a:lstStyle/>
          <a:p>
            <a:pPr marL="0" indent="0">
              <a:spcAft>
                <a:spcPts val="400"/>
              </a:spcAft>
              <a:buNone/>
            </a:pPr>
            <a:r>
              <a:rPr lang="en-US" sz="1300" b="1" kern="0" spc="200">
                <a:solidFill>
                  <a:schemeClr val="accent1"/>
                </a:solidFill>
              </a:rPr>
              <a:t>BARRIER</a:t>
            </a:r>
            <a:r>
              <a:rPr lang="en-US" sz="900" b="1" kern="0" spc="200">
                <a:solidFill>
                  <a:schemeClr val="accent1"/>
                </a:solidFill>
              </a:rPr>
              <a:t>  </a:t>
            </a:r>
            <a:r>
              <a:rPr lang="en-US" sz="1200">
                <a:solidFill>
                  <a:schemeClr val="accent6"/>
                </a:solidFill>
              </a:rPr>
              <a:t>Opportunities are scattered across many departments</a:t>
            </a:r>
            <a:endParaRPr lang="en-US" sz="900"/>
          </a:p>
          <a:p>
            <a:pPr marL="0" indent="0">
              <a:spcAft>
                <a:spcPts val="400"/>
              </a:spcAft>
              <a:buNone/>
            </a:pPr>
            <a:r>
              <a:rPr lang="en-US" sz="1500" b="1">
                <a:solidFill>
                  <a:schemeClr val="tx2"/>
                </a:solidFill>
                <a:latin typeface="Montserrat" pitchFamily="34" charset="0"/>
                <a:ea typeface="Montserrat" pitchFamily="34" charset="-122"/>
                <a:cs typeface="Montserrat" pitchFamily="34" charset="-120"/>
              </a:rPr>
              <a:t>5. Create one front door</a:t>
            </a:r>
            <a:endParaRPr lang="en-US" sz="900"/>
          </a:p>
          <a:p>
            <a:pPr marL="0" indent="0">
              <a:spcAft>
                <a:spcPts val="400"/>
              </a:spcAft>
              <a:buNone/>
            </a:pPr>
            <a:r>
              <a:rPr lang="en-US" sz="1200" i="1">
                <a:solidFill>
                  <a:schemeClr val="accent2"/>
                </a:solidFill>
              </a:rPr>
              <a:t>Engage Mecklenburg; Engage Fairfax; HC Engage</a:t>
            </a:r>
            <a:endParaRPr lang="en-US" sz="900"/>
          </a:p>
        </p:txBody>
      </p:sp>
      <p:sp>
        <p:nvSpPr>
          <p:cNvPr id="23" name="Practice area 6"/>
          <p:cNvSpPr/>
          <p:nvPr/>
        </p:nvSpPr>
        <p:spPr>
          <a:xfrm>
            <a:off x="6153912" y="4133088"/>
            <a:ext cx="5669280" cy="1325880"/>
          </a:xfrm>
          <a:prstGeom prst="roundRect">
            <a:avLst>
              <a:gd name="adj" fmla="val 5517"/>
            </a:avLst>
          </a:prstGeom>
          <a:solidFill>
            <a:schemeClr val="bg2"/>
          </a:solidFill>
          <a:ln w="9525">
            <a:solidFill>
              <a:schemeClr val="bg2"/>
            </a:solidFill>
            <a:prstDash val="solid"/>
          </a:ln>
        </p:spPr>
        <p:txBody>
          <a:bodyPr/>
          <a:lstStyle/>
          <a:p>
            <a:endParaRPr lang="en-US"/>
          </a:p>
        </p:txBody>
      </p:sp>
      <p:sp>
        <p:nvSpPr>
          <p:cNvPr id="24" name="Practice area 6 circle"/>
          <p:cNvSpPr/>
          <p:nvPr/>
        </p:nvSpPr>
        <p:spPr>
          <a:xfrm>
            <a:off x="6336792" y="4434840"/>
            <a:ext cx="731520" cy="731520"/>
          </a:xfrm>
          <a:prstGeom prst="ellipse">
            <a:avLst/>
          </a:prstGeom>
          <a:solidFill>
            <a:schemeClr val="accent2"/>
          </a:solidFill>
          <a:ln w="12700">
            <a:solidFill>
              <a:schemeClr val="accent2"/>
            </a:solidFill>
            <a:prstDash val="solid"/>
          </a:ln>
        </p:spPr>
        <p:txBody>
          <a:bodyPr/>
          <a:lstStyle/>
          <a:p>
            <a:endParaRPr lang="en-US"/>
          </a:p>
        </p:txBody>
      </p:sp>
      <p:pic>
        <p:nvPicPr>
          <p:cNvPr id="25" name="Practice area 6 icon" descr="preencoded.png"/>
          <p:cNvPicPr>
            <a:picLocks noChangeAspect="1"/>
          </p:cNvPicPr>
          <p:nvPr/>
        </p:nvPicPr>
        <p:blipFill>
          <a:blip r:embed="rId8"/>
          <a:stretch>
            <a:fillRect/>
          </a:stretch>
        </p:blipFill>
        <p:spPr>
          <a:xfrm>
            <a:off x="6512357" y="4610405"/>
            <a:ext cx="380390" cy="380390"/>
          </a:xfrm>
          <a:prstGeom prst="rect">
            <a:avLst/>
          </a:prstGeom>
        </p:spPr>
      </p:pic>
      <p:sp>
        <p:nvSpPr>
          <p:cNvPr id="26" name="Text 18"/>
          <p:cNvSpPr txBox="1"/>
          <p:nvPr/>
        </p:nvSpPr>
        <p:spPr>
          <a:xfrm>
            <a:off x="7251192" y="4206240"/>
            <a:ext cx="4434840" cy="1179576"/>
          </a:xfrm>
          <a:prstGeom prst="rect">
            <a:avLst/>
          </a:prstGeom>
          <a:noFill/>
          <a:ln/>
        </p:spPr>
        <p:txBody>
          <a:bodyPr wrap="square" lIns="0" tIns="0" rIns="0" bIns="0" rtlCol="0" anchor="ctr"/>
          <a:lstStyle/>
          <a:p>
            <a:pPr marL="0" indent="0">
              <a:spcAft>
                <a:spcPts val="400"/>
              </a:spcAft>
              <a:buNone/>
            </a:pPr>
            <a:r>
              <a:rPr lang="en-US" sz="1300" b="1" kern="0" spc="200">
                <a:solidFill>
                  <a:schemeClr val="accent1"/>
                </a:solidFill>
              </a:rPr>
              <a:t>BARRIER</a:t>
            </a:r>
            <a:r>
              <a:rPr lang="en-US" sz="900" b="1" kern="0" spc="200">
                <a:solidFill>
                  <a:schemeClr val="accent1"/>
                </a:solidFill>
              </a:rPr>
              <a:t>  </a:t>
            </a:r>
            <a:r>
              <a:rPr lang="en-US" sz="1200">
                <a:solidFill>
                  <a:schemeClr val="accent6"/>
                </a:solidFill>
              </a:rPr>
              <a:t>Residents rarely see what their input changed</a:t>
            </a:r>
            <a:endParaRPr lang="en-US" sz="900"/>
          </a:p>
          <a:p>
            <a:pPr marL="0" indent="0">
              <a:spcAft>
                <a:spcPts val="400"/>
              </a:spcAft>
              <a:buNone/>
            </a:pPr>
            <a:r>
              <a:rPr lang="en-US" sz="1500" b="1">
                <a:solidFill>
                  <a:schemeClr val="tx2"/>
                </a:solidFill>
                <a:latin typeface="Montserrat" pitchFamily="34" charset="0"/>
                <a:ea typeface="Montserrat" pitchFamily="34" charset="-122"/>
                <a:cs typeface="Montserrat" pitchFamily="34" charset="-120"/>
              </a:rPr>
              <a:t>6. Close the loop and measure</a:t>
            </a:r>
            <a:endParaRPr lang="en-US" sz="900"/>
          </a:p>
          <a:p>
            <a:pPr marL="0" indent="0">
              <a:spcAft>
                <a:spcPts val="400"/>
              </a:spcAft>
              <a:buNone/>
            </a:pPr>
            <a:r>
              <a:rPr lang="en-US" sz="1200" i="1">
                <a:solidFill>
                  <a:schemeClr val="accent2"/>
                </a:solidFill>
              </a:rPr>
              <a:t>Durham; Mecklenburg; Fairfax dashboards</a:t>
            </a:r>
            <a:endParaRPr lang="en-US" sz="900"/>
          </a:p>
        </p:txBody>
      </p:sp>
      <p:sp>
        <p:nvSpPr>
          <p:cNvPr id="27"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Barriers from Objective 1 findings; practices from team research on peer counties, North Carolina programs, and national models. </a:t>
            </a:r>
            <a:r>
              <a:rPr lang="en-US" sz="1000" u="sng">
                <a:solidFill>
                  <a:schemeClr val="accent2"/>
                </a:solidFill>
                <a:hlinkClick r:id="rId9"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28"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6</a:t>
            </a:fld>
            <a:endParaRPr lang="en-US"/>
          </a:p>
        </p:txBody>
      </p:sp>
      <p:pic>
        <p:nvPicPr>
          <p:cNvPr id="29" name="Picture 28">
            <a:extLst>
              <a:ext uri="{FF2B5EF4-FFF2-40B4-BE49-F238E27FC236}">
                <a16:creationId xmlns:a16="http://schemas.microsoft.com/office/drawing/2014/main" id="{99684425-E40C-6730-44B7-54EB65970A8B}"/>
              </a:ext>
            </a:extLst>
          </p:cNvPr>
          <p:cNvPicPr>
            <a:picLocks noChangeAspect="1"/>
          </p:cNvPicPr>
          <p:nvPr/>
        </p:nvPicPr>
        <p:blipFill>
          <a:blip r:embed="rId10"/>
          <a:stretch>
            <a:fillRect/>
          </a:stretch>
        </p:blipFill>
        <p:spPr>
          <a:xfrm>
            <a:off x="10702633" y="48335"/>
            <a:ext cx="1176475" cy="920929"/>
          </a:xfrm>
          <a:prstGeom prst="rect">
            <a:avLst/>
          </a:prstGeom>
        </p:spPr>
      </p:pic>
      <p:pic>
        <p:nvPicPr>
          <p:cNvPr id="30" name="Picture 29">
            <a:extLst>
              <a:ext uri="{FF2B5EF4-FFF2-40B4-BE49-F238E27FC236}">
                <a16:creationId xmlns:a16="http://schemas.microsoft.com/office/drawing/2014/main" id="{F7100213-B3CE-832E-C4E1-BF1B59C89FE0}"/>
              </a:ext>
            </a:extLst>
          </p:cNvPr>
          <p:cNvPicPr>
            <a:picLocks noChangeAspect="1"/>
          </p:cNvPicPr>
          <p:nvPr/>
        </p:nvPicPr>
        <p:blipFill>
          <a:blip r:embed="rId11"/>
          <a:stretch>
            <a:fillRect/>
          </a:stretch>
        </p:blipFill>
        <p:spPr>
          <a:xfrm>
            <a:off x="1261872" y="6149993"/>
            <a:ext cx="534000" cy="6193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pPr marL="0" indent="0" algn="l">
              <a:buNone/>
            </a:pPr>
            <a:r>
              <a:rPr lang="en-US" sz="2400" b="1">
                <a:solidFill>
                  <a:schemeClr val="tx1"/>
                </a:solidFill>
                <a:latin typeface="Montserrat" pitchFamily="34" charset="0"/>
                <a:ea typeface="Montserrat" pitchFamily="34" charset="-122"/>
                <a:cs typeface="Montserrat" pitchFamily="34" charset="-120"/>
              </a:rPr>
              <a:t>A Shared Standard Creates One Countywide Baseline</a:t>
            </a:r>
            <a:endParaRPr lang="en-US" sz="2400"/>
          </a:p>
        </p:txBody>
      </p:sp>
      <p:sp>
        <p:nvSpPr>
          <p:cNvPr id="3" name="Text 1"/>
          <p:cNvSpPr txBox="1"/>
          <p:nvPr/>
        </p:nvSpPr>
        <p:spPr>
          <a:xfrm>
            <a:off x="365760" y="1188720"/>
            <a:ext cx="5394960" cy="292608"/>
          </a:xfrm>
          <a:prstGeom prst="rect">
            <a:avLst/>
          </a:prstGeom>
          <a:noFill/>
          <a:ln/>
        </p:spPr>
        <p:txBody>
          <a:bodyPr wrap="square" lIns="0" tIns="0" rIns="0" bIns="0" rtlCol="0" anchor="ctr"/>
          <a:lstStyle/>
          <a:p>
            <a:r>
              <a:rPr lang="en-US" sz="1400">
                <a:solidFill>
                  <a:schemeClr val="accent2"/>
                </a:solidFill>
                <a:latin typeface="Aptos" panose="020B0004020202020204" pitchFamily="34" charset="0"/>
                <a:ea typeface="+mn-lt"/>
                <a:cs typeface="+mn-lt"/>
              </a:rPr>
              <a:t>Buncombe County: One Engagement Ladder Across All Departments</a:t>
            </a:r>
            <a:endParaRPr lang="en-US">
              <a:solidFill>
                <a:schemeClr val="accent2"/>
              </a:solidFill>
              <a:latin typeface="Aptos" panose="020B0004020202020204" pitchFamily="34" charset="0"/>
              <a:ea typeface="+mn-lt"/>
              <a:cs typeface="+mn-lt"/>
            </a:endParaRPr>
          </a:p>
        </p:txBody>
      </p:sp>
      <p:sp>
        <p:nvSpPr>
          <p:cNvPr id="4" name="Text 2"/>
          <p:cNvSpPr/>
          <p:nvPr/>
        </p:nvSpPr>
        <p:spPr>
          <a:xfrm>
            <a:off x="457200" y="2834640"/>
            <a:ext cx="1207008" cy="685800"/>
          </a:xfrm>
          <a:prstGeom prst="rect">
            <a:avLst/>
          </a:prstGeom>
          <a:solidFill>
            <a:schemeClr val="accent5"/>
          </a:solidFill>
          <a:ln/>
        </p:spPr>
        <p:txBody>
          <a:bodyPr wrap="square" lIns="0" tIns="0" rIns="0" bIns="76200" rtlCol="0" anchor="b"/>
          <a:lstStyle/>
          <a:p>
            <a:pPr marL="0" indent="0" algn="ctr">
              <a:buNone/>
            </a:pPr>
            <a:r>
              <a:rPr lang="en-US" sz="1300" b="1">
                <a:solidFill>
                  <a:schemeClr val="tx2"/>
                </a:solidFill>
                <a:latin typeface="Montserrat" pitchFamily="34" charset="0"/>
                <a:ea typeface="Montserrat" pitchFamily="34" charset="-122"/>
                <a:cs typeface="Montserrat" pitchFamily="34" charset="-120"/>
              </a:rPr>
              <a:t>Inform</a:t>
            </a:r>
            <a:endParaRPr lang="en-US" sz="1300"/>
          </a:p>
        </p:txBody>
      </p:sp>
      <p:sp>
        <p:nvSpPr>
          <p:cNvPr id="5" name="Text 3"/>
          <p:cNvSpPr/>
          <p:nvPr/>
        </p:nvSpPr>
        <p:spPr>
          <a:xfrm>
            <a:off x="1755648" y="2450592"/>
            <a:ext cx="1207008" cy="1069848"/>
          </a:xfrm>
          <a:prstGeom prst="rect">
            <a:avLst/>
          </a:prstGeom>
          <a:solidFill>
            <a:schemeClr val="accent3"/>
          </a:solidFill>
          <a:ln/>
        </p:spPr>
        <p:txBody>
          <a:bodyPr wrap="square" lIns="0" tIns="0" rIns="0" bIns="76200" rtlCol="0" anchor="b"/>
          <a:lstStyle/>
          <a:p>
            <a:pPr marL="0" indent="0" algn="ctr">
              <a:buNone/>
            </a:pPr>
            <a:r>
              <a:rPr lang="en-US" sz="1300" b="1">
                <a:solidFill>
                  <a:schemeClr val="tx2"/>
                </a:solidFill>
                <a:latin typeface="Montserrat" pitchFamily="34" charset="0"/>
                <a:ea typeface="Montserrat" pitchFamily="34" charset="-122"/>
                <a:cs typeface="Montserrat" pitchFamily="34" charset="-120"/>
              </a:rPr>
              <a:t>Consult</a:t>
            </a:r>
            <a:endParaRPr lang="en-US" sz="1300"/>
          </a:p>
        </p:txBody>
      </p:sp>
      <p:sp>
        <p:nvSpPr>
          <p:cNvPr id="6" name="Text 4"/>
          <p:cNvSpPr/>
          <p:nvPr/>
        </p:nvSpPr>
        <p:spPr>
          <a:xfrm>
            <a:off x="3054096" y="2066544"/>
            <a:ext cx="1207008" cy="1453896"/>
          </a:xfrm>
          <a:prstGeom prst="rect">
            <a:avLst/>
          </a:prstGeom>
          <a:solidFill>
            <a:schemeClr val="accent2"/>
          </a:solidFill>
          <a:ln/>
        </p:spPr>
        <p:txBody>
          <a:bodyPr wrap="square" lIns="0" tIns="0" rIns="0" bIns="76200" rtlCol="0" anchor="b"/>
          <a:lstStyle/>
          <a:p>
            <a:pPr marL="0" indent="0" algn="ctr">
              <a:buNone/>
            </a:pPr>
            <a:r>
              <a:rPr lang="en-US" sz="1300" b="1">
                <a:solidFill>
                  <a:schemeClr val="bg1"/>
                </a:solidFill>
                <a:latin typeface="Montserrat" pitchFamily="34" charset="0"/>
                <a:ea typeface="Montserrat" pitchFamily="34" charset="-122"/>
                <a:cs typeface="Montserrat" pitchFamily="34" charset="-120"/>
              </a:rPr>
              <a:t>Engage</a:t>
            </a:r>
            <a:endParaRPr lang="en-US" sz="1300"/>
          </a:p>
        </p:txBody>
      </p:sp>
      <p:sp>
        <p:nvSpPr>
          <p:cNvPr id="7" name="Text 5"/>
          <p:cNvSpPr/>
          <p:nvPr/>
        </p:nvSpPr>
        <p:spPr>
          <a:xfrm>
            <a:off x="4352544" y="1682496"/>
            <a:ext cx="1207008" cy="1837944"/>
          </a:xfrm>
          <a:prstGeom prst="rect">
            <a:avLst/>
          </a:prstGeom>
          <a:solidFill>
            <a:schemeClr val="tx2"/>
          </a:solidFill>
          <a:ln/>
        </p:spPr>
        <p:txBody>
          <a:bodyPr wrap="square" lIns="0" tIns="0" rIns="0" bIns="76200" rtlCol="0" anchor="b"/>
          <a:lstStyle/>
          <a:p>
            <a:pPr marL="0" indent="0" algn="ctr">
              <a:buNone/>
            </a:pPr>
            <a:r>
              <a:rPr lang="en-US" sz="1300" b="1">
                <a:solidFill>
                  <a:schemeClr val="bg1"/>
                </a:solidFill>
                <a:latin typeface="Montserrat" pitchFamily="34" charset="0"/>
                <a:ea typeface="Montserrat" pitchFamily="34" charset="-122"/>
                <a:cs typeface="Montserrat" pitchFamily="34" charset="-120"/>
              </a:rPr>
              <a:t>Partner</a:t>
            </a:r>
            <a:endParaRPr lang="en-US" sz="1300"/>
          </a:p>
        </p:txBody>
      </p:sp>
      <p:sp>
        <p:nvSpPr>
          <p:cNvPr id="8" name="Text 6"/>
          <p:cNvSpPr txBox="1"/>
          <p:nvPr/>
        </p:nvSpPr>
        <p:spPr>
          <a:xfrm>
            <a:off x="457200" y="3566160"/>
            <a:ext cx="5120640" cy="237744"/>
          </a:xfrm>
          <a:prstGeom prst="rect">
            <a:avLst/>
          </a:prstGeom>
          <a:noFill/>
          <a:ln/>
        </p:spPr>
        <p:txBody>
          <a:bodyPr wrap="square" lIns="0" tIns="0" rIns="0" bIns="0" rtlCol="0" anchor="ctr"/>
          <a:lstStyle/>
          <a:p>
            <a:pPr marL="0" indent="0">
              <a:buNone/>
            </a:pPr>
            <a:r>
              <a:rPr lang="en-US" sz="1100" i="1">
                <a:solidFill>
                  <a:schemeClr val="accent6"/>
                </a:solidFill>
              </a:rPr>
              <a:t>Level of resident influence  →</a:t>
            </a:r>
            <a:endParaRPr lang="en-US" sz="1100"/>
          </a:p>
        </p:txBody>
      </p:sp>
      <p:sp>
        <p:nvSpPr>
          <p:cNvPr id="9" name="Text 7"/>
          <p:cNvSpPr txBox="1"/>
          <p:nvPr/>
        </p:nvSpPr>
        <p:spPr>
          <a:xfrm>
            <a:off x="457200" y="3858768"/>
            <a:ext cx="5212080" cy="868680"/>
          </a:xfrm>
          <a:prstGeom prst="rect">
            <a:avLst/>
          </a:prstGeom>
          <a:noFill/>
          <a:ln/>
        </p:spPr>
        <p:txBody>
          <a:bodyPr wrap="square" lIns="0" tIns="0" rIns="0" bIns="0" rtlCol="0" anchor="t"/>
          <a:lstStyle/>
          <a:p>
            <a:pPr marL="0" indent="0">
              <a:buNone/>
            </a:pPr>
            <a:r>
              <a:rPr lang="en-US" sz="1300">
                <a:solidFill>
                  <a:schemeClr val="tx1"/>
                </a:solidFill>
              </a:rPr>
              <a:t>Buncombe's Community Engagement office uses the ICEP levels to define public participation across its outreach, surveys, town halls, focus groups, and board recruitment.</a:t>
            </a:r>
          </a:p>
          <a:p>
            <a:endParaRPr lang="en-US" sz="1300">
              <a:ea typeface="Calibri"/>
              <a:cs typeface="Calibri"/>
            </a:endParaRPr>
          </a:p>
          <a:p>
            <a:endParaRPr lang="en-US" sz="1300">
              <a:ea typeface="Calibri"/>
              <a:cs typeface="Calibri"/>
            </a:endParaRPr>
          </a:p>
        </p:txBody>
      </p:sp>
      <p:sp>
        <p:nvSpPr>
          <p:cNvPr id="10" name="Text 8"/>
          <p:cNvSpPr txBox="1"/>
          <p:nvPr/>
        </p:nvSpPr>
        <p:spPr>
          <a:xfrm>
            <a:off x="6172200" y="1188720"/>
            <a:ext cx="5669280" cy="292608"/>
          </a:xfrm>
          <a:prstGeom prst="rect">
            <a:avLst/>
          </a:prstGeom>
          <a:noFill/>
          <a:ln/>
        </p:spPr>
        <p:txBody>
          <a:bodyPr wrap="square" lIns="0" tIns="0" rIns="0" bIns="0" rtlCol="0" anchor="ctr"/>
          <a:lstStyle/>
          <a:p>
            <a:r>
              <a:rPr lang="en-US" sz="1400">
                <a:solidFill>
                  <a:schemeClr val="accent2"/>
                </a:solidFill>
                <a:latin typeface="Aptos" panose="020B0004020202020204" pitchFamily="34" charset="0"/>
                <a:ea typeface="+mn-lt"/>
                <a:cs typeface="+mn-lt"/>
              </a:rPr>
              <a:t>Fairfax County: Eight Considerations That Define Engagement</a:t>
            </a:r>
            <a:endParaRPr lang="en-US">
              <a:solidFill>
                <a:schemeClr val="accent2"/>
              </a:solidFill>
              <a:latin typeface="Aptos" panose="020B0004020202020204" pitchFamily="34" charset="0"/>
              <a:ea typeface="+mn-lt"/>
              <a:cs typeface="+mn-lt"/>
            </a:endParaRPr>
          </a:p>
        </p:txBody>
      </p:sp>
      <p:sp>
        <p:nvSpPr>
          <p:cNvPr id="11" name="Text 9"/>
          <p:cNvSpPr/>
          <p:nvPr/>
        </p:nvSpPr>
        <p:spPr>
          <a:xfrm>
            <a:off x="6172200" y="1572768"/>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Language access</a:t>
            </a:r>
            <a:endParaRPr lang="en-US" sz="1200"/>
          </a:p>
        </p:txBody>
      </p:sp>
      <p:sp>
        <p:nvSpPr>
          <p:cNvPr id="12" name="Text 10"/>
          <p:cNvSpPr/>
          <p:nvPr/>
        </p:nvSpPr>
        <p:spPr>
          <a:xfrm>
            <a:off x="7589520" y="1572768"/>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Plain language</a:t>
            </a:r>
            <a:endParaRPr lang="en-US" sz="1200"/>
          </a:p>
        </p:txBody>
      </p:sp>
      <p:sp>
        <p:nvSpPr>
          <p:cNvPr id="13" name="Text 11"/>
          <p:cNvSpPr/>
          <p:nvPr/>
        </p:nvSpPr>
        <p:spPr>
          <a:xfrm>
            <a:off x="9006840" y="1572768"/>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Culture</a:t>
            </a:r>
            <a:endParaRPr lang="en-US" sz="1200"/>
          </a:p>
        </p:txBody>
      </p:sp>
      <p:sp>
        <p:nvSpPr>
          <p:cNvPr id="14" name="Text 12"/>
          <p:cNvSpPr/>
          <p:nvPr/>
        </p:nvSpPr>
        <p:spPr>
          <a:xfrm>
            <a:off x="10424160" y="1572768"/>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Accessibility</a:t>
            </a:r>
            <a:endParaRPr lang="en-US" sz="1200"/>
          </a:p>
        </p:txBody>
      </p:sp>
      <p:sp>
        <p:nvSpPr>
          <p:cNvPr id="15" name="Text 13"/>
          <p:cNvSpPr/>
          <p:nvPr/>
        </p:nvSpPr>
        <p:spPr>
          <a:xfrm>
            <a:off x="6172200" y="2139696"/>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Digital equity</a:t>
            </a:r>
            <a:endParaRPr lang="en-US" sz="1200"/>
          </a:p>
        </p:txBody>
      </p:sp>
      <p:sp>
        <p:nvSpPr>
          <p:cNvPr id="16" name="Text 14"/>
          <p:cNvSpPr/>
          <p:nvPr/>
        </p:nvSpPr>
        <p:spPr>
          <a:xfrm>
            <a:off x="7589520" y="2139696"/>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Virtual access</a:t>
            </a:r>
            <a:endParaRPr lang="en-US" sz="1200"/>
          </a:p>
        </p:txBody>
      </p:sp>
      <p:sp>
        <p:nvSpPr>
          <p:cNvPr id="17" name="Text 15"/>
          <p:cNvSpPr/>
          <p:nvPr/>
        </p:nvSpPr>
        <p:spPr>
          <a:xfrm>
            <a:off x="9006840" y="2139696"/>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Geography</a:t>
            </a:r>
            <a:endParaRPr lang="en-US" sz="1200"/>
          </a:p>
        </p:txBody>
      </p:sp>
      <p:sp>
        <p:nvSpPr>
          <p:cNvPr id="18" name="Text 16"/>
          <p:cNvSpPr/>
          <p:nvPr/>
        </p:nvSpPr>
        <p:spPr>
          <a:xfrm>
            <a:off x="10424160" y="2139696"/>
            <a:ext cx="1325880" cy="475488"/>
          </a:xfrm>
          <a:prstGeom prst="roundRect">
            <a:avLst>
              <a:gd name="adj" fmla="val 11538"/>
            </a:avLst>
          </a:prstGeom>
          <a:solidFill>
            <a:schemeClr val="bg2"/>
          </a:solidFill>
          <a:ln w="12700">
            <a:solidFill>
              <a:schemeClr val="accent3"/>
            </a:solidFill>
          </a:ln>
        </p:spPr>
        <p:txBody>
          <a:bodyPr wrap="square" lIns="38100" tIns="38100" rIns="38100" bIns="38100" rtlCol="0" anchor="ctr"/>
          <a:lstStyle/>
          <a:p>
            <a:pPr marL="0" indent="0" algn="ctr">
              <a:buNone/>
            </a:pPr>
            <a:r>
              <a:rPr lang="en-US" sz="1200" b="1">
                <a:solidFill>
                  <a:schemeClr val="tx2"/>
                </a:solidFill>
              </a:rPr>
              <a:t>Meeting time</a:t>
            </a:r>
            <a:endParaRPr lang="en-US" sz="1200"/>
          </a:p>
        </p:txBody>
      </p:sp>
      <p:sp>
        <p:nvSpPr>
          <p:cNvPr id="19" name="Text 17"/>
          <p:cNvSpPr txBox="1"/>
          <p:nvPr/>
        </p:nvSpPr>
        <p:spPr>
          <a:xfrm>
            <a:off x="6172200" y="2788920"/>
            <a:ext cx="5623560" cy="1005840"/>
          </a:xfrm>
          <a:prstGeom prst="rect">
            <a:avLst/>
          </a:prstGeom>
          <a:noFill/>
          <a:ln/>
        </p:spPr>
        <p:txBody>
          <a:bodyPr wrap="square" lIns="0" tIns="0" rIns="0" bIns="0" rtlCol="0" anchor="t"/>
          <a:lstStyle/>
          <a:p>
            <a:r>
              <a:rPr lang="en-US" sz="1300"/>
              <a:t>Under One Fairfax, departments </a:t>
            </a:r>
            <a:r>
              <a:rPr lang="en-US" sz="1300" b="1"/>
              <a:t>set their own goals and action plans</a:t>
            </a:r>
            <a:r>
              <a:rPr lang="en-US" sz="1300"/>
              <a:t>, staff are trained on equity tools, and the county </a:t>
            </a:r>
            <a:r>
              <a:rPr lang="en-US" sz="1300" b="1"/>
              <a:t>publishes results broken down by group</a:t>
            </a:r>
            <a:r>
              <a:rPr lang="en-US" sz="1300"/>
              <a:t>. The standard is shared, but each department owns its plan. </a:t>
            </a:r>
          </a:p>
        </p:txBody>
      </p:sp>
      <p:sp>
        <p:nvSpPr>
          <p:cNvPr id="20" name="Text 18"/>
          <p:cNvSpPr txBox="1"/>
          <p:nvPr/>
        </p:nvSpPr>
        <p:spPr>
          <a:xfrm>
            <a:off x="6172200" y="3858768"/>
            <a:ext cx="5623560" cy="822960"/>
          </a:xfrm>
          <a:prstGeom prst="rect">
            <a:avLst/>
          </a:prstGeom>
          <a:noFill/>
          <a:ln/>
        </p:spPr>
        <p:txBody>
          <a:bodyPr wrap="square" lIns="0" tIns="0" rIns="0" bIns="0" rtlCol="0" anchor="t"/>
          <a:lstStyle/>
          <a:p>
            <a:r>
              <a:rPr lang="en-US" sz="1300" i="1">
                <a:solidFill>
                  <a:schemeClr val="accent2"/>
                </a:solidFill>
                <a:ea typeface="+mn-lt"/>
                <a:cs typeface="+mn-lt"/>
              </a:rPr>
              <a:t>Both models preserve departmental flexibility while establishing a shared definition of engagement. The models also clearly distinguish between simple education and meaningful engagement. </a:t>
            </a:r>
          </a:p>
        </p:txBody>
      </p:sp>
      <p:sp>
        <p:nvSpPr>
          <p:cNvPr id="21" name="Fit for Wake panel"/>
          <p:cNvSpPr/>
          <p:nvPr/>
        </p:nvSpPr>
        <p:spPr>
          <a:xfrm>
            <a:off x="365760" y="4828032"/>
            <a:ext cx="11457432" cy="786384"/>
          </a:xfrm>
          <a:prstGeom prst="roundRect">
            <a:avLst>
              <a:gd name="adj" fmla="val 9302"/>
            </a:avLst>
          </a:prstGeom>
          <a:solidFill>
            <a:schemeClr val="bg2"/>
          </a:solidFill>
          <a:ln w="9525">
            <a:solidFill>
              <a:schemeClr val="bg2"/>
            </a:solidFill>
            <a:prstDash val="solid"/>
          </a:ln>
        </p:spPr>
        <p:txBody>
          <a:bodyPr/>
          <a:lstStyle/>
          <a:p>
            <a:endParaRPr lang="en-US"/>
          </a:p>
        </p:txBody>
      </p:sp>
      <p:sp>
        <p:nvSpPr>
          <p:cNvPr id="22" name="Wake today"/>
          <p:cNvSpPr txBox="1"/>
          <p:nvPr/>
        </p:nvSpPr>
        <p:spPr>
          <a:xfrm>
            <a:off x="548640" y="4882896"/>
            <a:ext cx="4663440" cy="676656"/>
          </a:xfrm>
          <a:prstGeom prst="rect">
            <a:avLst/>
          </a:prstGeom>
          <a:noFill/>
          <a:ln/>
        </p:spPr>
        <p:txBody>
          <a:bodyPr wrap="square" lIns="0" tIns="0" rIns="0" bIns="0" rtlCol="0" anchor="ctr"/>
          <a:lstStyle/>
          <a:p>
            <a:r>
              <a:rPr lang="en-US" sz="1200" b="1">
                <a:solidFill>
                  <a:schemeClr val="accent2"/>
                </a:solidFill>
              </a:rPr>
              <a:t>Wake County today</a:t>
            </a:r>
            <a:endParaRPr lang="en-US" sz="1200">
              <a:solidFill>
                <a:schemeClr val="accent2"/>
              </a:solidFill>
            </a:endParaRPr>
          </a:p>
          <a:p>
            <a:pPr marL="0" indent="0">
              <a:buNone/>
            </a:pPr>
            <a:r>
              <a:rPr lang="en-US" sz="1200">
                <a:solidFill>
                  <a:schemeClr val="tx1"/>
                </a:solidFill>
              </a:rPr>
              <a:t>No common countywide definition. Each department chooses its own methods and level of resident influence.</a:t>
            </a:r>
            <a:endParaRPr lang="en-US" sz="1200"/>
          </a:p>
        </p:txBody>
      </p:sp>
      <p:sp>
        <p:nvSpPr>
          <p:cNvPr id="23" name="What it would take"/>
          <p:cNvSpPr txBox="1"/>
          <p:nvPr/>
        </p:nvSpPr>
        <p:spPr>
          <a:xfrm>
            <a:off x="5440680" y="4882896"/>
            <a:ext cx="4343400" cy="676656"/>
          </a:xfrm>
          <a:prstGeom prst="rect">
            <a:avLst/>
          </a:prstGeom>
          <a:noFill/>
          <a:ln/>
        </p:spPr>
        <p:txBody>
          <a:bodyPr wrap="square" lIns="0" tIns="0" rIns="0" bIns="0" rtlCol="0" anchor="ctr"/>
          <a:lstStyle/>
          <a:p>
            <a:pPr marL="0" indent="0">
              <a:buNone/>
            </a:pPr>
            <a:r>
              <a:rPr lang="en-US" sz="1200" b="1">
                <a:solidFill>
                  <a:schemeClr val="accent2"/>
                </a:solidFill>
              </a:rPr>
              <a:t>What it would take</a:t>
            </a:r>
            <a:endParaRPr lang="en-US" sz="1200"/>
          </a:p>
          <a:p>
            <a:pPr marL="0" indent="0">
              <a:buNone/>
            </a:pPr>
            <a:r>
              <a:rPr lang="en-US" sz="1200">
                <a:solidFill>
                  <a:schemeClr val="tx1"/>
                </a:solidFill>
              </a:rPr>
              <a:t>Mostly policy and training work. The IAP2 levels from our Objective 1 classification could serve as the starting point.</a:t>
            </a:r>
            <a:endParaRPr lang="en-US" sz="1200"/>
          </a:p>
        </p:txBody>
      </p:sp>
      <p:sp>
        <p:nvSpPr>
          <p:cNvPr id="24" name="Feasibility rating"/>
          <p:cNvSpPr/>
          <p:nvPr/>
        </p:nvSpPr>
        <p:spPr>
          <a:xfrm>
            <a:off x="10012680" y="4937760"/>
            <a:ext cx="1645920" cy="566928"/>
          </a:xfrm>
          <a:prstGeom prst="roundRect">
            <a:avLst>
              <a:gd name="adj" fmla="val 12903"/>
            </a:avLst>
          </a:prstGeom>
          <a:solidFill>
            <a:schemeClr val="accent4"/>
          </a:solidFill>
          <a:ln/>
        </p:spPr>
        <p:txBody>
          <a:bodyPr wrap="square" lIns="0" tIns="0" rIns="0" bIns="0" rtlCol="0" anchor="ctr"/>
          <a:lstStyle/>
          <a:p>
            <a:pPr marL="0" indent="0" algn="ctr">
              <a:buNone/>
            </a:pPr>
            <a:r>
              <a:rPr lang="en-US" sz="900" kern="0" spc="200">
                <a:solidFill>
                  <a:schemeClr val="bg1"/>
                </a:solidFill>
              </a:rPr>
              <a:t>FEASIBILITY</a:t>
            </a:r>
            <a:endParaRPr lang="en-US" sz="900"/>
          </a:p>
          <a:p>
            <a:pPr marL="0" indent="0" algn="ctr">
              <a:buNone/>
            </a:pPr>
            <a:r>
              <a:rPr lang="en-US" sz="1800" b="1">
                <a:solidFill>
                  <a:schemeClr val="bg1"/>
                </a:solidFill>
                <a:latin typeface="Montserrat" pitchFamily="34" charset="0"/>
                <a:ea typeface="Montserrat" pitchFamily="34" charset="-122"/>
                <a:cs typeface="Montserrat" pitchFamily="34" charset="-120"/>
              </a:rPr>
              <a:t>High</a:t>
            </a:r>
            <a:endParaRPr lang="en-US" sz="900"/>
          </a:p>
        </p:txBody>
      </p:sp>
      <p:sp>
        <p:nvSpPr>
          <p:cNvPr id="25"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Buncombe County Community Engagement; One Fairfax Policy; Fairfax County Strategic Plan Annual Report. </a:t>
            </a:r>
            <a:r>
              <a:rPr lang="en-US" sz="1000" u="sng">
                <a:solidFill>
                  <a:schemeClr val="accent2"/>
                </a:solidFill>
                <a:hlinkClick r:id="rId3"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26"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7</a:t>
            </a:fld>
            <a:endParaRPr lang="en-US"/>
          </a:p>
        </p:txBody>
      </p:sp>
      <p:pic>
        <p:nvPicPr>
          <p:cNvPr id="27" name="Picture 26">
            <a:extLst>
              <a:ext uri="{FF2B5EF4-FFF2-40B4-BE49-F238E27FC236}">
                <a16:creationId xmlns:a16="http://schemas.microsoft.com/office/drawing/2014/main" id="{0B0A2676-2C28-7570-840E-4924B8717118}"/>
              </a:ext>
            </a:extLst>
          </p:cNvPr>
          <p:cNvPicPr>
            <a:picLocks noChangeAspect="1"/>
          </p:cNvPicPr>
          <p:nvPr/>
        </p:nvPicPr>
        <p:blipFill>
          <a:blip r:embed="rId4"/>
          <a:stretch>
            <a:fillRect/>
          </a:stretch>
        </p:blipFill>
        <p:spPr>
          <a:xfrm>
            <a:off x="10702633" y="48335"/>
            <a:ext cx="1176475" cy="920929"/>
          </a:xfrm>
          <a:prstGeom prst="rect">
            <a:avLst/>
          </a:prstGeom>
        </p:spPr>
      </p:pic>
      <p:pic>
        <p:nvPicPr>
          <p:cNvPr id="28" name="Picture 27">
            <a:extLst>
              <a:ext uri="{FF2B5EF4-FFF2-40B4-BE49-F238E27FC236}">
                <a16:creationId xmlns:a16="http://schemas.microsoft.com/office/drawing/2014/main" id="{51736BB5-6ED1-6BFE-5912-E09EA70E69DE}"/>
              </a:ext>
            </a:extLst>
          </p:cNvPr>
          <p:cNvPicPr>
            <a:picLocks noChangeAspect="1"/>
          </p:cNvPicPr>
          <p:nvPr/>
        </p:nvPicPr>
        <p:blipFill>
          <a:blip r:embed="rId5"/>
          <a:stretch>
            <a:fillRect/>
          </a:stretch>
        </p:blipFill>
        <p:spPr>
          <a:xfrm>
            <a:off x="1261872" y="6149993"/>
            <a:ext cx="534000" cy="6193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pPr marL="0" indent="0" algn="l">
              <a:buNone/>
            </a:pPr>
            <a:r>
              <a:rPr lang="en-US" sz="2400" b="1">
                <a:solidFill>
                  <a:schemeClr val="tx1"/>
                </a:solidFill>
                <a:latin typeface="Montserrat" pitchFamily="34" charset="0"/>
                <a:ea typeface="Montserrat" pitchFamily="34" charset="-122"/>
                <a:cs typeface="Montserrat" pitchFamily="34" charset="-120"/>
              </a:rPr>
              <a:t>Taking Engagement to Residents Widens Participation</a:t>
            </a:r>
            <a:endParaRPr lang="en-US" sz="2400"/>
          </a:p>
        </p:txBody>
      </p:sp>
      <p:sp>
        <p:nvSpPr>
          <p:cNvPr id="3" name="Text 1"/>
          <p:cNvSpPr txBox="1"/>
          <p:nvPr/>
        </p:nvSpPr>
        <p:spPr>
          <a:xfrm>
            <a:off x="365760" y="1188720"/>
            <a:ext cx="3931920" cy="292608"/>
          </a:xfrm>
          <a:prstGeom prst="rect">
            <a:avLst/>
          </a:prstGeom>
          <a:noFill/>
          <a:ln/>
        </p:spPr>
        <p:txBody>
          <a:bodyPr wrap="square" lIns="0" tIns="0" rIns="0" bIns="0" rtlCol="0" anchor="ctr"/>
          <a:lstStyle/>
          <a:p>
            <a:pPr marL="0" indent="0">
              <a:buNone/>
            </a:pPr>
            <a:r>
              <a:rPr lang="en-US" sz="1400" b="1">
                <a:solidFill>
                  <a:schemeClr val="accent2"/>
                </a:solidFill>
              </a:rPr>
              <a:t>Buncombe County 2043 Comprehensive Plan</a:t>
            </a:r>
            <a:endParaRPr lang="en-US" sz="1400"/>
          </a:p>
        </p:txBody>
      </p:sp>
      <p:sp>
        <p:nvSpPr>
          <p:cNvPr id="4" name="Stat 5,233"/>
          <p:cNvSpPr/>
          <p:nvPr/>
        </p:nvSpPr>
        <p:spPr>
          <a:xfrm>
            <a:off x="365760" y="1572768"/>
            <a:ext cx="3840480" cy="932688"/>
          </a:xfrm>
          <a:prstGeom prst="roundRect">
            <a:avLst>
              <a:gd name="adj" fmla="val 7843"/>
            </a:avLst>
          </a:prstGeom>
          <a:solidFill>
            <a:schemeClr val="accent2"/>
          </a:solidFill>
          <a:ln w="9525">
            <a:solidFill>
              <a:schemeClr val="accent2"/>
            </a:solidFill>
            <a:prstDash val="solid"/>
          </a:ln>
        </p:spPr>
        <p:txBody>
          <a:bodyPr/>
          <a:lstStyle/>
          <a:p>
            <a:endParaRPr lang="en-US"/>
          </a:p>
        </p:txBody>
      </p:sp>
      <p:sp>
        <p:nvSpPr>
          <p:cNvPr id="5" name="Text 3"/>
          <p:cNvSpPr txBox="1"/>
          <p:nvPr/>
        </p:nvSpPr>
        <p:spPr>
          <a:xfrm>
            <a:off x="502920" y="1572768"/>
            <a:ext cx="1600200" cy="932688"/>
          </a:xfrm>
          <a:prstGeom prst="rect">
            <a:avLst/>
          </a:prstGeom>
          <a:noFill/>
          <a:ln/>
        </p:spPr>
        <p:txBody>
          <a:bodyPr wrap="square" lIns="0" tIns="0" rIns="0" bIns="0" rtlCol="0" anchor="ctr"/>
          <a:lstStyle/>
          <a:p>
            <a:pPr marL="0" indent="0">
              <a:buNone/>
            </a:pPr>
            <a:r>
              <a:rPr lang="en-US" sz="3000" b="1">
                <a:solidFill>
                  <a:schemeClr val="bg1"/>
                </a:solidFill>
                <a:latin typeface="Montserrat" pitchFamily="34" charset="0"/>
                <a:ea typeface="Montserrat" pitchFamily="34" charset="-122"/>
                <a:cs typeface="Montserrat" pitchFamily="34" charset="-120"/>
              </a:rPr>
              <a:t>5,233</a:t>
            </a:r>
            <a:endParaRPr lang="en-US" sz="3000"/>
          </a:p>
        </p:txBody>
      </p:sp>
      <p:sp>
        <p:nvSpPr>
          <p:cNvPr id="6" name="Text 4"/>
          <p:cNvSpPr txBox="1"/>
          <p:nvPr/>
        </p:nvSpPr>
        <p:spPr>
          <a:xfrm>
            <a:off x="2103120" y="1572768"/>
            <a:ext cx="2011680" cy="932688"/>
          </a:xfrm>
          <a:prstGeom prst="rect">
            <a:avLst/>
          </a:prstGeom>
          <a:noFill/>
          <a:ln/>
        </p:spPr>
        <p:txBody>
          <a:bodyPr wrap="square" lIns="0" tIns="0" rIns="0" bIns="0" rtlCol="0" anchor="ctr"/>
          <a:lstStyle/>
          <a:p>
            <a:pPr marL="0" indent="0">
              <a:buNone/>
            </a:pPr>
            <a:r>
              <a:rPr lang="en-US" sz="1300">
                <a:solidFill>
                  <a:schemeClr val="bg1"/>
                </a:solidFill>
              </a:rPr>
              <a:t>residents engaged over two years</a:t>
            </a:r>
            <a:endParaRPr lang="en-US" sz="1300"/>
          </a:p>
        </p:txBody>
      </p:sp>
      <p:sp>
        <p:nvSpPr>
          <p:cNvPr id="7" name="Stat 100+"/>
          <p:cNvSpPr/>
          <p:nvPr/>
        </p:nvSpPr>
        <p:spPr>
          <a:xfrm>
            <a:off x="365760" y="2624328"/>
            <a:ext cx="3840480" cy="932688"/>
          </a:xfrm>
          <a:prstGeom prst="roundRect">
            <a:avLst>
              <a:gd name="adj" fmla="val 7843"/>
            </a:avLst>
          </a:prstGeom>
          <a:solidFill>
            <a:schemeClr val="bg2"/>
          </a:solidFill>
          <a:ln w="9525">
            <a:solidFill>
              <a:schemeClr val="bg2"/>
            </a:solidFill>
            <a:prstDash val="solid"/>
          </a:ln>
        </p:spPr>
        <p:txBody>
          <a:bodyPr/>
          <a:lstStyle/>
          <a:p>
            <a:endParaRPr lang="en-US"/>
          </a:p>
        </p:txBody>
      </p:sp>
      <p:sp>
        <p:nvSpPr>
          <p:cNvPr id="8" name="Text 6"/>
          <p:cNvSpPr txBox="1"/>
          <p:nvPr/>
        </p:nvSpPr>
        <p:spPr>
          <a:xfrm>
            <a:off x="502920" y="2624328"/>
            <a:ext cx="1600200" cy="932688"/>
          </a:xfrm>
          <a:prstGeom prst="rect">
            <a:avLst/>
          </a:prstGeom>
          <a:noFill/>
          <a:ln/>
        </p:spPr>
        <p:txBody>
          <a:bodyPr wrap="square" lIns="0" tIns="0" rIns="0" bIns="0" rtlCol="0" anchor="ctr"/>
          <a:lstStyle/>
          <a:p>
            <a:pPr marL="0" indent="0">
              <a:buNone/>
            </a:pPr>
            <a:r>
              <a:rPr lang="en-US" sz="3000" b="1">
                <a:solidFill>
                  <a:schemeClr val="tx2"/>
                </a:solidFill>
                <a:latin typeface="Montserrat" pitchFamily="34" charset="0"/>
                <a:ea typeface="Montserrat" pitchFamily="34" charset="-122"/>
                <a:cs typeface="Montserrat" pitchFamily="34" charset="-120"/>
              </a:rPr>
              <a:t>100+</a:t>
            </a:r>
            <a:endParaRPr lang="en-US" sz="3000"/>
          </a:p>
        </p:txBody>
      </p:sp>
      <p:sp>
        <p:nvSpPr>
          <p:cNvPr id="9" name="Text 7"/>
          <p:cNvSpPr txBox="1"/>
          <p:nvPr/>
        </p:nvSpPr>
        <p:spPr>
          <a:xfrm>
            <a:off x="2103120" y="2624328"/>
            <a:ext cx="2011680" cy="932688"/>
          </a:xfrm>
          <a:prstGeom prst="rect">
            <a:avLst/>
          </a:prstGeom>
          <a:noFill/>
          <a:ln/>
        </p:spPr>
        <p:txBody>
          <a:bodyPr wrap="square" lIns="0" tIns="0" rIns="0" bIns="0" rtlCol="0" anchor="ctr"/>
          <a:lstStyle/>
          <a:p>
            <a:pPr marL="0" indent="0">
              <a:buNone/>
            </a:pPr>
            <a:r>
              <a:rPr lang="en-US" sz="1300">
                <a:solidFill>
                  <a:schemeClr val="tx1"/>
                </a:solidFill>
              </a:rPr>
              <a:t>events hosted or attended</a:t>
            </a:r>
            <a:endParaRPr lang="en-US" sz="1300"/>
          </a:p>
        </p:txBody>
      </p:sp>
      <p:sp>
        <p:nvSpPr>
          <p:cNvPr id="10" name="Stat 95"/>
          <p:cNvSpPr/>
          <p:nvPr/>
        </p:nvSpPr>
        <p:spPr>
          <a:xfrm>
            <a:off x="365760" y="3675888"/>
            <a:ext cx="3840480" cy="932688"/>
          </a:xfrm>
          <a:prstGeom prst="roundRect">
            <a:avLst>
              <a:gd name="adj" fmla="val 7843"/>
            </a:avLst>
          </a:prstGeom>
          <a:solidFill>
            <a:schemeClr val="bg2"/>
          </a:solidFill>
          <a:ln w="9525">
            <a:solidFill>
              <a:schemeClr val="bg2"/>
            </a:solidFill>
            <a:prstDash val="solid"/>
          </a:ln>
        </p:spPr>
        <p:txBody>
          <a:bodyPr/>
          <a:lstStyle/>
          <a:p>
            <a:endParaRPr lang="en-US"/>
          </a:p>
        </p:txBody>
      </p:sp>
      <p:sp>
        <p:nvSpPr>
          <p:cNvPr id="11" name="Text 9"/>
          <p:cNvSpPr txBox="1"/>
          <p:nvPr/>
        </p:nvSpPr>
        <p:spPr>
          <a:xfrm>
            <a:off x="502920" y="3675888"/>
            <a:ext cx="1600200" cy="932688"/>
          </a:xfrm>
          <a:prstGeom prst="rect">
            <a:avLst/>
          </a:prstGeom>
          <a:noFill/>
          <a:ln/>
        </p:spPr>
        <p:txBody>
          <a:bodyPr wrap="square" lIns="0" tIns="0" rIns="0" bIns="0" rtlCol="0" anchor="ctr"/>
          <a:lstStyle/>
          <a:p>
            <a:pPr marL="0" indent="0">
              <a:buNone/>
            </a:pPr>
            <a:r>
              <a:rPr lang="en-US" sz="3000" b="1">
                <a:solidFill>
                  <a:schemeClr val="tx2"/>
                </a:solidFill>
                <a:latin typeface="Montserrat" pitchFamily="34" charset="0"/>
                <a:ea typeface="Montserrat" pitchFamily="34" charset="-122"/>
                <a:cs typeface="Montserrat" pitchFamily="34" charset="-120"/>
              </a:rPr>
              <a:t>95</a:t>
            </a:r>
            <a:endParaRPr lang="en-US" sz="3000"/>
          </a:p>
        </p:txBody>
      </p:sp>
      <p:sp>
        <p:nvSpPr>
          <p:cNvPr id="12" name="Text 10"/>
          <p:cNvSpPr txBox="1"/>
          <p:nvPr/>
        </p:nvSpPr>
        <p:spPr>
          <a:xfrm>
            <a:off x="2103120" y="3675888"/>
            <a:ext cx="2011680" cy="932688"/>
          </a:xfrm>
          <a:prstGeom prst="rect">
            <a:avLst/>
          </a:prstGeom>
          <a:noFill/>
          <a:ln/>
        </p:spPr>
        <p:txBody>
          <a:bodyPr wrap="square" lIns="0" tIns="0" rIns="0" bIns="0" rtlCol="0" anchor="ctr"/>
          <a:lstStyle/>
          <a:p>
            <a:pPr marL="0" indent="0">
              <a:buNone/>
            </a:pPr>
            <a:r>
              <a:rPr lang="en-US" sz="1300">
                <a:solidFill>
                  <a:schemeClr val="tx1"/>
                </a:solidFill>
              </a:rPr>
              <a:t>intercept events at schools, festivals, and markets</a:t>
            </a:r>
            <a:endParaRPr lang="en-US" sz="1300"/>
          </a:p>
        </p:txBody>
      </p:sp>
      <p:sp>
        <p:nvSpPr>
          <p:cNvPr id="13" name="Text 11"/>
          <p:cNvSpPr txBox="1"/>
          <p:nvPr/>
        </p:nvSpPr>
        <p:spPr>
          <a:xfrm>
            <a:off x="4572000" y="1188720"/>
            <a:ext cx="7223760" cy="292608"/>
          </a:xfrm>
          <a:prstGeom prst="rect">
            <a:avLst/>
          </a:prstGeom>
          <a:noFill/>
          <a:ln/>
        </p:spPr>
        <p:txBody>
          <a:bodyPr wrap="square" lIns="0" tIns="0" rIns="0" bIns="0" rtlCol="0" anchor="ctr"/>
          <a:lstStyle/>
          <a:p>
            <a:r>
              <a:rPr lang="en-US" sz="1400" b="1">
                <a:solidFill>
                  <a:schemeClr val="accent2"/>
                </a:solidFill>
                <a:ea typeface="+mn-lt"/>
                <a:cs typeface="+mn-lt"/>
              </a:rPr>
              <a:t>How Peer Communities Addressed Each Barrier</a:t>
            </a:r>
            <a:endParaRPr lang="en-US" b="1">
              <a:solidFill>
                <a:schemeClr val="accent2"/>
              </a:solidFill>
              <a:ea typeface="Calibri"/>
              <a:cs typeface="Calibri"/>
            </a:endParaRPr>
          </a:p>
        </p:txBody>
      </p:sp>
      <p:sp>
        <p:nvSpPr>
          <p:cNvPr id="14" name="Transportation and geography circle"/>
          <p:cNvSpPr/>
          <p:nvPr/>
        </p:nvSpPr>
        <p:spPr>
          <a:xfrm>
            <a:off x="4572000" y="1627632"/>
            <a:ext cx="566928" cy="566928"/>
          </a:xfrm>
          <a:prstGeom prst="ellipse">
            <a:avLst/>
          </a:prstGeom>
          <a:solidFill>
            <a:schemeClr val="accent4"/>
          </a:solidFill>
          <a:ln w="12700">
            <a:solidFill>
              <a:schemeClr val="accent4"/>
            </a:solidFill>
            <a:prstDash val="solid"/>
          </a:ln>
        </p:spPr>
        <p:txBody>
          <a:bodyPr/>
          <a:lstStyle/>
          <a:p>
            <a:endParaRPr lang="en-US"/>
          </a:p>
        </p:txBody>
      </p:sp>
      <p:pic>
        <p:nvPicPr>
          <p:cNvPr id="15" name="Transportation and geography icon" descr="preencoded.png"/>
          <p:cNvPicPr>
            <a:picLocks noChangeAspect="1"/>
          </p:cNvPicPr>
          <p:nvPr/>
        </p:nvPicPr>
        <p:blipFill>
          <a:blip r:embed="rId3"/>
          <a:stretch>
            <a:fillRect/>
          </a:stretch>
        </p:blipFill>
        <p:spPr>
          <a:xfrm>
            <a:off x="4708063" y="1763695"/>
            <a:ext cx="294803" cy="294803"/>
          </a:xfrm>
          <a:prstGeom prst="rect">
            <a:avLst/>
          </a:prstGeom>
        </p:spPr>
      </p:pic>
      <p:sp>
        <p:nvSpPr>
          <p:cNvPr id="16" name="Text 13"/>
          <p:cNvSpPr txBox="1"/>
          <p:nvPr/>
        </p:nvSpPr>
        <p:spPr>
          <a:xfrm>
            <a:off x="5303520" y="1572768"/>
            <a:ext cx="6492240" cy="713232"/>
          </a:xfrm>
          <a:prstGeom prst="rect">
            <a:avLst/>
          </a:prstGeom>
          <a:noFill/>
          <a:ln/>
        </p:spPr>
        <p:txBody>
          <a:bodyPr wrap="square" lIns="0" tIns="0" rIns="0" bIns="0" rtlCol="0" anchor="ctr"/>
          <a:lstStyle/>
          <a:p>
            <a:pPr marL="0" indent="0">
              <a:buNone/>
            </a:pPr>
            <a:r>
              <a:rPr lang="en-US" sz="1300" b="1">
                <a:solidFill>
                  <a:schemeClr val="tx2"/>
                </a:solidFill>
              </a:rPr>
              <a:t>Transportation and geography</a:t>
            </a:r>
            <a:endParaRPr lang="en-US" sz="1300"/>
          </a:p>
          <a:p>
            <a:pPr marL="0" indent="0">
              <a:buNone/>
            </a:pPr>
            <a:r>
              <a:rPr lang="en-US" sz="1300">
                <a:solidFill>
                  <a:schemeClr val="tx1"/>
                </a:solidFill>
              </a:rPr>
              <a:t>Raleigh's Engagement on the Go vehicle works as a mobile city hall, prioritizing neighborhoods with limited access to resources.</a:t>
            </a:r>
            <a:endParaRPr lang="en-US" sz="1300"/>
          </a:p>
        </p:txBody>
      </p:sp>
      <p:sp>
        <p:nvSpPr>
          <p:cNvPr id="17" name="Childcare and family duties circle"/>
          <p:cNvSpPr/>
          <p:nvPr/>
        </p:nvSpPr>
        <p:spPr>
          <a:xfrm>
            <a:off x="4572000" y="2414016"/>
            <a:ext cx="566928" cy="566928"/>
          </a:xfrm>
          <a:prstGeom prst="ellipse">
            <a:avLst/>
          </a:prstGeom>
          <a:solidFill>
            <a:schemeClr val="accent4"/>
          </a:solidFill>
          <a:ln w="12700">
            <a:solidFill>
              <a:schemeClr val="accent4"/>
            </a:solidFill>
            <a:prstDash val="solid"/>
          </a:ln>
        </p:spPr>
        <p:txBody>
          <a:bodyPr/>
          <a:lstStyle/>
          <a:p>
            <a:endParaRPr lang="en-US"/>
          </a:p>
        </p:txBody>
      </p:sp>
      <p:pic>
        <p:nvPicPr>
          <p:cNvPr id="18" name="Childcare and family duties icon" descr="preencoded.png"/>
          <p:cNvPicPr>
            <a:picLocks noChangeAspect="1"/>
          </p:cNvPicPr>
          <p:nvPr/>
        </p:nvPicPr>
        <p:blipFill>
          <a:blip r:embed="rId4"/>
          <a:stretch>
            <a:fillRect/>
          </a:stretch>
        </p:blipFill>
        <p:spPr>
          <a:xfrm>
            <a:off x="4708063" y="2550079"/>
            <a:ext cx="294803" cy="294803"/>
          </a:xfrm>
          <a:prstGeom prst="rect">
            <a:avLst/>
          </a:prstGeom>
        </p:spPr>
      </p:pic>
      <p:sp>
        <p:nvSpPr>
          <p:cNvPr id="19" name="Text 15"/>
          <p:cNvSpPr txBox="1"/>
          <p:nvPr/>
        </p:nvSpPr>
        <p:spPr>
          <a:xfrm>
            <a:off x="5303520" y="2359152"/>
            <a:ext cx="6492240" cy="713232"/>
          </a:xfrm>
          <a:prstGeom prst="rect">
            <a:avLst/>
          </a:prstGeom>
          <a:noFill/>
          <a:ln/>
        </p:spPr>
        <p:txBody>
          <a:bodyPr wrap="square" lIns="0" tIns="0" rIns="0" bIns="0" rtlCol="0" anchor="ctr"/>
          <a:lstStyle/>
          <a:p>
            <a:pPr marL="0" indent="0">
              <a:buNone/>
            </a:pPr>
            <a:r>
              <a:rPr lang="en-US" sz="1300" b="1">
                <a:solidFill>
                  <a:schemeClr val="tx2"/>
                </a:solidFill>
              </a:rPr>
              <a:t>Childcare and family duties</a:t>
            </a:r>
            <a:endParaRPr lang="en-US" sz="1300"/>
          </a:p>
          <a:p>
            <a:pPr marL="0" indent="0">
              <a:buNone/>
            </a:pPr>
            <a:r>
              <a:rPr lang="en-US" sz="1300">
                <a:solidFill>
                  <a:schemeClr val="tx1"/>
                </a:solidFill>
              </a:rPr>
              <a:t>Durham and Fresno provide childcare; Buncombe adds child-friendly activities to meetings.</a:t>
            </a:r>
            <a:endParaRPr lang="en-US" sz="1300"/>
          </a:p>
        </p:txBody>
      </p:sp>
      <p:sp>
        <p:nvSpPr>
          <p:cNvPr id="20" name="Work schedules circle"/>
          <p:cNvSpPr/>
          <p:nvPr/>
        </p:nvSpPr>
        <p:spPr>
          <a:xfrm>
            <a:off x="4572000" y="3200400"/>
            <a:ext cx="566928" cy="566928"/>
          </a:xfrm>
          <a:prstGeom prst="ellipse">
            <a:avLst/>
          </a:prstGeom>
          <a:solidFill>
            <a:schemeClr val="accent4"/>
          </a:solidFill>
          <a:ln w="12700">
            <a:solidFill>
              <a:schemeClr val="accent4"/>
            </a:solidFill>
            <a:prstDash val="solid"/>
          </a:ln>
        </p:spPr>
        <p:txBody>
          <a:bodyPr/>
          <a:lstStyle/>
          <a:p>
            <a:endParaRPr lang="en-US"/>
          </a:p>
        </p:txBody>
      </p:sp>
      <p:pic>
        <p:nvPicPr>
          <p:cNvPr id="21" name="Work schedules icon" descr="preencoded.png"/>
          <p:cNvPicPr>
            <a:picLocks noChangeAspect="1"/>
          </p:cNvPicPr>
          <p:nvPr/>
        </p:nvPicPr>
        <p:blipFill>
          <a:blip r:embed="rId5"/>
          <a:stretch>
            <a:fillRect/>
          </a:stretch>
        </p:blipFill>
        <p:spPr>
          <a:xfrm>
            <a:off x="4708063" y="3336463"/>
            <a:ext cx="294803" cy="294803"/>
          </a:xfrm>
          <a:prstGeom prst="rect">
            <a:avLst/>
          </a:prstGeom>
        </p:spPr>
      </p:pic>
      <p:sp>
        <p:nvSpPr>
          <p:cNvPr id="22" name="Text 17"/>
          <p:cNvSpPr txBox="1"/>
          <p:nvPr/>
        </p:nvSpPr>
        <p:spPr>
          <a:xfrm>
            <a:off x="5303520" y="3145536"/>
            <a:ext cx="6492240" cy="713232"/>
          </a:xfrm>
          <a:prstGeom prst="rect">
            <a:avLst/>
          </a:prstGeom>
          <a:noFill/>
          <a:ln/>
        </p:spPr>
        <p:txBody>
          <a:bodyPr wrap="square" lIns="0" tIns="0" rIns="0" bIns="0" rtlCol="0" anchor="ctr"/>
          <a:lstStyle/>
          <a:p>
            <a:pPr marL="0" indent="0">
              <a:buNone/>
            </a:pPr>
            <a:r>
              <a:rPr lang="en-US" sz="1300" b="1">
                <a:solidFill>
                  <a:schemeClr val="tx2"/>
                </a:solidFill>
              </a:rPr>
              <a:t>Work schedules</a:t>
            </a:r>
            <a:endParaRPr lang="en-US" sz="1300"/>
          </a:p>
          <a:p>
            <a:pPr marL="0" indent="0">
              <a:buNone/>
            </a:pPr>
            <a:r>
              <a:rPr lang="en-US" sz="1300">
                <a:solidFill>
                  <a:schemeClr val="tx1"/>
                </a:solidFill>
              </a:rPr>
              <a:t>Buncombe varies days and times and offers paper and online options; Fresno meets near transit at hours that suit working residents.</a:t>
            </a:r>
            <a:endParaRPr lang="en-US" sz="1300"/>
          </a:p>
        </p:txBody>
      </p:sp>
      <p:sp>
        <p:nvSpPr>
          <p:cNvPr id="23" name="Cost of showing up circle"/>
          <p:cNvSpPr/>
          <p:nvPr/>
        </p:nvSpPr>
        <p:spPr>
          <a:xfrm>
            <a:off x="4572000" y="3986784"/>
            <a:ext cx="566928" cy="566928"/>
          </a:xfrm>
          <a:prstGeom prst="ellipse">
            <a:avLst/>
          </a:prstGeom>
          <a:solidFill>
            <a:schemeClr val="accent4"/>
          </a:solidFill>
          <a:ln w="12700">
            <a:solidFill>
              <a:schemeClr val="accent4"/>
            </a:solidFill>
            <a:prstDash val="solid"/>
          </a:ln>
        </p:spPr>
        <p:txBody>
          <a:bodyPr/>
          <a:lstStyle/>
          <a:p>
            <a:endParaRPr lang="en-US"/>
          </a:p>
        </p:txBody>
      </p:sp>
      <p:pic>
        <p:nvPicPr>
          <p:cNvPr id="24" name="Cost of showing up icon" descr="preencoded.png"/>
          <p:cNvPicPr>
            <a:picLocks noChangeAspect="1"/>
          </p:cNvPicPr>
          <p:nvPr/>
        </p:nvPicPr>
        <p:blipFill>
          <a:blip r:embed="rId6"/>
          <a:stretch>
            <a:fillRect/>
          </a:stretch>
        </p:blipFill>
        <p:spPr>
          <a:xfrm>
            <a:off x="4708063" y="4122847"/>
            <a:ext cx="294803" cy="294803"/>
          </a:xfrm>
          <a:prstGeom prst="rect">
            <a:avLst/>
          </a:prstGeom>
        </p:spPr>
      </p:pic>
      <p:sp>
        <p:nvSpPr>
          <p:cNvPr id="25" name="Text 19"/>
          <p:cNvSpPr txBox="1"/>
          <p:nvPr/>
        </p:nvSpPr>
        <p:spPr>
          <a:xfrm>
            <a:off x="5303520" y="3931920"/>
            <a:ext cx="6492240" cy="713232"/>
          </a:xfrm>
          <a:prstGeom prst="rect">
            <a:avLst/>
          </a:prstGeom>
          <a:noFill/>
          <a:ln/>
        </p:spPr>
        <p:txBody>
          <a:bodyPr wrap="square" lIns="0" tIns="0" rIns="0" bIns="0" rtlCol="0" anchor="ctr"/>
          <a:lstStyle/>
          <a:p>
            <a:pPr marL="0" indent="0">
              <a:buNone/>
            </a:pPr>
            <a:r>
              <a:rPr lang="en-US" sz="1300" b="1">
                <a:solidFill>
                  <a:schemeClr val="tx2"/>
                </a:solidFill>
              </a:rPr>
              <a:t>Cost of showing up</a:t>
            </a:r>
            <a:endParaRPr lang="en-US" sz="1300"/>
          </a:p>
          <a:p>
            <a:pPr marL="0" indent="0">
              <a:buNone/>
            </a:pPr>
            <a:r>
              <a:rPr lang="en-US" sz="1300">
                <a:solidFill>
                  <a:schemeClr val="tx1"/>
                </a:solidFill>
              </a:rPr>
              <a:t>Durham's budget conversations offer food, interpretation, and participant gift cards.</a:t>
            </a:r>
            <a:endParaRPr lang="en-US" sz="1300"/>
          </a:p>
        </p:txBody>
      </p:sp>
      <p:sp>
        <p:nvSpPr>
          <p:cNvPr id="26" name="Fit for Wake panel"/>
          <p:cNvSpPr/>
          <p:nvPr/>
        </p:nvSpPr>
        <p:spPr>
          <a:xfrm>
            <a:off x="365760" y="4828032"/>
            <a:ext cx="11457432" cy="786384"/>
          </a:xfrm>
          <a:prstGeom prst="roundRect">
            <a:avLst>
              <a:gd name="adj" fmla="val 9302"/>
            </a:avLst>
          </a:prstGeom>
          <a:solidFill>
            <a:schemeClr val="bg2"/>
          </a:solidFill>
          <a:ln w="9525">
            <a:solidFill>
              <a:schemeClr val="bg2"/>
            </a:solidFill>
            <a:prstDash val="solid"/>
          </a:ln>
        </p:spPr>
        <p:txBody>
          <a:bodyPr/>
          <a:lstStyle/>
          <a:p>
            <a:endParaRPr lang="en-US"/>
          </a:p>
        </p:txBody>
      </p:sp>
      <p:sp>
        <p:nvSpPr>
          <p:cNvPr id="27" name="Wake today"/>
          <p:cNvSpPr txBox="1"/>
          <p:nvPr/>
        </p:nvSpPr>
        <p:spPr>
          <a:xfrm>
            <a:off x="548640" y="4882896"/>
            <a:ext cx="4663440" cy="676656"/>
          </a:xfrm>
          <a:prstGeom prst="rect">
            <a:avLst/>
          </a:prstGeom>
          <a:noFill/>
          <a:ln/>
        </p:spPr>
        <p:txBody>
          <a:bodyPr wrap="square" lIns="0" tIns="0" rIns="0" bIns="0" rtlCol="0" anchor="ctr"/>
          <a:lstStyle/>
          <a:p>
            <a:r>
              <a:rPr lang="en-US" sz="1200" b="1">
                <a:solidFill>
                  <a:schemeClr val="accent2"/>
                </a:solidFill>
              </a:rPr>
              <a:t>Wake County today</a:t>
            </a:r>
            <a:endParaRPr lang="en-US" sz="1200">
              <a:solidFill>
                <a:schemeClr val="accent2"/>
              </a:solidFill>
            </a:endParaRPr>
          </a:p>
          <a:p>
            <a:pPr marL="0" indent="0">
              <a:buNone/>
            </a:pPr>
            <a:r>
              <a:rPr lang="en-US" sz="1200">
                <a:solidFill>
                  <a:schemeClr val="tx1"/>
                </a:solidFill>
              </a:rPr>
              <a:t>Libraries, Public Health, and Workforce Development run mobile outreach, and the parks plan staffed festival booths.</a:t>
            </a:r>
            <a:endParaRPr lang="en-US" sz="1200"/>
          </a:p>
        </p:txBody>
      </p:sp>
      <p:sp>
        <p:nvSpPr>
          <p:cNvPr id="28" name="What it would take"/>
          <p:cNvSpPr txBox="1"/>
          <p:nvPr/>
        </p:nvSpPr>
        <p:spPr>
          <a:xfrm>
            <a:off x="5440680" y="4882896"/>
            <a:ext cx="4343400" cy="676656"/>
          </a:xfrm>
          <a:prstGeom prst="rect">
            <a:avLst/>
          </a:prstGeom>
          <a:noFill/>
          <a:ln/>
        </p:spPr>
        <p:txBody>
          <a:bodyPr wrap="square" lIns="0" tIns="0" rIns="0" bIns="0" rtlCol="0" anchor="ctr"/>
          <a:lstStyle/>
          <a:p>
            <a:pPr marL="0" indent="0">
              <a:buNone/>
            </a:pPr>
            <a:r>
              <a:rPr lang="en-US" sz="1200" b="1">
                <a:solidFill>
                  <a:schemeClr val="accent2"/>
                </a:solidFill>
              </a:rPr>
              <a:t>What it would take</a:t>
            </a:r>
            <a:endParaRPr lang="en-US" sz="1200"/>
          </a:p>
          <a:p>
            <a:pPr marL="0" indent="0">
              <a:buNone/>
            </a:pPr>
            <a:r>
              <a:rPr lang="en-US" sz="1200">
                <a:solidFill>
                  <a:schemeClr val="tx1"/>
                </a:solidFill>
              </a:rPr>
              <a:t>Share a countywide outreach calendar and add an engagement station to existing mobile routes and events.</a:t>
            </a:r>
            <a:endParaRPr lang="en-US" sz="1200"/>
          </a:p>
        </p:txBody>
      </p:sp>
      <p:sp>
        <p:nvSpPr>
          <p:cNvPr id="29" name="Feasibility rating"/>
          <p:cNvSpPr/>
          <p:nvPr/>
        </p:nvSpPr>
        <p:spPr>
          <a:xfrm>
            <a:off x="10012680" y="4937760"/>
            <a:ext cx="1645920" cy="566928"/>
          </a:xfrm>
          <a:prstGeom prst="roundRect">
            <a:avLst>
              <a:gd name="adj" fmla="val 12903"/>
            </a:avLst>
          </a:prstGeom>
          <a:solidFill>
            <a:schemeClr val="accent4"/>
          </a:solidFill>
          <a:ln/>
        </p:spPr>
        <p:txBody>
          <a:bodyPr wrap="square" lIns="0" tIns="0" rIns="0" bIns="0" rtlCol="0" anchor="ctr"/>
          <a:lstStyle/>
          <a:p>
            <a:pPr marL="0" indent="0" algn="ctr">
              <a:buNone/>
            </a:pPr>
            <a:r>
              <a:rPr lang="en-US" sz="900" kern="0" spc="200">
                <a:solidFill>
                  <a:schemeClr val="bg1"/>
                </a:solidFill>
              </a:rPr>
              <a:t>FEASIBILITY</a:t>
            </a:r>
            <a:endParaRPr lang="en-US" sz="900"/>
          </a:p>
          <a:p>
            <a:pPr marL="0" indent="0" algn="ctr">
              <a:buNone/>
            </a:pPr>
            <a:r>
              <a:rPr lang="en-US" sz="1800" b="1">
                <a:solidFill>
                  <a:schemeClr val="bg1"/>
                </a:solidFill>
                <a:latin typeface="Montserrat" pitchFamily="34" charset="0"/>
                <a:ea typeface="Montserrat" pitchFamily="34" charset="-122"/>
                <a:cs typeface="Montserrat" pitchFamily="34" charset="-120"/>
              </a:rPr>
              <a:t>High</a:t>
            </a:r>
            <a:endParaRPr lang="en-US" sz="900"/>
          </a:p>
        </p:txBody>
      </p:sp>
      <p:sp>
        <p:nvSpPr>
          <p:cNvPr id="30"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Buncombe County 2043 Comprehensive Plan; City of Raleigh; City of Durham; Institute for Local Government (Fresno); CBS17; Objective 1 findings. </a:t>
            </a:r>
            <a:r>
              <a:rPr lang="en-US" sz="1000" u="sng">
                <a:solidFill>
                  <a:schemeClr val="accent2"/>
                </a:solidFill>
                <a:hlinkClick r:id="rId7"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31"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8</a:t>
            </a:fld>
            <a:endParaRPr lang="en-US"/>
          </a:p>
        </p:txBody>
      </p:sp>
      <p:pic>
        <p:nvPicPr>
          <p:cNvPr id="32" name="Picture 31">
            <a:extLst>
              <a:ext uri="{FF2B5EF4-FFF2-40B4-BE49-F238E27FC236}">
                <a16:creationId xmlns:a16="http://schemas.microsoft.com/office/drawing/2014/main" id="{560AAA18-D5BA-DAFA-2BA4-2111F20ECB3B}"/>
              </a:ext>
            </a:extLst>
          </p:cNvPr>
          <p:cNvPicPr>
            <a:picLocks noChangeAspect="1"/>
          </p:cNvPicPr>
          <p:nvPr/>
        </p:nvPicPr>
        <p:blipFill>
          <a:blip r:embed="rId8"/>
          <a:stretch>
            <a:fillRect/>
          </a:stretch>
        </p:blipFill>
        <p:spPr>
          <a:xfrm>
            <a:off x="10702633" y="48335"/>
            <a:ext cx="1176475" cy="920929"/>
          </a:xfrm>
          <a:prstGeom prst="rect">
            <a:avLst/>
          </a:prstGeom>
        </p:spPr>
      </p:pic>
      <p:pic>
        <p:nvPicPr>
          <p:cNvPr id="33" name="Picture 32">
            <a:extLst>
              <a:ext uri="{FF2B5EF4-FFF2-40B4-BE49-F238E27FC236}">
                <a16:creationId xmlns:a16="http://schemas.microsoft.com/office/drawing/2014/main" id="{B4B777C8-027F-0D81-D317-148089A2E5E9}"/>
              </a:ext>
            </a:extLst>
          </p:cNvPr>
          <p:cNvPicPr>
            <a:picLocks noChangeAspect="1"/>
          </p:cNvPicPr>
          <p:nvPr/>
        </p:nvPicPr>
        <p:blipFill>
          <a:blip r:embed="rId9"/>
          <a:stretch>
            <a:fillRect/>
          </a:stretch>
        </p:blipFill>
        <p:spPr>
          <a:xfrm>
            <a:off x="1261872" y="6149993"/>
            <a:ext cx="534000" cy="619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10489276" cy="713232"/>
          </a:xfrm>
          <a:prstGeom prst="rect">
            <a:avLst/>
          </a:prstGeom>
          <a:noFill/>
          <a:ln/>
        </p:spPr>
        <p:txBody>
          <a:bodyPr wrap="square" lIns="0" tIns="0" rIns="0" bIns="0" rtlCol="0" anchor="b"/>
          <a:lstStyle/>
          <a:p>
            <a:r>
              <a:rPr lang="en-US" sz="2400">
                <a:latin typeface="Montserrat"/>
              </a:rPr>
              <a:t>Trusted Messengers Reach Residents Who </a:t>
            </a:r>
            <a:r>
              <a:rPr lang="en-US">
                <a:latin typeface="Montserrat"/>
              </a:rPr>
              <a:t>Are </a:t>
            </a:r>
            <a:r>
              <a:rPr lang="en-US" sz="2400">
                <a:latin typeface="Montserrat"/>
              </a:rPr>
              <a:t>Rarely </a:t>
            </a:r>
            <a:r>
              <a:rPr lang="en-US">
                <a:latin typeface="Montserrat"/>
              </a:rPr>
              <a:t>Engaged</a:t>
            </a:r>
            <a:endParaRPr lang="en-US"/>
          </a:p>
        </p:txBody>
      </p:sp>
      <p:sp>
        <p:nvSpPr>
          <p:cNvPr id="3" name="Raleigh Community Connectors"/>
          <p:cNvSpPr/>
          <p:nvPr/>
        </p:nvSpPr>
        <p:spPr>
          <a:xfrm>
            <a:off x="365760" y="1207008"/>
            <a:ext cx="3886200" cy="1627632"/>
          </a:xfrm>
          <a:prstGeom prst="roundRect">
            <a:avLst>
              <a:gd name="adj" fmla="val 4494"/>
            </a:avLst>
          </a:prstGeom>
          <a:solidFill>
            <a:schemeClr val="bg2"/>
          </a:solidFill>
          <a:ln w="9525">
            <a:solidFill>
              <a:schemeClr val="bg2"/>
            </a:solidFill>
            <a:prstDash val="solid"/>
          </a:ln>
        </p:spPr>
        <p:txBody>
          <a:bodyPr/>
          <a:lstStyle/>
          <a:p>
            <a:endParaRPr lang="en-US"/>
          </a:p>
        </p:txBody>
      </p:sp>
      <p:sp>
        <p:nvSpPr>
          <p:cNvPr id="4" name="Raleigh Community Connectors circle"/>
          <p:cNvSpPr/>
          <p:nvPr/>
        </p:nvSpPr>
        <p:spPr>
          <a:xfrm>
            <a:off x="530352" y="1371600"/>
            <a:ext cx="566928" cy="566928"/>
          </a:xfrm>
          <a:prstGeom prst="ellipse">
            <a:avLst/>
          </a:prstGeom>
          <a:solidFill>
            <a:schemeClr val="accent2"/>
          </a:solidFill>
          <a:ln w="12700">
            <a:solidFill>
              <a:schemeClr val="accent2"/>
            </a:solidFill>
            <a:prstDash val="solid"/>
          </a:ln>
        </p:spPr>
        <p:txBody>
          <a:bodyPr/>
          <a:lstStyle/>
          <a:p>
            <a:endParaRPr lang="en-US"/>
          </a:p>
        </p:txBody>
      </p:sp>
      <p:pic>
        <p:nvPicPr>
          <p:cNvPr id="5" name="Raleigh Community Connectors icon" descr="preencoded.png"/>
          <p:cNvPicPr>
            <a:picLocks noChangeAspect="1"/>
          </p:cNvPicPr>
          <p:nvPr/>
        </p:nvPicPr>
        <p:blipFill>
          <a:blip r:embed="rId3"/>
          <a:stretch>
            <a:fillRect/>
          </a:stretch>
        </p:blipFill>
        <p:spPr>
          <a:xfrm>
            <a:off x="666415" y="1507663"/>
            <a:ext cx="294803" cy="294803"/>
          </a:xfrm>
          <a:prstGeom prst="rect">
            <a:avLst/>
          </a:prstGeom>
        </p:spPr>
      </p:pic>
      <p:sp>
        <p:nvSpPr>
          <p:cNvPr id="6" name="Text 3"/>
          <p:cNvSpPr txBox="1"/>
          <p:nvPr/>
        </p:nvSpPr>
        <p:spPr>
          <a:xfrm>
            <a:off x="1234440" y="1371600"/>
            <a:ext cx="2926080" cy="566928"/>
          </a:xfrm>
          <a:prstGeom prst="rect">
            <a:avLst/>
          </a:prstGeom>
          <a:noFill/>
          <a:ln/>
        </p:spPr>
        <p:txBody>
          <a:bodyPr wrap="square" lIns="0" tIns="0" rIns="0" bIns="0" rtlCol="0" anchor="ctr"/>
          <a:lstStyle/>
          <a:p>
            <a:pPr marL="0" indent="0">
              <a:buNone/>
            </a:pPr>
            <a:r>
              <a:rPr lang="en-US" sz="1300" b="1">
                <a:solidFill>
                  <a:schemeClr val="tx2"/>
                </a:solidFill>
                <a:latin typeface="Montserrat" pitchFamily="34" charset="0"/>
                <a:ea typeface="Montserrat" pitchFamily="34" charset="-122"/>
                <a:cs typeface="Montserrat" pitchFamily="34" charset="-120"/>
              </a:rPr>
              <a:t>Raleigh Community Connectors</a:t>
            </a:r>
            <a:endParaRPr lang="en-US" sz="1300"/>
          </a:p>
        </p:txBody>
      </p:sp>
      <p:sp>
        <p:nvSpPr>
          <p:cNvPr id="7" name="Text 4"/>
          <p:cNvSpPr txBox="1"/>
          <p:nvPr/>
        </p:nvSpPr>
        <p:spPr>
          <a:xfrm>
            <a:off x="548640" y="1984248"/>
            <a:ext cx="3566160" cy="804672"/>
          </a:xfrm>
          <a:prstGeom prst="rect">
            <a:avLst/>
          </a:prstGeom>
          <a:noFill/>
          <a:ln/>
        </p:spPr>
        <p:txBody>
          <a:bodyPr wrap="square" lIns="0" tIns="0" rIns="0" bIns="0" rtlCol="0" anchor="t"/>
          <a:lstStyle/>
          <a:p>
            <a:pPr marL="0" indent="0">
              <a:buNone/>
            </a:pPr>
            <a:r>
              <a:rPr lang="en-US" sz="1250">
                <a:solidFill>
                  <a:schemeClr val="tx1"/>
                </a:solidFill>
              </a:rPr>
              <a:t>Paid residents with lived experience share project information and carry community questions back to City staff.</a:t>
            </a:r>
            <a:endParaRPr lang="en-US" sz="1250"/>
          </a:p>
        </p:txBody>
      </p:sp>
      <p:sp>
        <p:nvSpPr>
          <p:cNvPr id="8" name="Buncombe Community Connectors"/>
          <p:cNvSpPr/>
          <p:nvPr/>
        </p:nvSpPr>
        <p:spPr>
          <a:xfrm>
            <a:off x="4389120" y="1207008"/>
            <a:ext cx="3886200" cy="1627632"/>
          </a:xfrm>
          <a:prstGeom prst="roundRect">
            <a:avLst>
              <a:gd name="adj" fmla="val 4494"/>
            </a:avLst>
          </a:prstGeom>
          <a:solidFill>
            <a:schemeClr val="bg2"/>
          </a:solidFill>
          <a:ln w="9525">
            <a:solidFill>
              <a:schemeClr val="bg2"/>
            </a:solidFill>
            <a:prstDash val="solid"/>
          </a:ln>
        </p:spPr>
        <p:txBody>
          <a:bodyPr/>
          <a:lstStyle/>
          <a:p>
            <a:endParaRPr lang="en-US"/>
          </a:p>
        </p:txBody>
      </p:sp>
      <p:sp>
        <p:nvSpPr>
          <p:cNvPr id="9" name="Buncombe Community Connectors circle"/>
          <p:cNvSpPr/>
          <p:nvPr/>
        </p:nvSpPr>
        <p:spPr>
          <a:xfrm>
            <a:off x="4553712" y="1371600"/>
            <a:ext cx="566928" cy="566928"/>
          </a:xfrm>
          <a:prstGeom prst="ellipse">
            <a:avLst/>
          </a:prstGeom>
          <a:solidFill>
            <a:schemeClr val="accent2"/>
          </a:solidFill>
          <a:ln w="12700">
            <a:solidFill>
              <a:schemeClr val="accent2"/>
            </a:solidFill>
            <a:prstDash val="solid"/>
          </a:ln>
        </p:spPr>
        <p:txBody>
          <a:bodyPr/>
          <a:lstStyle/>
          <a:p>
            <a:endParaRPr lang="en-US"/>
          </a:p>
        </p:txBody>
      </p:sp>
      <p:pic>
        <p:nvPicPr>
          <p:cNvPr id="10" name="Buncombe Community Connectors icon" descr="preencoded.png"/>
          <p:cNvPicPr>
            <a:picLocks noChangeAspect="1"/>
          </p:cNvPicPr>
          <p:nvPr/>
        </p:nvPicPr>
        <p:blipFill>
          <a:blip r:embed="rId4"/>
          <a:stretch>
            <a:fillRect/>
          </a:stretch>
        </p:blipFill>
        <p:spPr>
          <a:xfrm>
            <a:off x="4689775" y="1507663"/>
            <a:ext cx="294803" cy="294803"/>
          </a:xfrm>
          <a:prstGeom prst="rect">
            <a:avLst/>
          </a:prstGeom>
        </p:spPr>
      </p:pic>
      <p:sp>
        <p:nvSpPr>
          <p:cNvPr id="11" name="Text 7"/>
          <p:cNvSpPr txBox="1"/>
          <p:nvPr/>
        </p:nvSpPr>
        <p:spPr>
          <a:xfrm>
            <a:off x="5257800" y="1371600"/>
            <a:ext cx="2926080" cy="566928"/>
          </a:xfrm>
          <a:prstGeom prst="rect">
            <a:avLst/>
          </a:prstGeom>
          <a:noFill/>
          <a:ln/>
        </p:spPr>
        <p:txBody>
          <a:bodyPr wrap="square" lIns="0" tIns="0" rIns="0" bIns="0" rtlCol="0" anchor="ctr"/>
          <a:lstStyle/>
          <a:p>
            <a:pPr marL="0" indent="0">
              <a:buNone/>
            </a:pPr>
            <a:r>
              <a:rPr lang="en-US" sz="1300" b="1">
                <a:solidFill>
                  <a:schemeClr val="tx2"/>
                </a:solidFill>
                <a:latin typeface="Montserrat" pitchFamily="34" charset="0"/>
                <a:ea typeface="Montserrat" pitchFamily="34" charset="-122"/>
                <a:cs typeface="Montserrat" pitchFamily="34" charset="-120"/>
              </a:rPr>
              <a:t>Buncombe Community Connectors</a:t>
            </a:r>
            <a:endParaRPr lang="en-US" sz="1300"/>
          </a:p>
        </p:txBody>
      </p:sp>
      <p:sp>
        <p:nvSpPr>
          <p:cNvPr id="12" name="Text 8"/>
          <p:cNvSpPr txBox="1"/>
          <p:nvPr/>
        </p:nvSpPr>
        <p:spPr>
          <a:xfrm>
            <a:off x="4572000" y="1984248"/>
            <a:ext cx="3566160" cy="804672"/>
          </a:xfrm>
          <a:prstGeom prst="rect">
            <a:avLst/>
          </a:prstGeom>
          <a:noFill/>
          <a:ln/>
        </p:spPr>
        <p:txBody>
          <a:bodyPr wrap="square" lIns="0" tIns="0" rIns="0" bIns="0" rtlCol="0" anchor="t"/>
          <a:lstStyle/>
          <a:p>
            <a:pPr marL="0" indent="0">
              <a:buNone/>
            </a:pPr>
            <a:r>
              <a:rPr lang="en-US" sz="1250">
                <a:solidFill>
                  <a:schemeClr val="tx1"/>
                </a:solidFill>
              </a:rPr>
              <a:t>8 part-time connectors, employed through community organizations, staff 16 Community Engagement Markets.</a:t>
            </a:r>
            <a:endParaRPr lang="en-US" sz="1250"/>
          </a:p>
        </p:txBody>
      </p:sp>
      <p:sp>
        <p:nvSpPr>
          <p:cNvPr id="13" name="Fresno General Plan"/>
          <p:cNvSpPr/>
          <p:nvPr/>
        </p:nvSpPr>
        <p:spPr>
          <a:xfrm>
            <a:off x="365760" y="2944368"/>
            <a:ext cx="3886200" cy="1627632"/>
          </a:xfrm>
          <a:prstGeom prst="roundRect">
            <a:avLst>
              <a:gd name="adj" fmla="val 4494"/>
            </a:avLst>
          </a:prstGeom>
          <a:solidFill>
            <a:schemeClr val="bg2"/>
          </a:solidFill>
          <a:ln w="9525">
            <a:solidFill>
              <a:schemeClr val="bg2"/>
            </a:solidFill>
            <a:prstDash val="solid"/>
          </a:ln>
        </p:spPr>
        <p:txBody>
          <a:bodyPr/>
          <a:lstStyle/>
          <a:p>
            <a:endParaRPr lang="en-US"/>
          </a:p>
        </p:txBody>
      </p:sp>
      <p:sp>
        <p:nvSpPr>
          <p:cNvPr id="14" name="Fresno General Plan circle"/>
          <p:cNvSpPr/>
          <p:nvPr/>
        </p:nvSpPr>
        <p:spPr>
          <a:xfrm>
            <a:off x="530352" y="3108960"/>
            <a:ext cx="566928" cy="566928"/>
          </a:xfrm>
          <a:prstGeom prst="ellipse">
            <a:avLst/>
          </a:prstGeom>
          <a:solidFill>
            <a:schemeClr val="accent2"/>
          </a:solidFill>
          <a:ln w="12700">
            <a:solidFill>
              <a:schemeClr val="accent2"/>
            </a:solidFill>
            <a:prstDash val="solid"/>
          </a:ln>
        </p:spPr>
        <p:txBody>
          <a:bodyPr/>
          <a:lstStyle/>
          <a:p>
            <a:endParaRPr lang="en-US"/>
          </a:p>
        </p:txBody>
      </p:sp>
      <p:pic>
        <p:nvPicPr>
          <p:cNvPr id="15" name="Fresno General Plan icon" descr="preencoded.png"/>
          <p:cNvPicPr>
            <a:picLocks noChangeAspect="1"/>
          </p:cNvPicPr>
          <p:nvPr/>
        </p:nvPicPr>
        <p:blipFill>
          <a:blip r:embed="rId5"/>
          <a:stretch>
            <a:fillRect/>
          </a:stretch>
        </p:blipFill>
        <p:spPr>
          <a:xfrm>
            <a:off x="666415" y="3245023"/>
            <a:ext cx="294803" cy="294803"/>
          </a:xfrm>
          <a:prstGeom prst="rect">
            <a:avLst/>
          </a:prstGeom>
        </p:spPr>
      </p:pic>
      <p:sp>
        <p:nvSpPr>
          <p:cNvPr id="16" name="Text 11"/>
          <p:cNvSpPr txBox="1"/>
          <p:nvPr/>
        </p:nvSpPr>
        <p:spPr>
          <a:xfrm>
            <a:off x="1234440" y="3108960"/>
            <a:ext cx="2926080" cy="566928"/>
          </a:xfrm>
          <a:prstGeom prst="rect">
            <a:avLst/>
          </a:prstGeom>
          <a:noFill/>
          <a:ln/>
        </p:spPr>
        <p:txBody>
          <a:bodyPr wrap="square" lIns="0" tIns="0" rIns="0" bIns="0" rtlCol="0" anchor="ctr"/>
          <a:lstStyle/>
          <a:p>
            <a:pPr marL="0" indent="0">
              <a:buNone/>
            </a:pPr>
            <a:r>
              <a:rPr lang="en-US" sz="1300" b="1">
                <a:solidFill>
                  <a:schemeClr val="tx2"/>
                </a:solidFill>
                <a:latin typeface="Montserrat" pitchFamily="34" charset="0"/>
                <a:ea typeface="Montserrat" pitchFamily="34" charset="-122"/>
                <a:cs typeface="Montserrat" pitchFamily="34" charset="-120"/>
              </a:rPr>
              <a:t>Fresno General Plan</a:t>
            </a:r>
            <a:endParaRPr lang="en-US" sz="1300"/>
          </a:p>
        </p:txBody>
      </p:sp>
      <p:sp>
        <p:nvSpPr>
          <p:cNvPr id="17" name="Text 12"/>
          <p:cNvSpPr txBox="1"/>
          <p:nvPr/>
        </p:nvSpPr>
        <p:spPr>
          <a:xfrm>
            <a:off x="548640" y="3721608"/>
            <a:ext cx="3566160" cy="804672"/>
          </a:xfrm>
          <a:prstGeom prst="rect">
            <a:avLst/>
          </a:prstGeom>
          <a:noFill/>
          <a:ln/>
        </p:spPr>
        <p:txBody>
          <a:bodyPr wrap="square" lIns="0" tIns="0" rIns="0" bIns="0" rtlCol="0" anchor="t"/>
          <a:lstStyle/>
          <a:p>
            <a:pPr marL="0" indent="0">
              <a:buNone/>
            </a:pPr>
            <a:r>
              <a:rPr lang="en-US" sz="1250">
                <a:solidFill>
                  <a:schemeClr val="tx1"/>
                </a:solidFill>
              </a:rPr>
              <a:t>A refugee ministry and a family resource center helped design outreach built on one-on-one conversations and festival-style meetings.</a:t>
            </a:r>
            <a:endParaRPr lang="en-US" sz="1250"/>
          </a:p>
        </p:txBody>
      </p:sp>
      <p:sp>
        <p:nvSpPr>
          <p:cNvPr id="18" name="Fairfax Community Roundtable"/>
          <p:cNvSpPr/>
          <p:nvPr/>
        </p:nvSpPr>
        <p:spPr>
          <a:xfrm>
            <a:off x="4389120" y="2944368"/>
            <a:ext cx="3886200" cy="1627632"/>
          </a:xfrm>
          <a:prstGeom prst="roundRect">
            <a:avLst>
              <a:gd name="adj" fmla="val 4494"/>
            </a:avLst>
          </a:prstGeom>
          <a:solidFill>
            <a:schemeClr val="bg2"/>
          </a:solidFill>
          <a:ln w="9525">
            <a:solidFill>
              <a:schemeClr val="bg2"/>
            </a:solidFill>
            <a:prstDash val="solid"/>
          </a:ln>
        </p:spPr>
        <p:txBody>
          <a:bodyPr/>
          <a:lstStyle/>
          <a:p>
            <a:endParaRPr lang="en-US"/>
          </a:p>
        </p:txBody>
      </p:sp>
      <p:sp>
        <p:nvSpPr>
          <p:cNvPr id="19" name="Fairfax Community Roundtable circle"/>
          <p:cNvSpPr/>
          <p:nvPr/>
        </p:nvSpPr>
        <p:spPr>
          <a:xfrm>
            <a:off x="4553712" y="3108960"/>
            <a:ext cx="566928" cy="566928"/>
          </a:xfrm>
          <a:prstGeom prst="ellipse">
            <a:avLst/>
          </a:prstGeom>
          <a:solidFill>
            <a:schemeClr val="accent2"/>
          </a:solidFill>
          <a:ln w="12700">
            <a:solidFill>
              <a:schemeClr val="accent2"/>
            </a:solidFill>
            <a:prstDash val="solid"/>
          </a:ln>
        </p:spPr>
        <p:txBody>
          <a:bodyPr/>
          <a:lstStyle/>
          <a:p>
            <a:endParaRPr lang="en-US"/>
          </a:p>
        </p:txBody>
      </p:sp>
      <p:pic>
        <p:nvPicPr>
          <p:cNvPr id="20" name="Fairfax Community Roundtable icon" descr="preencoded.png"/>
          <p:cNvPicPr>
            <a:picLocks noChangeAspect="1"/>
          </p:cNvPicPr>
          <p:nvPr/>
        </p:nvPicPr>
        <p:blipFill>
          <a:blip r:embed="rId6"/>
          <a:stretch>
            <a:fillRect/>
          </a:stretch>
        </p:blipFill>
        <p:spPr>
          <a:xfrm>
            <a:off x="4689775" y="3245023"/>
            <a:ext cx="294803" cy="294803"/>
          </a:xfrm>
          <a:prstGeom prst="rect">
            <a:avLst/>
          </a:prstGeom>
        </p:spPr>
      </p:pic>
      <p:sp>
        <p:nvSpPr>
          <p:cNvPr id="21" name="Text 15"/>
          <p:cNvSpPr txBox="1"/>
          <p:nvPr/>
        </p:nvSpPr>
        <p:spPr>
          <a:xfrm>
            <a:off x="5257800" y="3108960"/>
            <a:ext cx="2926080" cy="566928"/>
          </a:xfrm>
          <a:prstGeom prst="rect">
            <a:avLst/>
          </a:prstGeom>
          <a:noFill/>
          <a:ln/>
        </p:spPr>
        <p:txBody>
          <a:bodyPr wrap="square" lIns="0" tIns="0" rIns="0" bIns="0" rtlCol="0" anchor="ctr"/>
          <a:lstStyle/>
          <a:p>
            <a:pPr marL="0" indent="0">
              <a:buNone/>
            </a:pPr>
            <a:r>
              <a:rPr lang="en-US" sz="1300" b="1">
                <a:solidFill>
                  <a:schemeClr val="tx2"/>
                </a:solidFill>
                <a:latin typeface="Montserrat" pitchFamily="34" charset="0"/>
                <a:ea typeface="Montserrat" pitchFamily="34" charset="-122"/>
                <a:cs typeface="Montserrat" pitchFamily="34" charset="-120"/>
              </a:rPr>
              <a:t>Fairfax Community Roundtable</a:t>
            </a:r>
            <a:endParaRPr lang="en-US" sz="1300"/>
          </a:p>
        </p:txBody>
      </p:sp>
      <p:sp>
        <p:nvSpPr>
          <p:cNvPr id="22" name="Text 16"/>
          <p:cNvSpPr txBox="1"/>
          <p:nvPr/>
        </p:nvSpPr>
        <p:spPr>
          <a:xfrm>
            <a:off x="4572000" y="3721608"/>
            <a:ext cx="3566160" cy="804672"/>
          </a:xfrm>
          <a:prstGeom prst="rect">
            <a:avLst/>
          </a:prstGeom>
          <a:noFill/>
          <a:ln/>
        </p:spPr>
        <p:txBody>
          <a:bodyPr wrap="square" lIns="0" tIns="0" rIns="0" bIns="0" rtlCol="0" anchor="t"/>
          <a:lstStyle/>
          <a:p>
            <a:pPr marL="0" indent="0">
              <a:buNone/>
            </a:pPr>
            <a:r>
              <a:rPr lang="en-US" sz="1250">
                <a:solidFill>
                  <a:schemeClr val="tx1"/>
                </a:solidFill>
              </a:rPr>
              <a:t>19 members, with seats for underrepresented groups, helped the police department review its foot pursuit policy.</a:t>
            </a:r>
            <a:endParaRPr lang="en-US" sz="1250"/>
          </a:p>
        </p:txBody>
      </p:sp>
      <p:sp>
        <p:nvSpPr>
          <p:cNvPr id="23" name="Text 17"/>
          <p:cNvSpPr txBox="1"/>
          <p:nvPr/>
        </p:nvSpPr>
        <p:spPr>
          <a:xfrm>
            <a:off x="8671330" y="1207007"/>
            <a:ext cx="3694497" cy="268548"/>
          </a:xfrm>
          <a:prstGeom prst="rect">
            <a:avLst/>
          </a:prstGeom>
          <a:noFill/>
          <a:ln/>
        </p:spPr>
        <p:txBody>
          <a:bodyPr wrap="square" lIns="0" tIns="0" rIns="0" bIns="0" rtlCol="0" anchor="ctr"/>
          <a:lstStyle/>
          <a:p>
            <a:r>
              <a:rPr lang="en-US" sz="1000" b="1" kern="0" spc="200">
                <a:solidFill>
                  <a:schemeClr val="accent1"/>
                </a:solidFill>
              </a:rPr>
              <a:t>WHAT WE HEARD FROM WAKE COUNTY PARTNERS</a:t>
            </a:r>
            <a:endParaRPr lang="en-US" sz="1000">
              <a:solidFill>
                <a:schemeClr val="accent1"/>
              </a:solidFill>
            </a:endParaRPr>
          </a:p>
        </p:txBody>
      </p:sp>
      <p:sp>
        <p:nvSpPr>
          <p:cNvPr id="24" name="Text 18"/>
          <p:cNvSpPr/>
          <p:nvPr/>
        </p:nvSpPr>
        <p:spPr>
          <a:xfrm>
            <a:off x="8503920" y="1554480"/>
            <a:ext cx="3319272" cy="1417320"/>
          </a:xfrm>
          <a:prstGeom prst="roundRect">
            <a:avLst>
              <a:gd name="adj" fmla="val 6452"/>
            </a:avLst>
          </a:prstGeom>
          <a:solidFill>
            <a:schemeClr val="tx2"/>
          </a:solidFill>
          <a:ln/>
        </p:spPr>
        <p:txBody>
          <a:bodyPr wrap="square" lIns="127000" tIns="127000" rIns="127000" bIns="127000" rtlCol="0" anchor="ctr"/>
          <a:lstStyle/>
          <a:p>
            <a:pPr marL="0" indent="0" algn="ctr">
              <a:buNone/>
            </a:pPr>
            <a:r>
              <a:rPr lang="en-US" sz="1350" b="1">
                <a:solidFill>
                  <a:schemeClr val="bg1"/>
                </a:solidFill>
              </a:rPr>
              <a:t>Trusted community leaders should act as liaisons between the County and residents.</a:t>
            </a:r>
            <a:endParaRPr lang="en-US" sz="1350"/>
          </a:p>
        </p:txBody>
      </p:sp>
      <p:sp>
        <p:nvSpPr>
          <p:cNvPr id="25" name="Text 19"/>
          <p:cNvSpPr/>
          <p:nvPr/>
        </p:nvSpPr>
        <p:spPr>
          <a:xfrm>
            <a:off x="8503920" y="3127248"/>
            <a:ext cx="3319272" cy="1417320"/>
          </a:xfrm>
          <a:prstGeom prst="roundRect">
            <a:avLst>
              <a:gd name="adj" fmla="val 6452"/>
            </a:avLst>
          </a:prstGeom>
          <a:solidFill>
            <a:schemeClr val="tx2"/>
          </a:solidFill>
          <a:ln/>
        </p:spPr>
        <p:txBody>
          <a:bodyPr wrap="square" lIns="127000" tIns="127000" rIns="127000" bIns="127000" rtlCol="0" anchor="ctr"/>
          <a:lstStyle/>
          <a:p>
            <a:pPr marL="0" indent="0" algn="ctr">
              <a:buNone/>
            </a:pPr>
            <a:r>
              <a:rPr lang="en-US" sz="1350" b="1">
                <a:solidFill>
                  <a:schemeClr val="bg1"/>
                </a:solidFill>
              </a:rPr>
              <a:t>Underrepresented communities are already over-researched, so outreach should run through groups they trust.</a:t>
            </a:r>
            <a:endParaRPr lang="en-US" sz="1350"/>
          </a:p>
        </p:txBody>
      </p:sp>
      <p:sp>
        <p:nvSpPr>
          <p:cNvPr id="26" name="Fit for Wake panel"/>
          <p:cNvSpPr/>
          <p:nvPr/>
        </p:nvSpPr>
        <p:spPr>
          <a:xfrm>
            <a:off x="365760" y="4828032"/>
            <a:ext cx="11457432" cy="786384"/>
          </a:xfrm>
          <a:prstGeom prst="roundRect">
            <a:avLst>
              <a:gd name="adj" fmla="val 9302"/>
            </a:avLst>
          </a:prstGeom>
          <a:solidFill>
            <a:schemeClr val="bg2"/>
          </a:solidFill>
          <a:ln w="9525">
            <a:solidFill>
              <a:schemeClr val="bg2"/>
            </a:solidFill>
            <a:prstDash val="solid"/>
          </a:ln>
        </p:spPr>
        <p:txBody>
          <a:bodyPr/>
          <a:lstStyle/>
          <a:p>
            <a:endParaRPr lang="en-US"/>
          </a:p>
        </p:txBody>
      </p:sp>
      <p:sp>
        <p:nvSpPr>
          <p:cNvPr id="27" name="Wake today"/>
          <p:cNvSpPr txBox="1"/>
          <p:nvPr/>
        </p:nvSpPr>
        <p:spPr>
          <a:xfrm>
            <a:off x="548640" y="4882896"/>
            <a:ext cx="4663440" cy="676656"/>
          </a:xfrm>
          <a:prstGeom prst="rect">
            <a:avLst/>
          </a:prstGeom>
          <a:noFill/>
          <a:ln/>
        </p:spPr>
        <p:txBody>
          <a:bodyPr wrap="square" lIns="0" tIns="0" rIns="0" bIns="0" rtlCol="0" anchor="ctr"/>
          <a:lstStyle/>
          <a:p>
            <a:r>
              <a:rPr lang="en-US" sz="1200" b="1">
                <a:solidFill>
                  <a:schemeClr val="accent2"/>
                </a:solidFill>
              </a:rPr>
              <a:t>Wake County today</a:t>
            </a:r>
            <a:endParaRPr lang="en-US" sz="1200">
              <a:solidFill>
                <a:schemeClr val="accent2"/>
              </a:solidFill>
            </a:endParaRPr>
          </a:p>
          <a:p>
            <a:pPr marL="0" indent="0">
              <a:buNone/>
            </a:pPr>
            <a:r>
              <a:rPr lang="en-US" sz="1200">
                <a:solidFill>
                  <a:schemeClr val="tx1"/>
                </a:solidFill>
              </a:rPr>
              <a:t>No countywide connector program. Most input still comes through surveys and public meetings.</a:t>
            </a:r>
            <a:endParaRPr lang="en-US" sz="1200"/>
          </a:p>
        </p:txBody>
      </p:sp>
      <p:sp>
        <p:nvSpPr>
          <p:cNvPr id="28" name="What it would take"/>
          <p:cNvSpPr txBox="1"/>
          <p:nvPr/>
        </p:nvSpPr>
        <p:spPr>
          <a:xfrm>
            <a:off x="5440680" y="4882896"/>
            <a:ext cx="4343400" cy="676656"/>
          </a:xfrm>
          <a:prstGeom prst="rect">
            <a:avLst/>
          </a:prstGeom>
          <a:noFill/>
          <a:ln/>
        </p:spPr>
        <p:txBody>
          <a:bodyPr wrap="square" lIns="0" tIns="0" rIns="0" bIns="0" rtlCol="0" anchor="ctr"/>
          <a:lstStyle/>
          <a:p>
            <a:pPr marL="0" indent="0">
              <a:buNone/>
            </a:pPr>
            <a:r>
              <a:rPr lang="en-US" sz="1200" b="1">
                <a:solidFill>
                  <a:schemeClr val="accent2"/>
                </a:solidFill>
              </a:rPr>
              <a:t>What it would take</a:t>
            </a:r>
            <a:endParaRPr lang="en-US" sz="1200"/>
          </a:p>
          <a:p>
            <a:pPr marL="0" indent="0">
              <a:buNone/>
            </a:pPr>
            <a:r>
              <a:rPr lang="en-US" sz="1200">
                <a:solidFill>
                  <a:schemeClr val="tx1"/>
                </a:solidFill>
              </a:rPr>
              <a:t>Stipends and community organization contracts. A pilot in two or three communities keeps cost contained.</a:t>
            </a:r>
            <a:endParaRPr lang="en-US" sz="1200"/>
          </a:p>
        </p:txBody>
      </p:sp>
      <p:sp>
        <p:nvSpPr>
          <p:cNvPr id="29" name="Feasibility rating"/>
          <p:cNvSpPr/>
          <p:nvPr/>
        </p:nvSpPr>
        <p:spPr>
          <a:xfrm>
            <a:off x="10012680" y="4937760"/>
            <a:ext cx="1645920" cy="566928"/>
          </a:xfrm>
          <a:prstGeom prst="roundRect">
            <a:avLst>
              <a:gd name="adj" fmla="val 12903"/>
            </a:avLst>
          </a:prstGeom>
          <a:solidFill>
            <a:schemeClr val="accent2"/>
          </a:solidFill>
          <a:ln/>
        </p:spPr>
        <p:txBody>
          <a:bodyPr wrap="square" lIns="0" tIns="0" rIns="0" bIns="0" rtlCol="0" anchor="ctr"/>
          <a:lstStyle/>
          <a:p>
            <a:pPr marL="0" indent="0" algn="ctr">
              <a:buNone/>
            </a:pPr>
            <a:r>
              <a:rPr lang="en-US" sz="900" kern="0" spc="200">
                <a:solidFill>
                  <a:schemeClr val="bg1"/>
                </a:solidFill>
              </a:rPr>
              <a:t>FEASIBILITY</a:t>
            </a:r>
            <a:endParaRPr lang="en-US" sz="900"/>
          </a:p>
          <a:p>
            <a:pPr marL="0" indent="0" algn="ctr">
              <a:buNone/>
            </a:pPr>
            <a:r>
              <a:rPr lang="en-US" sz="1800" b="1">
                <a:solidFill>
                  <a:schemeClr val="bg1"/>
                </a:solidFill>
                <a:latin typeface="Montserrat" pitchFamily="34" charset="0"/>
                <a:ea typeface="Montserrat" pitchFamily="34" charset="-122"/>
                <a:cs typeface="Montserrat" pitchFamily="34" charset="-120"/>
              </a:rPr>
              <a:t>Medium</a:t>
            </a:r>
            <a:endParaRPr lang="en-US" sz="900"/>
          </a:p>
        </p:txBody>
      </p:sp>
      <p:sp>
        <p:nvSpPr>
          <p:cNvPr id="30"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City of Raleigh; Buncombe County; Institute for Local Government (Fresno); Fairfax County Annual Report; Wake partner conversations. </a:t>
            </a:r>
            <a:r>
              <a:rPr lang="en-US" sz="1000" u="sng">
                <a:solidFill>
                  <a:schemeClr val="accent2"/>
                </a:solidFill>
                <a:hlinkClick r:id="rId7"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31"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9</a:t>
            </a:fld>
            <a:endParaRPr lang="en-US"/>
          </a:p>
        </p:txBody>
      </p:sp>
      <p:pic>
        <p:nvPicPr>
          <p:cNvPr id="32" name="Picture 31">
            <a:extLst>
              <a:ext uri="{FF2B5EF4-FFF2-40B4-BE49-F238E27FC236}">
                <a16:creationId xmlns:a16="http://schemas.microsoft.com/office/drawing/2014/main" id="{A5806FF3-A7EE-9270-56B8-08E4E85A9EDC}"/>
              </a:ext>
            </a:extLst>
          </p:cNvPr>
          <p:cNvPicPr>
            <a:picLocks noChangeAspect="1"/>
          </p:cNvPicPr>
          <p:nvPr/>
        </p:nvPicPr>
        <p:blipFill>
          <a:blip r:embed="rId8"/>
          <a:stretch>
            <a:fillRect/>
          </a:stretch>
        </p:blipFill>
        <p:spPr>
          <a:xfrm>
            <a:off x="10702633" y="48335"/>
            <a:ext cx="1176475" cy="920929"/>
          </a:xfrm>
          <a:prstGeom prst="rect">
            <a:avLst/>
          </a:prstGeom>
        </p:spPr>
      </p:pic>
      <p:pic>
        <p:nvPicPr>
          <p:cNvPr id="33" name="Picture 32">
            <a:extLst>
              <a:ext uri="{FF2B5EF4-FFF2-40B4-BE49-F238E27FC236}">
                <a16:creationId xmlns:a16="http://schemas.microsoft.com/office/drawing/2014/main" id="{6CD3D89F-A15F-993A-BEF2-6818B5FFFCC1}"/>
              </a:ext>
            </a:extLst>
          </p:cNvPr>
          <p:cNvPicPr>
            <a:picLocks noChangeAspect="1"/>
          </p:cNvPicPr>
          <p:nvPr/>
        </p:nvPicPr>
        <p:blipFill>
          <a:blip r:embed="rId9"/>
          <a:stretch>
            <a:fillRect/>
          </a:stretch>
        </p:blipFill>
        <p:spPr>
          <a:xfrm>
            <a:off x="1261872" y="6149993"/>
            <a:ext cx="534000" cy="6193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279169" y="510032"/>
            <a:ext cx="10870276" cy="713232"/>
          </a:xfrm>
          <a:prstGeom prst="rect">
            <a:avLst/>
          </a:prstGeom>
          <a:noFill/>
          <a:ln/>
        </p:spPr>
        <p:txBody>
          <a:bodyPr wrap="square" lIns="0" tIns="0" rIns="0" bIns="0" rtlCol="0" anchor="b"/>
          <a:lstStyle/>
          <a:p>
            <a:r>
              <a:rPr lang="en-US">
                <a:latin typeface="Montserrat"/>
              </a:rPr>
              <a:t>Centralized </a:t>
            </a:r>
            <a:r>
              <a:rPr lang="en-US" sz="2400" b="1">
                <a:latin typeface="Montserrat"/>
              </a:rPr>
              <a:t>Language Access </a:t>
            </a:r>
            <a:r>
              <a:rPr lang="en-US">
                <a:latin typeface="Montserrat"/>
              </a:rPr>
              <a:t>Builds </a:t>
            </a:r>
            <a:r>
              <a:rPr lang="en-US" sz="2400" b="1">
                <a:latin typeface="Montserrat"/>
              </a:rPr>
              <a:t>Capacity and </a:t>
            </a:r>
            <a:r>
              <a:rPr lang="en-US">
                <a:latin typeface="Montserrat"/>
              </a:rPr>
              <a:t>Reduces </a:t>
            </a:r>
            <a:r>
              <a:rPr lang="en-US" sz="2400" b="1">
                <a:latin typeface="Montserrat"/>
              </a:rPr>
              <a:t>Costs</a:t>
            </a:r>
            <a:endParaRPr lang="en-US">
              <a:latin typeface="Montserrat"/>
            </a:endParaRPr>
          </a:p>
          <a:p>
            <a:pPr marL="0" indent="0" algn="l">
              <a:buNone/>
            </a:pPr>
            <a:endParaRPr lang="en-US" sz="2400"/>
          </a:p>
        </p:txBody>
      </p:sp>
      <p:sp>
        <p:nvSpPr>
          <p:cNvPr id="3" name="Text 1"/>
          <p:cNvSpPr txBox="1"/>
          <p:nvPr/>
        </p:nvSpPr>
        <p:spPr>
          <a:xfrm>
            <a:off x="365760" y="1188720"/>
            <a:ext cx="4937760" cy="292608"/>
          </a:xfrm>
          <a:prstGeom prst="rect">
            <a:avLst/>
          </a:prstGeom>
          <a:noFill/>
          <a:ln/>
        </p:spPr>
        <p:txBody>
          <a:bodyPr wrap="square" lIns="0" tIns="0" rIns="0" bIns="0" rtlCol="0" anchor="ctr"/>
          <a:lstStyle/>
          <a:p>
            <a:pPr marL="0" indent="0">
              <a:buNone/>
            </a:pPr>
            <a:r>
              <a:rPr lang="en-US" sz="1400" b="1">
                <a:solidFill>
                  <a:schemeClr val="accent2"/>
                </a:solidFill>
              </a:rPr>
              <a:t>Fairfax Language Access Program, FY2025</a:t>
            </a:r>
            <a:endParaRPr lang="en-US" sz="1400"/>
          </a:p>
        </p:txBody>
      </p:sp>
      <p:sp>
        <p:nvSpPr>
          <p:cNvPr id="4" name="Fairfax stat 606"/>
          <p:cNvSpPr/>
          <p:nvPr/>
        </p:nvSpPr>
        <p:spPr>
          <a:xfrm>
            <a:off x="365760" y="1572768"/>
            <a:ext cx="2377440" cy="1097280"/>
          </a:xfrm>
          <a:prstGeom prst="roundRect">
            <a:avLst>
              <a:gd name="adj" fmla="val 6667"/>
            </a:avLst>
          </a:prstGeom>
          <a:solidFill>
            <a:schemeClr val="bg2"/>
          </a:solidFill>
          <a:ln w="9525">
            <a:solidFill>
              <a:schemeClr val="bg2"/>
            </a:solidFill>
            <a:prstDash val="solid"/>
          </a:ln>
        </p:spPr>
        <p:txBody>
          <a:bodyPr/>
          <a:lstStyle/>
          <a:p>
            <a:endParaRPr lang="en-US"/>
          </a:p>
        </p:txBody>
      </p:sp>
      <p:sp>
        <p:nvSpPr>
          <p:cNvPr id="5" name="Text 3"/>
          <p:cNvSpPr txBox="1"/>
          <p:nvPr/>
        </p:nvSpPr>
        <p:spPr>
          <a:xfrm>
            <a:off x="365760" y="1664208"/>
            <a:ext cx="2377440" cy="566928"/>
          </a:xfrm>
          <a:prstGeom prst="rect">
            <a:avLst/>
          </a:prstGeom>
          <a:noFill/>
          <a:ln/>
        </p:spPr>
        <p:txBody>
          <a:bodyPr wrap="square" lIns="0" tIns="0" rIns="0" bIns="0" rtlCol="0" anchor="ctr"/>
          <a:lstStyle/>
          <a:p>
            <a:pPr marL="0" indent="0" algn="ctr">
              <a:buNone/>
            </a:pPr>
            <a:r>
              <a:rPr lang="en-US" sz="2800" b="1">
                <a:solidFill>
                  <a:schemeClr val="tx2"/>
                </a:solidFill>
                <a:latin typeface="Montserrat" pitchFamily="34" charset="0"/>
                <a:ea typeface="Montserrat" pitchFamily="34" charset="-122"/>
                <a:cs typeface="Montserrat" pitchFamily="34" charset="-120"/>
              </a:rPr>
              <a:t>606</a:t>
            </a:r>
            <a:endParaRPr lang="en-US" sz="2800"/>
          </a:p>
        </p:txBody>
      </p:sp>
      <p:sp>
        <p:nvSpPr>
          <p:cNvPr id="6" name="Text 4"/>
          <p:cNvSpPr txBox="1"/>
          <p:nvPr/>
        </p:nvSpPr>
        <p:spPr>
          <a:xfrm>
            <a:off x="457200" y="2231136"/>
            <a:ext cx="2194560" cy="365760"/>
          </a:xfrm>
          <a:prstGeom prst="rect">
            <a:avLst/>
          </a:prstGeom>
          <a:noFill/>
          <a:ln/>
        </p:spPr>
        <p:txBody>
          <a:bodyPr wrap="square" lIns="0" tIns="0" rIns="0" bIns="0" rtlCol="0" anchor="t"/>
          <a:lstStyle/>
          <a:p>
            <a:pPr marL="0" indent="0" algn="ctr">
              <a:buNone/>
            </a:pPr>
            <a:r>
              <a:rPr lang="en-US" sz="1200">
                <a:solidFill>
                  <a:schemeClr val="tx1"/>
                </a:solidFill>
              </a:rPr>
              <a:t>translation requests</a:t>
            </a:r>
            <a:endParaRPr lang="en-US" sz="1200"/>
          </a:p>
        </p:txBody>
      </p:sp>
      <p:sp>
        <p:nvSpPr>
          <p:cNvPr id="7" name="Fairfax stat 28"/>
          <p:cNvSpPr/>
          <p:nvPr/>
        </p:nvSpPr>
        <p:spPr>
          <a:xfrm>
            <a:off x="2852928" y="1572768"/>
            <a:ext cx="2377440" cy="1097280"/>
          </a:xfrm>
          <a:prstGeom prst="roundRect">
            <a:avLst>
              <a:gd name="adj" fmla="val 6667"/>
            </a:avLst>
          </a:prstGeom>
          <a:solidFill>
            <a:schemeClr val="bg2"/>
          </a:solidFill>
          <a:ln w="9525">
            <a:solidFill>
              <a:schemeClr val="bg2"/>
            </a:solidFill>
            <a:prstDash val="solid"/>
          </a:ln>
        </p:spPr>
        <p:txBody>
          <a:bodyPr/>
          <a:lstStyle/>
          <a:p>
            <a:endParaRPr lang="en-US"/>
          </a:p>
        </p:txBody>
      </p:sp>
      <p:sp>
        <p:nvSpPr>
          <p:cNvPr id="8" name="Text 6"/>
          <p:cNvSpPr txBox="1"/>
          <p:nvPr/>
        </p:nvSpPr>
        <p:spPr>
          <a:xfrm>
            <a:off x="2852928" y="1664208"/>
            <a:ext cx="2377440" cy="566928"/>
          </a:xfrm>
          <a:prstGeom prst="rect">
            <a:avLst/>
          </a:prstGeom>
          <a:noFill/>
          <a:ln/>
        </p:spPr>
        <p:txBody>
          <a:bodyPr wrap="square" lIns="0" tIns="0" rIns="0" bIns="0" rtlCol="0" anchor="ctr"/>
          <a:lstStyle/>
          <a:p>
            <a:pPr marL="0" indent="0" algn="ctr">
              <a:buNone/>
            </a:pPr>
            <a:r>
              <a:rPr lang="en-US" sz="2800" b="1">
                <a:solidFill>
                  <a:schemeClr val="tx2"/>
                </a:solidFill>
                <a:latin typeface="Montserrat" pitchFamily="34" charset="0"/>
                <a:ea typeface="Montserrat" pitchFamily="34" charset="-122"/>
                <a:cs typeface="Montserrat" pitchFamily="34" charset="-120"/>
              </a:rPr>
              <a:t>28</a:t>
            </a:r>
            <a:endParaRPr lang="en-US" sz="2800"/>
          </a:p>
        </p:txBody>
      </p:sp>
      <p:sp>
        <p:nvSpPr>
          <p:cNvPr id="9" name="Text 7"/>
          <p:cNvSpPr txBox="1"/>
          <p:nvPr/>
        </p:nvSpPr>
        <p:spPr>
          <a:xfrm>
            <a:off x="2944368" y="2231136"/>
            <a:ext cx="2194560" cy="365760"/>
          </a:xfrm>
          <a:prstGeom prst="rect">
            <a:avLst/>
          </a:prstGeom>
          <a:noFill/>
          <a:ln/>
        </p:spPr>
        <p:txBody>
          <a:bodyPr wrap="square" lIns="0" tIns="0" rIns="0" bIns="0" rtlCol="0" anchor="t"/>
          <a:lstStyle/>
          <a:p>
            <a:pPr marL="0" indent="0" algn="ctr">
              <a:buNone/>
            </a:pPr>
            <a:r>
              <a:rPr lang="en-US" sz="1200">
                <a:solidFill>
                  <a:schemeClr val="tx1"/>
                </a:solidFill>
              </a:rPr>
              <a:t>departments served</a:t>
            </a:r>
            <a:endParaRPr lang="en-US" sz="1200"/>
          </a:p>
        </p:txBody>
      </p:sp>
      <p:sp>
        <p:nvSpPr>
          <p:cNvPr id="10" name="Fairfax stat +110%"/>
          <p:cNvSpPr/>
          <p:nvPr/>
        </p:nvSpPr>
        <p:spPr>
          <a:xfrm>
            <a:off x="365760" y="2779776"/>
            <a:ext cx="2377440" cy="1097280"/>
          </a:xfrm>
          <a:prstGeom prst="roundRect">
            <a:avLst>
              <a:gd name="adj" fmla="val 6667"/>
            </a:avLst>
          </a:prstGeom>
          <a:solidFill>
            <a:schemeClr val="bg2"/>
          </a:solidFill>
          <a:ln w="9525">
            <a:solidFill>
              <a:schemeClr val="bg2"/>
            </a:solidFill>
            <a:prstDash val="solid"/>
          </a:ln>
        </p:spPr>
        <p:txBody>
          <a:bodyPr/>
          <a:lstStyle/>
          <a:p>
            <a:endParaRPr lang="en-US"/>
          </a:p>
        </p:txBody>
      </p:sp>
      <p:sp>
        <p:nvSpPr>
          <p:cNvPr id="11" name="Text 9"/>
          <p:cNvSpPr txBox="1"/>
          <p:nvPr/>
        </p:nvSpPr>
        <p:spPr>
          <a:xfrm>
            <a:off x="365760" y="2871216"/>
            <a:ext cx="2377440" cy="566928"/>
          </a:xfrm>
          <a:prstGeom prst="rect">
            <a:avLst/>
          </a:prstGeom>
          <a:noFill/>
          <a:ln/>
        </p:spPr>
        <p:txBody>
          <a:bodyPr wrap="square" lIns="0" tIns="0" rIns="0" bIns="0" rtlCol="0" anchor="ctr"/>
          <a:lstStyle/>
          <a:p>
            <a:pPr marL="0" indent="0" algn="ctr">
              <a:buNone/>
            </a:pPr>
            <a:r>
              <a:rPr lang="en-US" sz="2800" b="1">
                <a:solidFill>
                  <a:schemeClr val="tx2"/>
                </a:solidFill>
                <a:latin typeface="Montserrat" pitchFamily="34" charset="0"/>
                <a:ea typeface="Montserrat" pitchFamily="34" charset="-122"/>
                <a:cs typeface="Montserrat" pitchFamily="34" charset="-120"/>
              </a:rPr>
              <a:t>+110%</a:t>
            </a:r>
            <a:endParaRPr lang="en-US" sz="2800"/>
          </a:p>
        </p:txBody>
      </p:sp>
      <p:sp>
        <p:nvSpPr>
          <p:cNvPr id="12" name="Text 10"/>
          <p:cNvSpPr txBox="1"/>
          <p:nvPr/>
        </p:nvSpPr>
        <p:spPr>
          <a:xfrm>
            <a:off x="457200" y="3438144"/>
            <a:ext cx="2194560" cy="365760"/>
          </a:xfrm>
          <a:prstGeom prst="rect">
            <a:avLst/>
          </a:prstGeom>
          <a:noFill/>
          <a:ln/>
        </p:spPr>
        <p:txBody>
          <a:bodyPr wrap="square" lIns="0" tIns="0" rIns="0" bIns="0" rtlCol="0" anchor="t"/>
          <a:lstStyle/>
          <a:p>
            <a:pPr marL="0" indent="0" algn="ctr">
              <a:buNone/>
            </a:pPr>
            <a:r>
              <a:rPr lang="en-US" sz="1200">
                <a:solidFill>
                  <a:schemeClr val="tx1"/>
                </a:solidFill>
              </a:rPr>
              <a:t>requests vs. FY2024</a:t>
            </a:r>
            <a:endParaRPr lang="en-US" sz="1200"/>
          </a:p>
        </p:txBody>
      </p:sp>
      <p:sp>
        <p:nvSpPr>
          <p:cNvPr id="13" name="Fairfax stat −34%"/>
          <p:cNvSpPr/>
          <p:nvPr/>
        </p:nvSpPr>
        <p:spPr>
          <a:xfrm>
            <a:off x="2852928" y="2779776"/>
            <a:ext cx="2377440" cy="1097280"/>
          </a:xfrm>
          <a:prstGeom prst="roundRect">
            <a:avLst>
              <a:gd name="adj" fmla="val 6667"/>
            </a:avLst>
          </a:prstGeom>
          <a:solidFill>
            <a:schemeClr val="accent4"/>
          </a:solidFill>
          <a:ln w="9525">
            <a:solidFill>
              <a:schemeClr val="accent4"/>
            </a:solidFill>
            <a:prstDash val="solid"/>
          </a:ln>
        </p:spPr>
        <p:txBody>
          <a:bodyPr/>
          <a:lstStyle/>
          <a:p>
            <a:endParaRPr lang="en-US"/>
          </a:p>
        </p:txBody>
      </p:sp>
      <p:sp>
        <p:nvSpPr>
          <p:cNvPr id="14" name="Text 12"/>
          <p:cNvSpPr txBox="1"/>
          <p:nvPr/>
        </p:nvSpPr>
        <p:spPr>
          <a:xfrm>
            <a:off x="2852928" y="2871216"/>
            <a:ext cx="2377440" cy="566928"/>
          </a:xfrm>
          <a:prstGeom prst="rect">
            <a:avLst/>
          </a:prstGeom>
          <a:noFill/>
          <a:ln/>
        </p:spPr>
        <p:txBody>
          <a:bodyPr wrap="square" lIns="0" tIns="0" rIns="0" bIns="0" rtlCol="0" anchor="ctr"/>
          <a:lstStyle/>
          <a:p>
            <a:pPr marL="0" indent="0" algn="ctr">
              <a:buNone/>
            </a:pPr>
            <a:r>
              <a:rPr lang="en-US" sz="2800" b="1">
                <a:solidFill>
                  <a:schemeClr val="bg1"/>
                </a:solidFill>
                <a:latin typeface="Montserrat" pitchFamily="34" charset="0"/>
                <a:ea typeface="Montserrat" pitchFamily="34" charset="-122"/>
                <a:cs typeface="Montserrat" pitchFamily="34" charset="-120"/>
              </a:rPr>
              <a:t>−34%</a:t>
            </a:r>
            <a:endParaRPr lang="en-US" sz="2800"/>
          </a:p>
        </p:txBody>
      </p:sp>
      <p:sp>
        <p:nvSpPr>
          <p:cNvPr id="15" name="Text 13"/>
          <p:cNvSpPr txBox="1"/>
          <p:nvPr/>
        </p:nvSpPr>
        <p:spPr>
          <a:xfrm>
            <a:off x="2944368" y="3438144"/>
            <a:ext cx="2194560" cy="365760"/>
          </a:xfrm>
          <a:prstGeom prst="rect">
            <a:avLst/>
          </a:prstGeom>
          <a:noFill/>
          <a:ln/>
        </p:spPr>
        <p:txBody>
          <a:bodyPr wrap="square" lIns="0" tIns="0" rIns="0" bIns="0" rtlCol="0" anchor="t"/>
          <a:lstStyle/>
          <a:p>
            <a:pPr marL="0" indent="0" algn="ctr">
              <a:buNone/>
            </a:pPr>
            <a:r>
              <a:rPr lang="en-US" sz="1200">
                <a:solidFill>
                  <a:schemeClr val="bg1"/>
                </a:solidFill>
              </a:rPr>
              <a:t>outside translation spending</a:t>
            </a:r>
            <a:endParaRPr lang="en-US" sz="1200"/>
          </a:p>
        </p:txBody>
      </p:sp>
      <p:sp>
        <p:nvSpPr>
          <p:cNvPr id="16" name="Text 14"/>
          <p:cNvSpPr txBox="1"/>
          <p:nvPr/>
        </p:nvSpPr>
        <p:spPr>
          <a:xfrm>
            <a:off x="365760" y="4041648"/>
            <a:ext cx="4846320" cy="548640"/>
          </a:xfrm>
          <a:prstGeom prst="rect">
            <a:avLst/>
          </a:prstGeom>
          <a:noFill/>
          <a:ln/>
        </p:spPr>
        <p:txBody>
          <a:bodyPr wrap="square" lIns="0" tIns="0" rIns="0" bIns="0" rtlCol="0" anchor="t"/>
          <a:lstStyle/>
          <a:p>
            <a:pPr marL="0" indent="0">
              <a:buNone/>
            </a:pPr>
            <a:r>
              <a:rPr lang="en-US" sz="1200" i="1">
                <a:solidFill>
                  <a:schemeClr val="accent6"/>
                </a:solidFill>
              </a:rPr>
              <a:t>Two full-time translators in the Office of Public Affairs handle requests from across the county.</a:t>
            </a:r>
            <a:endParaRPr lang="en-US" sz="1200"/>
          </a:p>
        </p:txBody>
      </p:sp>
      <p:sp>
        <p:nvSpPr>
          <p:cNvPr id="17" name="Text 15"/>
          <p:cNvSpPr txBox="1"/>
          <p:nvPr/>
        </p:nvSpPr>
        <p:spPr>
          <a:xfrm>
            <a:off x="5669280" y="1188720"/>
            <a:ext cx="6126480" cy="292608"/>
          </a:xfrm>
          <a:prstGeom prst="rect">
            <a:avLst/>
          </a:prstGeom>
          <a:noFill/>
          <a:ln/>
        </p:spPr>
        <p:txBody>
          <a:bodyPr wrap="square" lIns="0" tIns="0" rIns="0" bIns="0" rtlCol="0" anchor="ctr"/>
          <a:lstStyle/>
          <a:p>
            <a:r>
              <a:rPr lang="en-US" sz="1400" b="1">
                <a:solidFill>
                  <a:schemeClr val="accent2"/>
                </a:solidFill>
                <a:ea typeface="+mn-lt"/>
                <a:cs typeface="+mn-lt"/>
              </a:rPr>
              <a:t>Where Wake County Stands on the Path Forward</a:t>
            </a:r>
            <a:endParaRPr lang="en-US" b="1">
              <a:solidFill>
                <a:schemeClr val="accent2"/>
              </a:solidFill>
              <a:ea typeface="Calibri"/>
              <a:cs typeface="Calibri"/>
            </a:endParaRPr>
          </a:p>
        </p:txBody>
      </p:sp>
      <p:sp>
        <p:nvSpPr>
          <p:cNvPr id="18" name="Text 16"/>
          <p:cNvSpPr/>
          <p:nvPr/>
        </p:nvSpPr>
        <p:spPr>
          <a:xfrm>
            <a:off x="5669280" y="1600200"/>
            <a:ext cx="2148840" cy="548640"/>
          </a:xfrm>
          <a:prstGeom prst="homePlate">
            <a:avLst/>
          </a:prstGeom>
          <a:solidFill>
            <a:schemeClr val="accent1"/>
          </a:solidFill>
          <a:ln/>
        </p:spPr>
        <p:txBody>
          <a:bodyPr wrap="square" lIns="0" tIns="0" rIns="0" bIns="0" rtlCol="0" anchor="ctr"/>
          <a:lstStyle/>
          <a:p>
            <a:pPr marL="0" indent="0" algn="ctr">
              <a:buNone/>
            </a:pPr>
            <a:r>
              <a:rPr lang="en-US" sz="1300" b="1">
                <a:solidFill>
                  <a:schemeClr val="bg1"/>
                </a:solidFill>
              </a:rPr>
              <a:t>On request</a:t>
            </a:r>
            <a:endParaRPr lang="en-US" sz="1300"/>
          </a:p>
        </p:txBody>
      </p:sp>
      <p:sp>
        <p:nvSpPr>
          <p:cNvPr id="19" name="Text 17"/>
          <p:cNvSpPr txBox="1"/>
          <p:nvPr/>
        </p:nvSpPr>
        <p:spPr>
          <a:xfrm>
            <a:off x="5715000" y="2286000"/>
            <a:ext cx="1920240" cy="1234440"/>
          </a:xfrm>
          <a:prstGeom prst="rect">
            <a:avLst/>
          </a:prstGeom>
          <a:noFill/>
          <a:ln/>
        </p:spPr>
        <p:txBody>
          <a:bodyPr wrap="square" lIns="0" tIns="0" rIns="0" bIns="0" rtlCol="0" anchor="t"/>
          <a:lstStyle/>
          <a:p>
            <a:pPr marL="0" indent="0">
              <a:buNone/>
            </a:pPr>
            <a:r>
              <a:rPr lang="en-US" sz="1200" b="1">
                <a:solidFill>
                  <a:schemeClr val="accent1"/>
                </a:solidFill>
              </a:rPr>
              <a:t>Wake today: Board materials in 5 languages plus ASL with one business day notice; phone and video interpretation for staff</a:t>
            </a:r>
            <a:endParaRPr lang="en-US" sz="1200"/>
          </a:p>
        </p:txBody>
      </p:sp>
      <p:sp>
        <p:nvSpPr>
          <p:cNvPr id="20" name="Text 18"/>
          <p:cNvSpPr/>
          <p:nvPr/>
        </p:nvSpPr>
        <p:spPr>
          <a:xfrm>
            <a:off x="7726680" y="1600200"/>
            <a:ext cx="2148840" cy="548640"/>
          </a:xfrm>
          <a:prstGeom prst="chevron">
            <a:avLst/>
          </a:prstGeom>
          <a:solidFill>
            <a:schemeClr val="accent3"/>
          </a:solidFill>
          <a:ln/>
        </p:spPr>
        <p:txBody>
          <a:bodyPr wrap="square" lIns="0" tIns="0" rIns="0" bIns="0" rtlCol="0" anchor="ctr"/>
          <a:lstStyle/>
          <a:p>
            <a:pPr marL="0" indent="0" algn="ctr">
              <a:buNone/>
            </a:pPr>
            <a:r>
              <a:rPr lang="en-US" sz="1300" b="1">
                <a:solidFill>
                  <a:schemeClr val="tx2"/>
                </a:solidFill>
              </a:rPr>
              <a:t>Countywide plan</a:t>
            </a:r>
            <a:endParaRPr lang="en-US" sz="1300"/>
          </a:p>
        </p:txBody>
      </p:sp>
      <p:sp>
        <p:nvSpPr>
          <p:cNvPr id="21" name="Text 19"/>
          <p:cNvSpPr txBox="1"/>
          <p:nvPr/>
        </p:nvSpPr>
        <p:spPr>
          <a:xfrm>
            <a:off x="7772400" y="2286000"/>
            <a:ext cx="1920240" cy="1234440"/>
          </a:xfrm>
          <a:prstGeom prst="rect">
            <a:avLst/>
          </a:prstGeom>
          <a:noFill/>
          <a:ln/>
        </p:spPr>
        <p:txBody>
          <a:bodyPr wrap="square" lIns="0" tIns="0" rIns="0" bIns="0" rtlCol="0" anchor="t"/>
          <a:lstStyle/>
          <a:p>
            <a:pPr marL="0" indent="0">
              <a:buNone/>
            </a:pPr>
            <a:r>
              <a:rPr lang="en-US" sz="1200">
                <a:solidFill>
                  <a:schemeClr val="tx1"/>
                </a:solidFill>
              </a:rPr>
              <a:t>Travis County: a Language Access Plan sets rules for every department</a:t>
            </a:r>
            <a:endParaRPr lang="en-US" sz="1200"/>
          </a:p>
        </p:txBody>
      </p:sp>
      <p:sp>
        <p:nvSpPr>
          <p:cNvPr id="22" name="Text 20"/>
          <p:cNvSpPr/>
          <p:nvPr/>
        </p:nvSpPr>
        <p:spPr>
          <a:xfrm>
            <a:off x="9784080" y="1600200"/>
            <a:ext cx="2148840" cy="548640"/>
          </a:xfrm>
          <a:prstGeom prst="chevron">
            <a:avLst/>
          </a:prstGeom>
          <a:solidFill>
            <a:schemeClr val="accent2"/>
          </a:solidFill>
          <a:ln/>
        </p:spPr>
        <p:txBody>
          <a:bodyPr wrap="square" lIns="0" tIns="0" rIns="0" bIns="0" rtlCol="0" anchor="ctr"/>
          <a:lstStyle/>
          <a:p>
            <a:pPr marL="0" indent="0" algn="ctr">
              <a:buNone/>
            </a:pPr>
            <a:r>
              <a:rPr lang="en-US" sz="1300" b="1">
                <a:solidFill>
                  <a:schemeClr val="bg1"/>
                </a:solidFill>
              </a:rPr>
              <a:t>Central in-house team</a:t>
            </a:r>
            <a:endParaRPr lang="en-US" sz="1300"/>
          </a:p>
        </p:txBody>
      </p:sp>
      <p:sp>
        <p:nvSpPr>
          <p:cNvPr id="23" name="Text 21"/>
          <p:cNvSpPr txBox="1"/>
          <p:nvPr/>
        </p:nvSpPr>
        <p:spPr>
          <a:xfrm>
            <a:off x="9829800" y="2286000"/>
            <a:ext cx="1920240" cy="1234440"/>
          </a:xfrm>
          <a:prstGeom prst="rect">
            <a:avLst/>
          </a:prstGeom>
          <a:noFill/>
          <a:ln/>
        </p:spPr>
        <p:txBody>
          <a:bodyPr wrap="square" lIns="0" tIns="0" rIns="0" bIns="0" rtlCol="0" anchor="t"/>
          <a:lstStyle/>
          <a:p>
            <a:pPr marL="0" indent="0">
              <a:buNone/>
            </a:pPr>
            <a:r>
              <a:rPr lang="en-US" sz="1200">
                <a:solidFill>
                  <a:schemeClr val="tx1"/>
                </a:solidFill>
              </a:rPr>
              <a:t>Fairfax: one internal team handles translation for departments countywide</a:t>
            </a:r>
            <a:endParaRPr lang="en-US" sz="1200"/>
          </a:p>
        </p:txBody>
      </p:sp>
      <p:sp>
        <p:nvSpPr>
          <p:cNvPr id="24" name="Wake language stat"/>
          <p:cNvSpPr/>
          <p:nvPr/>
        </p:nvSpPr>
        <p:spPr>
          <a:xfrm>
            <a:off x="5669280" y="3639312"/>
            <a:ext cx="6153912" cy="960120"/>
          </a:xfrm>
          <a:prstGeom prst="roundRect">
            <a:avLst>
              <a:gd name="adj" fmla="val 7619"/>
            </a:avLst>
          </a:prstGeom>
          <a:solidFill>
            <a:schemeClr val="bg2"/>
          </a:solidFill>
          <a:ln w="9525">
            <a:solidFill>
              <a:schemeClr val="bg2"/>
            </a:solidFill>
            <a:prstDash val="solid"/>
          </a:ln>
        </p:spPr>
        <p:txBody>
          <a:bodyPr/>
          <a:lstStyle/>
          <a:p>
            <a:endParaRPr lang="en-US"/>
          </a:p>
        </p:txBody>
      </p:sp>
      <p:sp>
        <p:nvSpPr>
          <p:cNvPr id="25" name="Text 23"/>
          <p:cNvSpPr txBox="1"/>
          <p:nvPr/>
        </p:nvSpPr>
        <p:spPr>
          <a:xfrm>
            <a:off x="5944985" y="3639312"/>
            <a:ext cx="1280160" cy="960120"/>
          </a:xfrm>
          <a:prstGeom prst="rect">
            <a:avLst/>
          </a:prstGeom>
          <a:noFill/>
          <a:ln/>
        </p:spPr>
        <p:txBody>
          <a:bodyPr wrap="square" lIns="0" tIns="0" rIns="0" bIns="0" rtlCol="0" anchor="ctr"/>
          <a:lstStyle/>
          <a:p>
            <a:pPr marL="0" indent="0">
              <a:buNone/>
            </a:pPr>
            <a:r>
              <a:rPr lang="en-US" sz="3000" b="1">
                <a:solidFill>
                  <a:schemeClr val="accent1"/>
                </a:solidFill>
                <a:latin typeface="Montserrat" pitchFamily="34" charset="0"/>
                <a:ea typeface="Montserrat" pitchFamily="34" charset="-122"/>
                <a:cs typeface="Montserrat" pitchFamily="34" charset="-120"/>
              </a:rPr>
              <a:t>17%</a:t>
            </a:r>
            <a:endParaRPr lang="en-US" sz="3000"/>
          </a:p>
        </p:txBody>
      </p:sp>
      <p:sp>
        <p:nvSpPr>
          <p:cNvPr id="26" name="Text 24"/>
          <p:cNvSpPr txBox="1"/>
          <p:nvPr/>
        </p:nvSpPr>
        <p:spPr>
          <a:xfrm>
            <a:off x="6995160" y="3639312"/>
            <a:ext cx="4572000" cy="960120"/>
          </a:xfrm>
          <a:prstGeom prst="rect">
            <a:avLst/>
          </a:prstGeom>
          <a:noFill/>
          <a:ln/>
        </p:spPr>
        <p:txBody>
          <a:bodyPr wrap="square" lIns="0" tIns="0" rIns="0" bIns="0" rtlCol="0" anchor="ctr"/>
          <a:lstStyle/>
          <a:p>
            <a:pPr marL="0" indent="0">
              <a:buNone/>
            </a:pPr>
            <a:r>
              <a:rPr lang="en-US" sz="1400">
                <a:solidFill>
                  <a:schemeClr val="tx1"/>
                </a:solidFill>
              </a:rPr>
              <a:t>of Wake residents age 5 and older speak a language other than English at home.</a:t>
            </a:r>
            <a:endParaRPr lang="en-US" sz="1400"/>
          </a:p>
        </p:txBody>
      </p:sp>
      <p:sp>
        <p:nvSpPr>
          <p:cNvPr id="27" name="Fit for Wake panel"/>
          <p:cNvSpPr/>
          <p:nvPr/>
        </p:nvSpPr>
        <p:spPr>
          <a:xfrm>
            <a:off x="365760" y="4828032"/>
            <a:ext cx="11457432" cy="786384"/>
          </a:xfrm>
          <a:prstGeom prst="roundRect">
            <a:avLst>
              <a:gd name="adj" fmla="val 9302"/>
            </a:avLst>
          </a:prstGeom>
          <a:solidFill>
            <a:schemeClr val="bg2"/>
          </a:solidFill>
          <a:ln w="9525">
            <a:solidFill>
              <a:schemeClr val="bg2"/>
            </a:solidFill>
            <a:prstDash val="solid"/>
          </a:ln>
        </p:spPr>
        <p:txBody>
          <a:bodyPr/>
          <a:lstStyle/>
          <a:p>
            <a:endParaRPr lang="en-US"/>
          </a:p>
        </p:txBody>
      </p:sp>
      <p:sp>
        <p:nvSpPr>
          <p:cNvPr id="28" name="Wake today"/>
          <p:cNvSpPr txBox="1"/>
          <p:nvPr/>
        </p:nvSpPr>
        <p:spPr>
          <a:xfrm>
            <a:off x="548640" y="4882896"/>
            <a:ext cx="4663440" cy="676656"/>
          </a:xfrm>
          <a:prstGeom prst="rect">
            <a:avLst/>
          </a:prstGeom>
          <a:noFill/>
          <a:ln/>
        </p:spPr>
        <p:txBody>
          <a:bodyPr wrap="square" lIns="0" tIns="0" rIns="0" bIns="0" rtlCol="0" anchor="ctr"/>
          <a:lstStyle/>
          <a:p>
            <a:r>
              <a:rPr lang="en-US" sz="1200" b="1">
                <a:solidFill>
                  <a:schemeClr val="accent2"/>
                </a:solidFill>
              </a:rPr>
              <a:t>Wake County today</a:t>
            </a:r>
            <a:endParaRPr lang="en-US" sz="1200"/>
          </a:p>
          <a:p>
            <a:pPr marL="0" indent="0">
              <a:buNone/>
            </a:pPr>
            <a:r>
              <a:rPr lang="en-US" sz="1200">
                <a:solidFill>
                  <a:schemeClr val="tx1"/>
                </a:solidFill>
              </a:rPr>
              <a:t>Language help exists, but it is request-based and tied to specific meetings or departments.</a:t>
            </a:r>
            <a:endParaRPr lang="en-US" sz="1200"/>
          </a:p>
        </p:txBody>
      </p:sp>
      <p:sp>
        <p:nvSpPr>
          <p:cNvPr id="29" name="What it would take"/>
          <p:cNvSpPr txBox="1"/>
          <p:nvPr/>
        </p:nvSpPr>
        <p:spPr>
          <a:xfrm>
            <a:off x="5440680" y="4882896"/>
            <a:ext cx="4343400" cy="676656"/>
          </a:xfrm>
          <a:prstGeom prst="rect">
            <a:avLst/>
          </a:prstGeom>
          <a:noFill/>
          <a:ln/>
        </p:spPr>
        <p:txBody>
          <a:bodyPr wrap="square" lIns="0" tIns="0" rIns="0" bIns="0" rtlCol="0" anchor="ctr"/>
          <a:lstStyle/>
          <a:p>
            <a:pPr marL="0" indent="0">
              <a:buNone/>
            </a:pPr>
            <a:r>
              <a:rPr lang="en-US" sz="1200" b="1">
                <a:solidFill>
                  <a:schemeClr val="accent2"/>
                </a:solidFill>
              </a:rPr>
              <a:t>What it would take</a:t>
            </a:r>
            <a:endParaRPr lang="en-US" sz="1200"/>
          </a:p>
          <a:p>
            <a:pPr marL="0" indent="0">
              <a:buNone/>
            </a:pPr>
            <a:r>
              <a:rPr lang="en-US" sz="1200">
                <a:solidFill>
                  <a:schemeClr val="tx1"/>
                </a:solidFill>
              </a:rPr>
              <a:t>Route department requests through one hub first. Fairfax runs its program with two translators.</a:t>
            </a:r>
            <a:endParaRPr lang="en-US" sz="1200"/>
          </a:p>
        </p:txBody>
      </p:sp>
      <p:sp>
        <p:nvSpPr>
          <p:cNvPr id="30" name="Feasibility rating"/>
          <p:cNvSpPr/>
          <p:nvPr/>
        </p:nvSpPr>
        <p:spPr>
          <a:xfrm>
            <a:off x="10012680" y="4937760"/>
            <a:ext cx="1645920" cy="566928"/>
          </a:xfrm>
          <a:prstGeom prst="roundRect">
            <a:avLst>
              <a:gd name="adj" fmla="val 12903"/>
            </a:avLst>
          </a:prstGeom>
          <a:solidFill>
            <a:schemeClr val="accent2"/>
          </a:solidFill>
          <a:ln/>
        </p:spPr>
        <p:txBody>
          <a:bodyPr wrap="square" lIns="0" tIns="0" rIns="0" bIns="0" rtlCol="0" anchor="ctr"/>
          <a:lstStyle/>
          <a:p>
            <a:pPr marL="0" indent="0" algn="ctr">
              <a:buNone/>
            </a:pPr>
            <a:r>
              <a:rPr lang="en-US" sz="900" kern="0" spc="200">
                <a:solidFill>
                  <a:schemeClr val="bg1"/>
                </a:solidFill>
              </a:rPr>
              <a:t>FEASIBILITY</a:t>
            </a:r>
            <a:endParaRPr lang="en-US" sz="900"/>
          </a:p>
          <a:p>
            <a:pPr marL="0" indent="0" algn="ctr">
              <a:buNone/>
            </a:pPr>
            <a:r>
              <a:rPr lang="en-US" sz="1800" b="1">
                <a:solidFill>
                  <a:schemeClr val="bg1"/>
                </a:solidFill>
                <a:latin typeface="Montserrat" pitchFamily="34" charset="0"/>
                <a:ea typeface="Montserrat" pitchFamily="34" charset="-122"/>
                <a:cs typeface="Montserrat" pitchFamily="34" charset="-120"/>
              </a:rPr>
              <a:t>Medium</a:t>
            </a:r>
            <a:endParaRPr lang="en-US" sz="900"/>
          </a:p>
        </p:txBody>
      </p:sp>
      <p:sp>
        <p:nvSpPr>
          <p:cNvPr id="31"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Fairfax County Strategic Plan Annual Report; Travis County Language Access Plan (Community Impact); Wake County language access pages. </a:t>
            </a:r>
            <a:r>
              <a:rPr lang="en-US" sz="1000" u="sng">
                <a:solidFill>
                  <a:schemeClr val="accent2"/>
                </a:solidFill>
                <a:hlinkClick r:id="rId3"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32"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10</a:t>
            </a:fld>
            <a:endParaRPr lang="en-US"/>
          </a:p>
        </p:txBody>
      </p:sp>
      <p:pic>
        <p:nvPicPr>
          <p:cNvPr id="33" name="Picture 32">
            <a:extLst>
              <a:ext uri="{FF2B5EF4-FFF2-40B4-BE49-F238E27FC236}">
                <a16:creationId xmlns:a16="http://schemas.microsoft.com/office/drawing/2014/main" id="{65396C57-B1BC-BE99-64D6-2464BCE11BE5}"/>
              </a:ext>
            </a:extLst>
          </p:cNvPr>
          <p:cNvPicPr>
            <a:picLocks noChangeAspect="1"/>
          </p:cNvPicPr>
          <p:nvPr/>
        </p:nvPicPr>
        <p:blipFill>
          <a:blip r:embed="rId4"/>
          <a:stretch>
            <a:fillRect/>
          </a:stretch>
        </p:blipFill>
        <p:spPr>
          <a:xfrm>
            <a:off x="10702633" y="48335"/>
            <a:ext cx="1176475" cy="920929"/>
          </a:xfrm>
          <a:prstGeom prst="rect">
            <a:avLst/>
          </a:prstGeom>
        </p:spPr>
      </p:pic>
      <p:pic>
        <p:nvPicPr>
          <p:cNvPr id="34" name="Picture 33">
            <a:extLst>
              <a:ext uri="{FF2B5EF4-FFF2-40B4-BE49-F238E27FC236}">
                <a16:creationId xmlns:a16="http://schemas.microsoft.com/office/drawing/2014/main" id="{46B3AF23-29BA-764F-591C-B1960B19EDBE}"/>
              </a:ext>
            </a:extLst>
          </p:cNvPr>
          <p:cNvPicPr>
            <a:picLocks noChangeAspect="1"/>
          </p:cNvPicPr>
          <p:nvPr/>
        </p:nvPicPr>
        <p:blipFill>
          <a:blip r:embed="rId5"/>
          <a:stretch>
            <a:fillRect/>
          </a:stretch>
        </p:blipFill>
        <p:spPr>
          <a:xfrm>
            <a:off x="1261872" y="6149993"/>
            <a:ext cx="534000" cy="6193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r>
              <a:rPr lang="en-US" sz="2400">
                <a:latin typeface="Montserrat"/>
              </a:rPr>
              <a:t>One Front Door Makes Participation </a:t>
            </a:r>
            <a:r>
              <a:rPr lang="en-US">
                <a:latin typeface="Montserrat"/>
              </a:rPr>
              <a:t>More Accessible</a:t>
            </a:r>
            <a:endParaRPr lang="en-US"/>
          </a:p>
        </p:txBody>
      </p:sp>
      <p:sp>
        <p:nvSpPr>
          <p:cNvPr id="3" name="Portal mockup frame"/>
          <p:cNvSpPr/>
          <p:nvPr/>
        </p:nvSpPr>
        <p:spPr>
          <a:xfrm>
            <a:off x="365760" y="1207008"/>
            <a:ext cx="5486400" cy="3456432"/>
          </a:xfrm>
          <a:prstGeom prst="roundRect">
            <a:avLst>
              <a:gd name="adj" fmla="val 2116"/>
            </a:avLst>
          </a:prstGeom>
          <a:solidFill>
            <a:schemeClr val="bg2"/>
          </a:solidFill>
          <a:ln w="12700">
            <a:solidFill>
              <a:schemeClr val="accent6"/>
            </a:solidFill>
            <a:prstDash val="solid"/>
          </a:ln>
        </p:spPr>
        <p:txBody>
          <a:bodyPr/>
          <a:lstStyle/>
          <a:p>
            <a:endParaRPr lang="en-US"/>
          </a:p>
        </p:txBody>
      </p:sp>
      <p:sp>
        <p:nvSpPr>
          <p:cNvPr id="4" name="Browser bar"/>
          <p:cNvSpPr/>
          <p:nvPr/>
        </p:nvSpPr>
        <p:spPr>
          <a:xfrm>
            <a:off x="365760" y="1207008"/>
            <a:ext cx="5486400" cy="347472"/>
          </a:xfrm>
          <a:prstGeom prst="rect">
            <a:avLst/>
          </a:prstGeom>
          <a:solidFill>
            <a:schemeClr val="tx2"/>
          </a:solidFill>
          <a:ln w="12700">
            <a:solidFill>
              <a:schemeClr val="tx2"/>
            </a:solidFill>
            <a:prstDash val="solid"/>
          </a:ln>
        </p:spPr>
        <p:txBody>
          <a:bodyPr/>
          <a:lstStyle/>
          <a:p>
            <a:endParaRPr lang="en-US"/>
          </a:p>
        </p:txBody>
      </p:sp>
      <p:sp>
        <p:nvSpPr>
          <p:cNvPr id="5" name="Shape 3"/>
          <p:cNvSpPr/>
          <p:nvPr/>
        </p:nvSpPr>
        <p:spPr>
          <a:xfrm>
            <a:off x="502920" y="1325880"/>
            <a:ext cx="109728" cy="109728"/>
          </a:xfrm>
          <a:prstGeom prst="ellipse">
            <a:avLst/>
          </a:prstGeom>
          <a:solidFill>
            <a:schemeClr val="accent1"/>
          </a:solidFill>
          <a:ln w="12700">
            <a:solidFill>
              <a:schemeClr val="accent1"/>
            </a:solidFill>
            <a:prstDash val="solid"/>
          </a:ln>
        </p:spPr>
        <p:txBody>
          <a:bodyPr/>
          <a:lstStyle/>
          <a:p>
            <a:endParaRPr lang="en-US"/>
          </a:p>
        </p:txBody>
      </p:sp>
      <p:sp>
        <p:nvSpPr>
          <p:cNvPr id="6" name="Shape 4"/>
          <p:cNvSpPr/>
          <p:nvPr/>
        </p:nvSpPr>
        <p:spPr>
          <a:xfrm>
            <a:off x="685800" y="1325880"/>
            <a:ext cx="109728" cy="109728"/>
          </a:xfrm>
          <a:prstGeom prst="ellipse">
            <a:avLst/>
          </a:prstGeom>
          <a:solidFill>
            <a:schemeClr val="accent3"/>
          </a:solidFill>
          <a:ln w="12700">
            <a:solidFill>
              <a:schemeClr val="accent3"/>
            </a:solidFill>
            <a:prstDash val="solid"/>
          </a:ln>
        </p:spPr>
        <p:txBody>
          <a:bodyPr/>
          <a:lstStyle/>
          <a:p>
            <a:endParaRPr lang="en-US"/>
          </a:p>
        </p:txBody>
      </p:sp>
      <p:sp>
        <p:nvSpPr>
          <p:cNvPr id="7" name="Shape 5"/>
          <p:cNvSpPr/>
          <p:nvPr/>
        </p:nvSpPr>
        <p:spPr>
          <a:xfrm>
            <a:off x="868680" y="1325880"/>
            <a:ext cx="109728" cy="109728"/>
          </a:xfrm>
          <a:prstGeom prst="ellipse">
            <a:avLst/>
          </a:prstGeom>
          <a:solidFill>
            <a:schemeClr val="bg1"/>
          </a:solidFill>
          <a:ln w="12700">
            <a:solidFill>
              <a:schemeClr val="bg1"/>
            </a:solidFill>
            <a:prstDash val="solid"/>
          </a:ln>
        </p:spPr>
        <p:txBody>
          <a:bodyPr/>
          <a:lstStyle/>
          <a:p>
            <a:endParaRPr lang="en-US"/>
          </a:p>
        </p:txBody>
      </p:sp>
      <p:sp>
        <p:nvSpPr>
          <p:cNvPr id="8" name="Text 6"/>
          <p:cNvSpPr txBox="1"/>
          <p:nvPr/>
        </p:nvSpPr>
        <p:spPr>
          <a:xfrm>
            <a:off x="1188720" y="1243584"/>
            <a:ext cx="4480560" cy="274320"/>
          </a:xfrm>
          <a:prstGeom prst="rect">
            <a:avLst/>
          </a:prstGeom>
          <a:noFill/>
          <a:ln/>
        </p:spPr>
        <p:txBody>
          <a:bodyPr wrap="square" lIns="0" tIns="0" rIns="0" bIns="0" rtlCol="0" anchor="ctr"/>
          <a:lstStyle/>
          <a:p>
            <a:pPr marL="0" indent="0">
              <a:buNone/>
            </a:pPr>
            <a:r>
              <a:rPr lang="en-US" sz="1100">
                <a:solidFill>
                  <a:schemeClr val="bg1"/>
                </a:solidFill>
              </a:rPr>
              <a:t>Illustrative Concept</a:t>
            </a:r>
            <a:endParaRPr lang="en-US" sz="1100"/>
          </a:p>
        </p:txBody>
      </p:sp>
      <p:sp>
        <p:nvSpPr>
          <p:cNvPr id="9" name="Text 7"/>
          <p:cNvSpPr txBox="1"/>
          <p:nvPr/>
        </p:nvSpPr>
        <p:spPr>
          <a:xfrm>
            <a:off x="513542" y="1658436"/>
            <a:ext cx="5133108" cy="383077"/>
          </a:xfrm>
          <a:prstGeom prst="rect">
            <a:avLst/>
          </a:prstGeom>
          <a:ln/>
        </p:spPr>
        <p:style>
          <a:lnRef idx="2">
            <a:schemeClr val="accent6"/>
          </a:lnRef>
          <a:fillRef idx="1">
            <a:schemeClr val="lt1"/>
          </a:fillRef>
          <a:effectRef idx="0">
            <a:schemeClr val="accent6"/>
          </a:effectRef>
          <a:fontRef idx="minor">
            <a:schemeClr val="dk1"/>
          </a:fontRef>
        </p:style>
        <p:txBody>
          <a:bodyPr wrap="square" lIns="0" tIns="0" rIns="0" bIns="0" rtlCol="0" anchor="ctr"/>
          <a:lstStyle/>
          <a:p>
            <a:r>
              <a:rPr lang="en-US" sz="1600" b="1">
                <a:solidFill>
                  <a:schemeClr val="tx2"/>
                </a:solidFill>
                <a:latin typeface="Montserrat"/>
                <a:ea typeface="+mn-lt"/>
                <a:cs typeface="+mn-lt"/>
              </a:rPr>
              <a:t>  Make Your Voice Heard in Wake County</a:t>
            </a:r>
            <a:endParaRPr lang="en-US" b="1">
              <a:solidFill>
                <a:schemeClr val="tx2"/>
              </a:solidFill>
              <a:latin typeface="Montserrat"/>
              <a:ea typeface="+mn-lt"/>
              <a:cs typeface="+mn-lt"/>
            </a:endParaRPr>
          </a:p>
        </p:txBody>
      </p:sp>
      <p:sp>
        <p:nvSpPr>
          <p:cNvPr id="10" name="Active projects"/>
          <p:cNvSpPr/>
          <p:nvPr/>
        </p:nvSpPr>
        <p:spPr>
          <a:xfrm>
            <a:off x="594360" y="2148840"/>
            <a:ext cx="1572768" cy="1051560"/>
          </a:xfrm>
          <a:prstGeom prst="roundRect">
            <a:avLst>
              <a:gd name="adj" fmla="val 6957"/>
            </a:avLst>
          </a:prstGeom>
          <a:solidFill>
            <a:schemeClr val="bg1"/>
          </a:solidFill>
          <a:ln w="12700">
            <a:solidFill>
              <a:schemeClr val="accent3"/>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1170432" y="2276856"/>
            <a:ext cx="420624" cy="420624"/>
          </a:xfrm>
          <a:prstGeom prst="rect">
            <a:avLst/>
          </a:prstGeom>
        </p:spPr>
      </p:pic>
      <p:sp>
        <p:nvSpPr>
          <p:cNvPr id="12" name="Text 9"/>
          <p:cNvSpPr txBox="1"/>
          <p:nvPr/>
        </p:nvSpPr>
        <p:spPr>
          <a:xfrm>
            <a:off x="640080" y="2734056"/>
            <a:ext cx="1481328" cy="411480"/>
          </a:xfrm>
          <a:prstGeom prst="rect">
            <a:avLst/>
          </a:prstGeom>
          <a:noFill/>
          <a:ln/>
        </p:spPr>
        <p:txBody>
          <a:bodyPr wrap="square" lIns="0" tIns="0" rIns="0" bIns="0" rtlCol="0" anchor="ctr"/>
          <a:lstStyle/>
          <a:p>
            <a:pPr marL="0" indent="0" algn="ctr">
              <a:buNone/>
            </a:pPr>
            <a:r>
              <a:rPr lang="en-US" sz="1200" b="1">
                <a:solidFill>
                  <a:schemeClr val="tx2"/>
                </a:solidFill>
              </a:rPr>
              <a:t>Active projects</a:t>
            </a:r>
            <a:endParaRPr lang="en-US" sz="1200"/>
          </a:p>
        </p:txBody>
      </p:sp>
      <p:sp>
        <p:nvSpPr>
          <p:cNvPr id="13" name="Open surveys"/>
          <p:cNvSpPr/>
          <p:nvPr/>
        </p:nvSpPr>
        <p:spPr>
          <a:xfrm>
            <a:off x="2286000" y="2148840"/>
            <a:ext cx="1572768" cy="1051560"/>
          </a:xfrm>
          <a:prstGeom prst="roundRect">
            <a:avLst>
              <a:gd name="adj" fmla="val 6957"/>
            </a:avLst>
          </a:prstGeom>
          <a:solidFill>
            <a:schemeClr val="bg1"/>
          </a:solidFill>
          <a:ln w="12700">
            <a:solidFill>
              <a:schemeClr val="accent3"/>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2862072" y="2276856"/>
            <a:ext cx="420624" cy="420624"/>
          </a:xfrm>
          <a:prstGeom prst="rect">
            <a:avLst/>
          </a:prstGeom>
        </p:spPr>
      </p:pic>
      <p:sp>
        <p:nvSpPr>
          <p:cNvPr id="15" name="Text 11"/>
          <p:cNvSpPr txBox="1"/>
          <p:nvPr/>
        </p:nvSpPr>
        <p:spPr>
          <a:xfrm>
            <a:off x="2331720" y="2734056"/>
            <a:ext cx="1481328" cy="411480"/>
          </a:xfrm>
          <a:prstGeom prst="rect">
            <a:avLst/>
          </a:prstGeom>
          <a:noFill/>
          <a:ln/>
        </p:spPr>
        <p:txBody>
          <a:bodyPr wrap="square" lIns="0" tIns="0" rIns="0" bIns="0" rtlCol="0" anchor="ctr"/>
          <a:lstStyle/>
          <a:p>
            <a:pPr marL="0" indent="0" algn="ctr">
              <a:buNone/>
            </a:pPr>
            <a:r>
              <a:rPr lang="en-US" sz="1200" b="1">
                <a:solidFill>
                  <a:schemeClr val="tx2"/>
                </a:solidFill>
              </a:rPr>
              <a:t>Open surveys</a:t>
            </a:r>
            <a:endParaRPr lang="en-US" sz="1200"/>
          </a:p>
        </p:txBody>
      </p:sp>
      <p:sp>
        <p:nvSpPr>
          <p:cNvPr id="16" name="Upcoming events"/>
          <p:cNvSpPr/>
          <p:nvPr/>
        </p:nvSpPr>
        <p:spPr>
          <a:xfrm>
            <a:off x="3977640" y="2148840"/>
            <a:ext cx="1572768" cy="1051560"/>
          </a:xfrm>
          <a:prstGeom prst="roundRect">
            <a:avLst>
              <a:gd name="adj" fmla="val 6957"/>
            </a:avLst>
          </a:prstGeom>
          <a:solidFill>
            <a:schemeClr val="bg1"/>
          </a:solidFill>
          <a:ln w="12700">
            <a:solidFill>
              <a:schemeClr val="accent3"/>
            </a:solidFill>
            <a:prstDash val="solid"/>
          </a:ln>
        </p:spPr>
        <p:txBody>
          <a:bodyPr/>
          <a:lstStyle/>
          <a:p>
            <a:endParaRPr lang="en-US"/>
          </a:p>
        </p:txBody>
      </p:sp>
      <p:pic>
        <p:nvPicPr>
          <p:cNvPr id="17" name="Image 2" descr="preencoded.png"/>
          <p:cNvPicPr>
            <a:picLocks noChangeAspect="1"/>
          </p:cNvPicPr>
          <p:nvPr/>
        </p:nvPicPr>
        <p:blipFill>
          <a:blip r:embed="rId5"/>
          <a:stretch>
            <a:fillRect/>
          </a:stretch>
        </p:blipFill>
        <p:spPr>
          <a:xfrm>
            <a:off x="4553712" y="2276856"/>
            <a:ext cx="420624" cy="420624"/>
          </a:xfrm>
          <a:prstGeom prst="rect">
            <a:avLst/>
          </a:prstGeom>
        </p:spPr>
      </p:pic>
      <p:sp>
        <p:nvSpPr>
          <p:cNvPr id="18" name="Text 13"/>
          <p:cNvSpPr txBox="1"/>
          <p:nvPr/>
        </p:nvSpPr>
        <p:spPr>
          <a:xfrm>
            <a:off x="4023360" y="2734056"/>
            <a:ext cx="1481328" cy="411480"/>
          </a:xfrm>
          <a:prstGeom prst="rect">
            <a:avLst/>
          </a:prstGeom>
          <a:noFill/>
          <a:ln/>
        </p:spPr>
        <p:txBody>
          <a:bodyPr wrap="square" lIns="0" tIns="0" rIns="0" bIns="0" rtlCol="0" anchor="ctr"/>
          <a:lstStyle/>
          <a:p>
            <a:pPr marL="0" indent="0" algn="ctr">
              <a:buNone/>
            </a:pPr>
            <a:r>
              <a:rPr lang="en-US" sz="1200" b="1">
                <a:solidFill>
                  <a:schemeClr val="tx2"/>
                </a:solidFill>
              </a:rPr>
              <a:t>Upcoming events</a:t>
            </a:r>
            <a:endParaRPr lang="en-US" sz="1200"/>
          </a:p>
        </p:txBody>
      </p:sp>
      <p:sp>
        <p:nvSpPr>
          <p:cNvPr id="19" name="Boards and commissions"/>
          <p:cNvSpPr/>
          <p:nvPr/>
        </p:nvSpPr>
        <p:spPr>
          <a:xfrm>
            <a:off x="594360" y="3337560"/>
            <a:ext cx="1572768" cy="1051560"/>
          </a:xfrm>
          <a:prstGeom prst="roundRect">
            <a:avLst>
              <a:gd name="adj" fmla="val 6957"/>
            </a:avLst>
          </a:prstGeom>
          <a:solidFill>
            <a:schemeClr val="bg1"/>
          </a:solidFill>
          <a:ln w="12700">
            <a:solidFill>
              <a:schemeClr val="accent3"/>
            </a:solidFill>
            <a:prstDash val="solid"/>
          </a:ln>
        </p:spPr>
        <p:txBody>
          <a:bodyPr/>
          <a:lstStyle/>
          <a:p>
            <a:endParaRPr lang="en-US"/>
          </a:p>
        </p:txBody>
      </p:sp>
      <p:pic>
        <p:nvPicPr>
          <p:cNvPr id="20" name="Image 3" descr="preencoded.png"/>
          <p:cNvPicPr>
            <a:picLocks noChangeAspect="1"/>
          </p:cNvPicPr>
          <p:nvPr/>
        </p:nvPicPr>
        <p:blipFill>
          <a:blip r:embed="rId6"/>
          <a:stretch>
            <a:fillRect/>
          </a:stretch>
        </p:blipFill>
        <p:spPr>
          <a:xfrm>
            <a:off x="1170432" y="3465576"/>
            <a:ext cx="420624" cy="420624"/>
          </a:xfrm>
          <a:prstGeom prst="rect">
            <a:avLst/>
          </a:prstGeom>
        </p:spPr>
      </p:pic>
      <p:sp>
        <p:nvSpPr>
          <p:cNvPr id="21" name="Text 15"/>
          <p:cNvSpPr txBox="1"/>
          <p:nvPr/>
        </p:nvSpPr>
        <p:spPr>
          <a:xfrm>
            <a:off x="640080" y="3922776"/>
            <a:ext cx="1481328" cy="411480"/>
          </a:xfrm>
          <a:prstGeom prst="rect">
            <a:avLst/>
          </a:prstGeom>
          <a:noFill/>
          <a:ln/>
        </p:spPr>
        <p:txBody>
          <a:bodyPr wrap="square" lIns="0" tIns="0" rIns="0" bIns="0" rtlCol="0" anchor="ctr"/>
          <a:lstStyle/>
          <a:p>
            <a:pPr marL="0" indent="0" algn="ctr">
              <a:buNone/>
            </a:pPr>
            <a:r>
              <a:rPr lang="en-US" sz="1200" b="1">
                <a:solidFill>
                  <a:schemeClr val="tx2"/>
                </a:solidFill>
              </a:rPr>
              <a:t>Boards and commissions</a:t>
            </a:r>
            <a:endParaRPr lang="en-US" sz="1200"/>
          </a:p>
        </p:txBody>
      </p:sp>
      <p:sp>
        <p:nvSpPr>
          <p:cNvPr id="22" name="Budget input"/>
          <p:cNvSpPr/>
          <p:nvPr/>
        </p:nvSpPr>
        <p:spPr>
          <a:xfrm>
            <a:off x="2286000" y="3337560"/>
            <a:ext cx="1572768" cy="1051560"/>
          </a:xfrm>
          <a:prstGeom prst="roundRect">
            <a:avLst>
              <a:gd name="adj" fmla="val 6957"/>
            </a:avLst>
          </a:prstGeom>
          <a:solidFill>
            <a:schemeClr val="bg1"/>
          </a:solidFill>
          <a:ln w="12700">
            <a:solidFill>
              <a:schemeClr val="accent3"/>
            </a:solidFill>
            <a:prstDash val="solid"/>
          </a:ln>
        </p:spPr>
        <p:txBody>
          <a:bodyPr/>
          <a:lstStyle/>
          <a:p>
            <a:endParaRPr lang="en-US"/>
          </a:p>
        </p:txBody>
      </p:sp>
      <p:pic>
        <p:nvPicPr>
          <p:cNvPr id="23" name="Image 4" descr="preencoded.png"/>
          <p:cNvPicPr>
            <a:picLocks noChangeAspect="1"/>
          </p:cNvPicPr>
          <p:nvPr/>
        </p:nvPicPr>
        <p:blipFill>
          <a:blip r:embed="rId7"/>
          <a:stretch>
            <a:fillRect/>
          </a:stretch>
        </p:blipFill>
        <p:spPr>
          <a:xfrm>
            <a:off x="2862072" y="3465576"/>
            <a:ext cx="420624" cy="420624"/>
          </a:xfrm>
          <a:prstGeom prst="rect">
            <a:avLst/>
          </a:prstGeom>
        </p:spPr>
      </p:pic>
      <p:sp>
        <p:nvSpPr>
          <p:cNvPr id="24" name="Text 17"/>
          <p:cNvSpPr txBox="1"/>
          <p:nvPr/>
        </p:nvSpPr>
        <p:spPr>
          <a:xfrm>
            <a:off x="2331720" y="3922776"/>
            <a:ext cx="1481328" cy="411480"/>
          </a:xfrm>
          <a:prstGeom prst="rect">
            <a:avLst/>
          </a:prstGeom>
          <a:noFill/>
          <a:ln/>
        </p:spPr>
        <p:txBody>
          <a:bodyPr wrap="square" lIns="0" tIns="0" rIns="0" bIns="0" rtlCol="0" anchor="ctr"/>
          <a:lstStyle/>
          <a:p>
            <a:pPr marL="0" indent="0" algn="ctr">
              <a:buNone/>
            </a:pPr>
            <a:r>
              <a:rPr lang="en-US" sz="1200" b="1">
                <a:solidFill>
                  <a:schemeClr val="tx2"/>
                </a:solidFill>
              </a:rPr>
              <a:t>Budget input</a:t>
            </a:r>
            <a:endParaRPr lang="en-US" sz="1200"/>
          </a:p>
        </p:txBody>
      </p:sp>
      <p:sp>
        <p:nvSpPr>
          <p:cNvPr id="25" name="Get notified"/>
          <p:cNvSpPr/>
          <p:nvPr/>
        </p:nvSpPr>
        <p:spPr>
          <a:xfrm>
            <a:off x="3977640" y="3337560"/>
            <a:ext cx="1572768" cy="1051560"/>
          </a:xfrm>
          <a:prstGeom prst="roundRect">
            <a:avLst>
              <a:gd name="adj" fmla="val 6957"/>
            </a:avLst>
          </a:prstGeom>
          <a:solidFill>
            <a:schemeClr val="bg1"/>
          </a:solidFill>
          <a:ln w="12700">
            <a:solidFill>
              <a:schemeClr val="accent3"/>
            </a:solidFill>
            <a:prstDash val="solid"/>
          </a:ln>
        </p:spPr>
        <p:txBody>
          <a:bodyPr/>
          <a:lstStyle/>
          <a:p>
            <a:endParaRPr lang="en-US"/>
          </a:p>
        </p:txBody>
      </p:sp>
      <p:pic>
        <p:nvPicPr>
          <p:cNvPr id="26" name="Image 5" descr="preencoded.png"/>
          <p:cNvPicPr>
            <a:picLocks noChangeAspect="1"/>
          </p:cNvPicPr>
          <p:nvPr/>
        </p:nvPicPr>
        <p:blipFill>
          <a:blip r:embed="rId8"/>
          <a:stretch>
            <a:fillRect/>
          </a:stretch>
        </p:blipFill>
        <p:spPr>
          <a:xfrm>
            <a:off x="4553712" y="3465576"/>
            <a:ext cx="420624" cy="420624"/>
          </a:xfrm>
          <a:prstGeom prst="rect">
            <a:avLst/>
          </a:prstGeom>
        </p:spPr>
      </p:pic>
      <p:sp>
        <p:nvSpPr>
          <p:cNvPr id="27" name="Text 19"/>
          <p:cNvSpPr txBox="1"/>
          <p:nvPr/>
        </p:nvSpPr>
        <p:spPr>
          <a:xfrm>
            <a:off x="4023360" y="3922776"/>
            <a:ext cx="1481328" cy="411480"/>
          </a:xfrm>
          <a:prstGeom prst="rect">
            <a:avLst/>
          </a:prstGeom>
          <a:noFill/>
          <a:ln/>
        </p:spPr>
        <p:txBody>
          <a:bodyPr wrap="square" lIns="0" tIns="0" rIns="0" bIns="0" rtlCol="0" anchor="ctr"/>
          <a:lstStyle/>
          <a:p>
            <a:pPr marL="0" indent="0" algn="ctr">
              <a:buNone/>
            </a:pPr>
            <a:r>
              <a:rPr lang="en-US" sz="1200" b="1">
                <a:solidFill>
                  <a:schemeClr val="tx2"/>
                </a:solidFill>
              </a:rPr>
              <a:t>Get notified</a:t>
            </a:r>
            <a:endParaRPr lang="en-US" sz="1200"/>
          </a:p>
        </p:txBody>
      </p:sp>
      <p:sp>
        <p:nvSpPr>
          <p:cNvPr id="28" name="Text 20"/>
          <p:cNvSpPr txBox="1"/>
          <p:nvPr/>
        </p:nvSpPr>
        <p:spPr>
          <a:xfrm>
            <a:off x="6217920" y="1188720"/>
            <a:ext cx="5577840" cy="292608"/>
          </a:xfrm>
          <a:prstGeom prst="rect">
            <a:avLst/>
          </a:prstGeom>
          <a:noFill/>
          <a:ln/>
        </p:spPr>
        <p:txBody>
          <a:bodyPr wrap="square" lIns="0" tIns="0" rIns="0" bIns="0" rtlCol="0" anchor="ctr"/>
          <a:lstStyle/>
          <a:p>
            <a:r>
              <a:rPr lang="en-US" sz="1400" b="1">
                <a:solidFill>
                  <a:schemeClr val="accent2"/>
                </a:solidFill>
                <a:latin typeface="Montserrat"/>
                <a:ea typeface="+mn-lt"/>
                <a:cs typeface="+mn-lt"/>
              </a:rPr>
              <a:t>How Peers Put It Into Practice</a:t>
            </a:r>
            <a:endParaRPr lang="en-US" b="1">
              <a:solidFill>
                <a:schemeClr val="accent2"/>
              </a:solidFill>
              <a:latin typeface="Montserrat"/>
              <a:ea typeface="Calibri"/>
              <a:cs typeface="Calibri"/>
            </a:endParaRPr>
          </a:p>
        </p:txBody>
      </p:sp>
      <p:sp>
        <p:nvSpPr>
          <p:cNvPr id="29" name="Shape 21"/>
          <p:cNvSpPr/>
          <p:nvPr/>
        </p:nvSpPr>
        <p:spPr>
          <a:xfrm>
            <a:off x="6217920" y="1645920"/>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0" name="Text 22"/>
          <p:cNvSpPr txBox="1"/>
          <p:nvPr/>
        </p:nvSpPr>
        <p:spPr>
          <a:xfrm>
            <a:off x="6217920" y="1645920"/>
            <a:ext cx="384048" cy="384048"/>
          </a:xfrm>
          <a:prstGeom prst="rect">
            <a:avLst/>
          </a:prstGeom>
          <a:noFill/>
          <a:ln/>
        </p:spPr>
        <p:txBody>
          <a:bodyPr wrap="square" lIns="0" tIns="0" rIns="0" bIns="0" rtlCol="0" anchor="ctr"/>
          <a:lstStyle/>
          <a:p>
            <a:pPr marL="0" indent="0" algn="ctr">
              <a:buNone/>
            </a:pPr>
            <a:r>
              <a:rPr lang="en-US" sz="1400" b="1">
                <a:solidFill>
                  <a:schemeClr val="bg1"/>
                </a:solidFill>
                <a:latin typeface="Montserrat" pitchFamily="34" charset="0"/>
                <a:ea typeface="Montserrat" pitchFamily="34" charset="-122"/>
                <a:cs typeface="Montserrat" pitchFamily="34" charset="-120"/>
              </a:rPr>
              <a:t>1</a:t>
            </a:r>
            <a:endParaRPr lang="en-US" sz="1400"/>
          </a:p>
        </p:txBody>
      </p:sp>
      <p:sp>
        <p:nvSpPr>
          <p:cNvPr id="31" name="Text 23"/>
          <p:cNvSpPr txBox="1"/>
          <p:nvPr/>
        </p:nvSpPr>
        <p:spPr>
          <a:xfrm>
            <a:off x="6766560" y="1572768"/>
            <a:ext cx="5029200" cy="914400"/>
          </a:xfrm>
          <a:prstGeom prst="rect">
            <a:avLst/>
          </a:prstGeom>
          <a:noFill/>
          <a:ln/>
        </p:spPr>
        <p:txBody>
          <a:bodyPr wrap="square" lIns="0" tIns="0" rIns="0" bIns="0" rtlCol="0" anchor="t"/>
          <a:lstStyle/>
          <a:p>
            <a:pPr marL="0" indent="0">
              <a:buNone/>
            </a:pPr>
            <a:r>
              <a:rPr lang="en-US" sz="1300" b="1">
                <a:solidFill>
                  <a:schemeClr val="tx2"/>
                </a:solidFill>
              </a:rPr>
              <a:t>Engage Mecklenburg</a:t>
            </a:r>
            <a:endParaRPr lang="en-US" sz="1300"/>
          </a:p>
          <a:p>
            <a:pPr marL="0" indent="0">
              <a:buNone/>
            </a:pPr>
            <a:r>
              <a:rPr lang="en-US" sz="1300">
                <a:solidFill>
                  <a:schemeClr val="tx1"/>
                </a:solidFill>
              </a:rPr>
              <a:t>Projects, surveys, events, and boards in one place. Residents build a profile and choose which alerts they get.</a:t>
            </a:r>
            <a:endParaRPr lang="en-US" sz="1300"/>
          </a:p>
        </p:txBody>
      </p:sp>
      <p:sp>
        <p:nvSpPr>
          <p:cNvPr id="32" name="Shape 24"/>
          <p:cNvSpPr/>
          <p:nvPr/>
        </p:nvSpPr>
        <p:spPr>
          <a:xfrm>
            <a:off x="6217920" y="2670048"/>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3" name="Text 25"/>
          <p:cNvSpPr txBox="1"/>
          <p:nvPr/>
        </p:nvSpPr>
        <p:spPr>
          <a:xfrm>
            <a:off x="6217920" y="2670048"/>
            <a:ext cx="384048" cy="384048"/>
          </a:xfrm>
          <a:prstGeom prst="rect">
            <a:avLst/>
          </a:prstGeom>
          <a:noFill/>
          <a:ln/>
        </p:spPr>
        <p:txBody>
          <a:bodyPr wrap="square" lIns="0" tIns="0" rIns="0" bIns="0" rtlCol="0" anchor="ctr"/>
          <a:lstStyle/>
          <a:p>
            <a:pPr marL="0" indent="0" algn="ctr">
              <a:buNone/>
            </a:pPr>
            <a:r>
              <a:rPr lang="en-US" sz="1400" b="1">
                <a:solidFill>
                  <a:schemeClr val="bg1"/>
                </a:solidFill>
                <a:latin typeface="Montserrat" pitchFamily="34" charset="0"/>
                <a:ea typeface="Montserrat" pitchFamily="34" charset="-122"/>
                <a:cs typeface="Montserrat" pitchFamily="34" charset="-120"/>
              </a:rPr>
              <a:t>2</a:t>
            </a:r>
            <a:endParaRPr lang="en-US" sz="1400"/>
          </a:p>
        </p:txBody>
      </p:sp>
      <p:sp>
        <p:nvSpPr>
          <p:cNvPr id="34" name="Text 26"/>
          <p:cNvSpPr txBox="1"/>
          <p:nvPr/>
        </p:nvSpPr>
        <p:spPr>
          <a:xfrm>
            <a:off x="6766560" y="2596896"/>
            <a:ext cx="5029200" cy="914400"/>
          </a:xfrm>
          <a:prstGeom prst="rect">
            <a:avLst/>
          </a:prstGeom>
          <a:noFill/>
          <a:ln/>
        </p:spPr>
        <p:txBody>
          <a:bodyPr wrap="square" lIns="0" tIns="0" rIns="0" bIns="0" rtlCol="0" anchor="t"/>
          <a:lstStyle/>
          <a:p>
            <a:pPr marL="0" indent="0">
              <a:buNone/>
            </a:pPr>
            <a:r>
              <a:rPr lang="en-US" sz="1300" b="1">
                <a:solidFill>
                  <a:schemeClr val="tx2"/>
                </a:solidFill>
              </a:rPr>
              <a:t>Engage Fairfax</a:t>
            </a:r>
            <a:endParaRPr lang="en-US" sz="1300"/>
          </a:p>
          <a:p>
            <a:pPr marL="0" indent="0">
              <a:buNone/>
            </a:pPr>
            <a:r>
              <a:rPr lang="en-US" sz="1300">
                <a:solidFill>
                  <a:schemeClr val="tx1"/>
                </a:solidFill>
              </a:rPr>
              <a:t>Brings selected county projects and surveys onto one platform with several ways to respond.</a:t>
            </a:r>
            <a:endParaRPr lang="en-US" sz="1300"/>
          </a:p>
        </p:txBody>
      </p:sp>
      <p:sp>
        <p:nvSpPr>
          <p:cNvPr id="35" name="Shape 27"/>
          <p:cNvSpPr/>
          <p:nvPr/>
        </p:nvSpPr>
        <p:spPr>
          <a:xfrm>
            <a:off x="6217920" y="36941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6" name="Text 28"/>
          <p:cNvSpPr txBox="1"/>
          <p:nvPr/>
        </p:nvSpPr>
        <p:spPr>
          <a:xfrm>
            <a:off x="6217920" y="3694176"/>
            <a:ext cx="384048" cy="384048"/>
          </a:xfrm>
          <a:prstGeom prst="rect">
            <a:avLst/>
          </a:prstGeom>
          <a:noFill/>
          <a:ln/>
        </p:spPr>
        <p:txBody>
          <a:bodyPr wrap="square" lIns="0" tIns="0" rIns="0" bIns="0" rtlCol="0" anchor="ctr"/>
          <a:lstStyle/>
          <a:p>
            <a:pPr marL="0" indent="0" algn="ctr">
              <a:buNone/>
            </a:pPr>
            <a:r>
              <a:rPr lang="en-US" sz="1400" b="1">
                <a:solidFill>
                  <a:schemeClr val="bg1"/>
                </a:solidFill>
                <a:latin typeface="Montserrat" pitchFamily="34" charset="0"/>
                <a:ea typeface="Montserrat" pitchFamily="34" charset="-122"/>
                <a:cs typeface="Montserrat" pitchFamily="34" charset="-120"/>
              </a:rPr>
              <a:t>3</a:t>
            </a:r>
            <a:endParaRPr lang="en-US" sz="1400"/>
          </a:p>
        </p:txBody>
      </p:sp>
      <p:sp>
        <p:nvSpPr>
          <p:cNvPr id="37" name="Text 29"/>
          <p:cNvSpPr txBox="1"/>
          <p:nvPr/>
        </p:nvSpPr>
        <p:spPr>
          <a:xfrm>
            <a:off x="6766560" y="3621024"/>
            <a:ext cx="5029200" cy="914400"/>
          </a:xfrm>
          <a:prstGeom prst="rect">
            <a:avLst/>
          </a:prstGeom>
          <a:noFill/>
          <a:ln/>
        </p:spPr>
        <p:txBody>
          <a:bodyPr wrap="square" lIns="0" tIns="0" rIns="0" bIns="0" rtlCol="0" anchor="t"/>
          <a:lstStyle/>
          <a:p>
            <a:pPr marL="0" indent="0">
              <a:buNone/>
            </a:pPr>
            <a:r>
              <a:rPr lang="en-US" sz="1300" b="1">
                <a:solidFill>
                  <a:schemeClr val="tx2"/>
                </a:solidFill>
              </a:rPr>
              <a:t>HC Engage (Hillsborough)</a:t>
            </a:r>
            <a:endParaRPr lang="en-US" sz="1300"/>
          </a:p>
          <a:p>
            <a:pPr marL="0" indent="0">
              <a:buNone/>
            </a:pPr>
            <a:r>
              <a:rPr lang="en-US" sz="1300">
                <a:solidFill>
                  <a:schemeClr val="tx1"/>
                </a:solidFill>
              </a:rPr>
              <a:t>A countywide hub where residents find Hillsborough's input opportunities.</a:t>
            </a:r>
            <a:endParaRPr lang="en-US" sz="1300"/>
          </a:p>
        </p:txBody>
      </p:sp>
      <p:sp>
        <p:nvSpPr>
          <p:cNvPr id="38" name="Fit for Wake panel"/>
          <p:cNvSpPr/>
          <p:nvPr/>
        </p:nvSpPr>
        <p:spPr>
          <a:xfrm>
            <a:off x="365760" y="4828032"/>
            <a:ext cx="11457432" cy="786384"/>
          </a:xfrm>
          <a:prstGeom prst="roundRect">
            <a:avLst>
              <a:gd name="adj" fmla="val 9302"/>
            </a:avLst>
          </a:prstGeom>
          <a:solidFill>
            <a:schemeClr val="bg2"/>
          </a:solidFill>
          <a:ln w="9525">
            <a:solidFill>
              <a:schemeClr val="bg2"/>
            </a:solidFill>
            <a:prstDash val="solid"/>
          </a:ln>
        </p:spPr>
        <p:txBody>
          <a:bodyPr/>
          <a:lstStyle/>
          <a:p>
            <a:endParaRPr lang="en-US"/>
          </a:p>
        </p:txBody>
      </p:sp>
      <p:sp>
        <p:nvSpPr>
          <p:cNvPr id="39" name="Wake today"/>
          <p:cNvSpPr txBox="1"/>
          <p:nvPr/>
        </p:nvSpPr>
        <p:spPr>
          <a:xfrm>
            <a:off x="548640" y="4882896"/>
            <a:ext cx="4663440" cy="676656"/>
          </a:xfrm>
          <a:prstGeom prst="rect">
            <a:avLst/>
          </a:prstGeom>
          <a:noFill/>
          <a:ln/>
        </p:spPr>
        <p:txBody>
          <a:bodyPr wrap="square" lIns="0" tIns="0" rIns="0" bIns="0" rtlCol="0" anchor="ctr"/>
          <a:lstStyle/>
          <a:p>
            <a:r>
              <a:rPr lang="en-US" sz="1200" b="1">
                <a:solidFill>
                  <a:schemeClr val="accent2"/>
                </a:solidFill>
              </a:rPr>
              <a:t>Wake County today</a:t>
            </a:r>
            <a:endParaRPr lang="en-US" sz="1200">
              <a:solidFill>
                <a:schemeClr val="accent2"/>
              </a:solidFill>
            </a:endParaRPr>
          </a:p>
          <a:p>
            <a:pPr marL="0" indent="0">
              <a:buNone/>
            </a:pPr>
            <a:r>
              <a:rPr lang="en-US" sz="1200">
                <a:solidFill>
                  <a:schemeClr val="tx1"/>
                </a:solidFill>
              </a:rPr>
              <a:t>PLANWake, the parks plan, the budget form, and other input each live on separate pages or survey links.</a:t>
            </a:r>
            <a:endParaRPr lang="en-US" sz="1200"/>
          </a:p>
        </p:txBody>
      </p:sp>
      <p:sp>
        <p:nvSpPr>
          <p:cNvPr id="40" name="What it would take"/>
          <p:cNvSpPr txBox="1"/>
          <p:nvPr/>
        </p:nvSpPr>
        <p:spPr>
          <a:xfrm>
            <a:off x="5440680" y="4882896"/>
            <a:ext cx="4343400" cy="676656"/>
          </a:xfrm>
          <a:prstGeom prst="rect">
            <a:avLst/>
          </a:prstGeom>
          <a:noFill/>
          <a:ln/>
        </p:spPr>
        <p:txBody>
          <a:bodyPr wrap="square" lIns="0" tIns="0" rIns="0" bIns="0" rtlCol="0" anchor="ctr"/>
          <a:lstStyle/>
          <a:p>
            <a:pPr marL="0" indent="0">
              <a:buNone/>
            </a:pPr>
            <a:r>
              <a:rPr lang="en-US" sz="1200" b="1">
                <a:solidFill>
                  <a:schemeClr val="accent2"/>
                </a:solidFill>
              </a:rPr>
              <a:t>What it would take</a:t>
            </a:r>
            <a:endParaRPr lang="en-US" sz="1200"/>
          </a:p>
          <a:p>
            <a:pPr marL="0" indent="0">
              <a:buNone/>
            </a:pPr>
            <a:r>
              <a:rPr lang="en-US" sz="1200">
                <a:solidFill>
                  <a:schemeClr val="tx1"/>
                </a:solidFill>
              </a:rPr>
              <a:t>A platform license and a simple rule for which projects get listed. Departments keep their own methods.</a:t>
            </a:r>
            <a:endParaRPr lang="en-US" sz="1200"/>
          </a:p>
        </p:txBody>
      </p:sp>
      <p:sp>
        <p:nvSpPr>
          <p:cNvPr id="41" name="Feasibility rating"/>
          <p:cNvSpPr/>
          <p:nvPr/>
        </p:nvSpPr>
        <p:spPr>
          <a:xfrm>
            <a:off x="10012680" y="4937760"/>
            <a:ext cx="1645920" cy="566928"/>
          </a:xfrm>
          <a:prstGeom prst="roundRect">
            <a:avLst>
              <a:gd name="adj" fmla="val 12903"/>
            </a:avLst>
          </a:prstGeom>
          <a:solidFill>
            <a:schemeClr val="accent2"/>
          </a:solidFill>
          <a:ln/>
        </p:spPr>
        <p:txBody>
          <a:bodyPr wrap="square" lIns="0" tIns="0" rIns="0" bIns="0" rtlCol="0" anchor="ctr"/>
          <a:lstStyle/>
          <a:p>
            <a:pPr marL="0" indent="0" algn="ctr">
              <a:buNone/>
            </a:pPr>
            <a:r>
              <a:rPr lang="en-US" sz="900" kern="0" spc="200">
                <a:solidFill>
                  <a:schemeClr val="bg1"/>
                </a:solidFill>
              </a:rPr>
              <a:t>FEASIBILITY</a:t>
            </a:r>
            <a:endParaRPr lang="en-US" sz="900"/>
          </a:p>
          <a:p>
            <a:pPr marL="0" indent="0" algn="ctr">
              <a:buNone/>
            </a:pPr>
            <a:r>
              <a:rPr lang="en-US" sz="1800" b="1">
                <a:solidFill>
                  <a:schemeClr val="bg1"/>
                </a:solidFill>
                <a:latin typeface="Montserrat" pitchFamily="34" charset="0"/>
                <a:ea typeface="Montserrat" pitchFamily="34" charset="-122"/>
                <a:cs typeface="Montserrat" pitchFamily="34" charset="-120"/>
              </a:rPr>
              <a:t>Medium</a:t>
            </a:r>
            <a:endParaRPr lang="en-US" sz="900"/>
          </a:p>
        </p:txBody>
      </p:sp>
      <p:sp>
        <p:nvSpPr>
          <p:cNvPr id="42"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Engage Mecklenburg; Fairfax County inclusive engagement page; Hillsborough County; Wake County website. </a:t>
            </a:r>
            <a:r>
              <a:rPr lang="en-US" sz="1000" u="sng">
                <a:solidFill>
                  <a:schemeClr val="accent2"/>
                </a:solidFill>
                <a:hlinkClick r:id="rId9"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43"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11</a:t>
            </a:fld>
            <a:endParaRPr lang="en-US"/>
          </a:p>
        </p:txBody>
      </p:sp>
      <p:pic>
        <p:nvPicPr>
          <p:cNvPr id="44" name="Picture 43">
            <a:extLst>
              <a:ext uri="{FF2B5EF4-FFF2-40B4-BE49-F238E27FC236}">
                <a16:creationId xmlns:a16="http://schemas.microsoft.com/office/drawing/2014/main" id="{8892E5E7-F080-8BC0-D08C-E97CDE20BA79}"/>
              </a:ext>
            </a:extLst>
          </p:cNvPr>
          <p:cNvPicPr>
            <a:picLocks noChangeAspect="1"/>
          </p:cNvPicPr>
          <p:nvPr/>
        </p:nvPicPr>
        <p:blipFill>
          <a:blip r:embed="rId10"/>
          <a:stretch>
            <a:fillRect/>
          </a:stretch>
        </p:blipFill>
        <p:spPr>
          <a:xfrm>
            <a:off x="10702633" y="48335"/>
            <a:ext cx="1176475" cy="920929"/>
          </a:xfrm>
          <a:prstGeom prst="rect">
            <a:avLst/>
          </a:prstGeom>
        </p:spPr>
      </p:pic>
      <p:pic>
        <p:nvPicPr>
          <p:cNvPr id="45" name="Picture 44">
            <a:extLst>
              <a:ext uri="{FF2B5EF4-FFF2-40B4-BE49-F238E27FC236}">
                <a16:creationId xmlns:a16="http://schemas.microsoft.com/office/drawing/2014/main" id="{3A19EBD3-DD7E-A33E-CB49-984C7F55485E}"/>
              </a:ext>
            </a:extLst>
          </p:cNvPr>
          <p:cNvPicPr>
            <a:picLocks noChangeAspect="1"/>
          </p:cNvPicPr>
          <p:nvPr/>
        </p:nvPicPr>
        <p:blipFill>
          <a:blip r:embed="rId11"/>
          <a:stretch>
            <a:fillRect/>
          </a:stretch>
        </p:blipFill>
        <p:spPr>
          <a:xfrm>
            <a:off x="1261872" y="6149993"/>
            <a:ext cx="534000" cy="61938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527350"/>
            <a:ext cx="10581640" cy="701687"/>
          </a:xfrm>
          <a:prstGeom prst="rect">
            <a:avLst/>
          </a:prstGeom>
          <a:noFill/>
          <a:ln/>
        </p:spPr>
        <p:txBody>
          <a:bodyPr wrap="square" lIns="0" tIns="0" rIns="0" bIns="0" rtlCol="0" anchor="b"/>
          <a:lstStyle/>
          <a:p>
            <a:r>
              <a:rPr lang="en-US">
                <a:latin typeface="Montserrat"/>
              </a:rPr>
              <a:t>Closing the Loop Shows Residents How Their Input Mattered</a:t>
            </a:r>
            <a:endParaRPr lang="en-US"/>
          </a:p>
          <a:p>
            <a:endParaRPr lang="en-US"/>
          </a:p>
        </p:txBody>
      </p:sp>
      <p:sp>
        <p:nvSpPr>
          <p:cNvPr id="3" name="Text 1"/>
          <p:cNvSpPr/>
          <p:nvPr/>
        </p:nvSpPr>
        <p:spPr>
          <a:xfrm>
            <a:off x="365760" y="1234440"/>
            <a:ext cx="2971800" cy="566928"/>
          </a:xfrm>
          <a:prstGeom prst="homePlate">
            <a:avLst/>
          </a:prstGeom>
          <a:solidFill>
            <a:schemeClr val="accent5"/>
          </a:solidFill>
          <a:ln/>
        </p:spPr>
        <p:txBody>
          <a:bodyPr wrap="square" lIns="0" tIns="0" rIns="0" bIns="0" rtlCol="0" anchor="ctr"/>
          <a:lstStyle/>
          <a:p>
            <a:pPr algn="ctr"/>
            <a:r>
              <a:rPr lang="en-US" sz="1300" b="1">
                <a:solidFill>
                  <a:srgbClr val="0D2F4E"/>
                </a:solidFill>
                <a:latin typeface="Montserrat"/>
              </a:rPr>
              <a:t>1</a:t>
            </a:r>
            <a:r>
              <a:rPr lang="en-US" sz="1300" b="1" i="0" u="none" strike="noStrike" baseline="0">
                <a:solidFill>
                  <a:srgbClr val="0D2F4E"/>
                </a:solidFill>
                <a:latin typeface="Montserrat"/>
              </a:rPr>
              <a:t>) </a:t>
            </a:r>
            <a:r>
              <a:rPr lang="en-US" sz="1300" b="1">
                <a:solidFill>
                  <a:srgbClr val="0D2F4E"/>
                </a:solidFill>
                <a:latin typeface="Montserrat"/>
              </a:rPr>
              <a:t>Ask Early</a:t>
            </a:r>
            <a:endParaRPr lang="en-US">
              <a:ea typeface="Calibri"/>
              <a:cs typeface="Calibri"/>
            </a:endParaRPr>
          </a:p>
        </p:txBody>
      </p:sp>
      <p:sp>
        <p:nvSpPr>
          <p:cNvPr id="4" name="Ask early circle"/>
          <p:cNvSpPr/>
          <p:nvPr/>
        </p:nvSpPr>
        <p:spPr>
          <a:xfrm>
            <a:off x="1389888" y="1965960"/>
            <a:ext cx="713232" cy="713232"/>
          </a:xfrm>
          <a:prstGeom prst="ellipse">
            <a:avLst/>
          </a:prstGeom>
          <a:solidFill>
            <a:schemeClr val="accent4"/>
          </a:solidFill>
          <a:ln w="12700">
            <a:solidFill>
              <a:schemeClr val="accent4"/>
            </a:solidFill>
            <a:prstDash val="solid"/>
          </a:ln>
        </p:spPr>
        <p:txBody>
          <a:bodyPr/>
          <a:lstStyle/>
          <a:p>
            <a:endParaRPr lang="en-US"/>
          </a:p>
        </p:txBody>
      </p:sp>
      <p:pic>
        <p:nvPicPr>
          <p:cNvPr id="5" name="Ask early icon" descr="preencoded.png"/>
          <p:cNvPicPr>
            <a:picLocks noChangeAspect="1"/>
          </p:cNvPicPr>
          <p:nvPr/>
        </p:nvPicPr>
        <p:blipFill>
          <a:blip r:embed="rId3"/>
          <a:stretch>
            <a:fillRect/>
          </a:stretch>
        </p:blipFill>
        <p:spPr>
          <a:xfrm>
            <a:off x="1561064" y="2137136"/>
            <a:ext cx="370881" cy="370881"/>
          </a:xfrm>
          <a:prstGeom prst="rect">
            <a:avLst/>
          </a:prstGeom>
        </p:spPr>
      </p:pic>
      <p:sp>
        <p:nvSpPr>
          <p:cNvPr id="6" name="Text 3"/>
          <p:cNvSpPr txBox="1"/>
          <p:nvPr/>
        </p:nvSpPr>
        <p:spPr>
          <a:xfrm>
            <a:off x="457200" y="2788920"/>
            <a:ext cx="2651760" cy="1417320"/>
          </a:xfrm>
          <a:prstGeom prst="rect">
            <a:avLst/>
          </a:prstGeom>
          <a:noFill/>
          <a:ln/>
        </p:spPr>
        <p:txBody>
          <a:bodyPr wrap="square" lIns="0" tIns="0" rIns="0" bIns="0" rtlCol="0" anchor="t"/>
          <a:lstStyle/>
          <a:p>
            <a:pPr marL="0" indent="0">
              <a:buNone/>
            </a:pPr>
            <a:r>
              <a:rPr lang="en-US" sz="1300">
                <a:solidFill>
                  <a:schemeClr val="tx1"/>
                </a:solidFill>
              </a:rPr>
              <a:t>Durham holds Community Conversations at the start of the budget process, in person and online, and shares findings with City Council.</a:t>
            </a:r>
            <a:endParaRPr lang="en-US" sz="1300"/>
          </a:p>
        </p:txBody>
      </p:sp>
      <p:sp>
        <p:nvSpPr>
          <p:cNvPr id="7" name="Text 4"/>
          <p:cNvSpPr/>
          <p:nvPr/>
        </p:nvSpPr>
        <p:spPr>
          <a:xfrm>
            <a:off x="3264408" y="1234440"/>
            <a:ext cx="2971800" cy="566928"/>
          </a:xfrm>
          <a:prstGeom prst="chevron">
            <a:avLst/>
          </a:prstGeom>
          <a:solidFill>
            <a:schemeClr val="accent3"/>
          </a:solidFill>
          <a:ln/>
        </p:spPr>
        <p:txBody>
          <a:bodyPr wrap="square" lIns="0" tIns="0" rIns="0" bIns="0" rtlCol="0" anchor="ctr"/>
          <a:lstStyle/>
          <a:p>
            <a:pPr algn="ctr"/>
            <a:r>
              <a:rPr lang="en-US" sz="1300" b="1">
                <a:solidFill>
                  <a:schemeClr val="tx2"/>
                </a:solidFill>
                <a:latin typeface="Montserrat"/>
                <a:ea typeface="Montserrat" pitchFamily="34" charset="-122"/>
                <a:cs typeface="Montserrat" pitchFamily="34" charset="-120"/>
              </a:rPr>
              <a:t>2) Let Residents Prioritize</a:t>
            </a:r>
            <a:endParaRPr lang="en-US" sz="1300">
              <a:solidFill>
                <a:schemeClr val="tx2"/>
              </a:solidFill>
              <a:latin typeface="Montserrat"/>
            </a:endParaRPr>
          </a:p>
        </p:txBody>
      </p:sp>
      <p:sp>
        <p:nvSpPr>
          <p:cNvPr id="8" name="Let residents prioritize circle"/>
          <p:cNvSpPr/>
          <p:nvPr/>
        </p:nvSpPr>
        <p:spPr>
          <a:xfrm>
            <a:off x="4288536" y="1965960"/>
            <a:ext cx="713232" cy="713232"/>
          </a:xfrm>
          <a:prstGeom prst="ellipse">
            <a:avLst/>
          </a:prstGeom>
          <a:solidFill>
            <a:schemeClr val="accent4"/>
          </a:solidFill>
          <a:ln w="12700">
            <a:solidFill>
              <a:schemeClr val="accent4"/>
            </a:solidFill>
            <a:prstDash val="solid"/>
          </a:ln>
        </p:spPr>
        <p:txBody>
          <a:bodyPr/>
          <a:lstStyle/>
          <a:p>
            <a:endParaRPr lang="en-US"/>
          </a:p>
        </p:txBody>
      </p:sp>
      <p:pic>
        <p:nvPicPr>
          <p:cNvPr id="9" name="Let residents prioritize icon" descr="preencoded.png"/>
          <p:cNvPicPr>
            <a:picLocks noChangeAspect="1"/>
          </p:cNvPicPr>
          <p:nvPr/>
        </p:nvPicPr>
        <p:blipFill>
          <a:blip r:embed="rId4"/>
          <a:stretch>
            <a:fillRect/>
          </a:stretch>
        </p:blipFill>
        <p:spPr>
          <a:xfrm>
            <a:off x="4459712" y="2137136"/>
            <a:ext cx="370881" cy="370881"/>
          </a:xfrm>
          <a:prstGeom prst="rect">
            <a:avLst/>
          </a:prstGeom>
        </p:spPr>
      </p:pic>
      <p:sp>
        <p:nvSpPr>
          <p:cNvPr id="10" name="Text 6"/>
          <p:cNvSpPr txBox="1"/>
          <p:nvPr/>
        </p:nvSpPr>
        <p:spPr>
          <a:xfrm>
            <a:off x="3355848" y="2788920"/>
            <a:ext cx="2651760" cy="1417320"/>
          </a:xfrm>
          <a:prstGeom prst="rect">
            <a:avLst/>
          </a:prstGeom>
          <a:noFill/>
          <a:ln/>
        </p:spPr>
        <p:txBody>
          <a:bodyPr wrap="square" lIns="0" tIns="0" rIns="0" bIns="0" rtlCol="0" anchor="t"/>
          <a:lstStyle/>
          <a:p>
            <a:pPr marL="0" indent="0">
              <a:buNone/>
            </a:pPr>
            <a:r>
              <a:rPr lang="en-US" sz="1300">
                <a:solidFill>
                  <a:schemeClr val="tx1"/>
                </a:solidFill>
              </a:rPr>
              <a:t>Gwinnett seats citizen budget review teams, and Durham residents propose and vote on $2.4M in one-time projects.</a:t>
            </a:r>
            <a:endParaRPr lang="en-US" sz="1300"/>
          </a:p>
        </p:txBody>
      </p:sp>
      <p:sp>
        <p:nvSpPr>
          <p:cNvPr id="11" name="Text 7"/>
          <p:cNvSpPr/>
          <p:nvPr/>
        </p:nvSpPr>
        <p:spPr>
          <a:xfrm>
            <a:off x="6163056" y="1234440"/>
            <a:ext cx="2971800" cy="566928"/>
          </a:xfrm>
          <a:prstGeom prst="chevron">
            <a:avLst/>
          </a:prstGeom>
          <a:solidFill>
            <a:schemeClr val="accent2"/>
          </a:solidFill>
          <a:ln/>
        </p:spPr>
        <p:txBody>
          <a:bodyPr wrap="square" lIns="0" tIns="0" rIns="0" bIns="0" rtlCol="0" anchor="ctr"/>
          <a:lstStyle/>
          <a:p>
            <a:pPr algn="ctr"/>
            <a:r>
              <a:rPr lang="en-US" sz="1300" b="1">
                <a:solidFill>
                  <a:schemeClr val="bg1"/>
                </a:solidFill>
                <a:latin typeface="Montserrat"/>
                <a:ea typeface="Montserrat" pitchFamily="34" charset="-122"/>
                <a:cs typeface="Montserrat" pitchFamily="34" charset="-120"/>
              </a:rPr>
              <a:t>3) Report Back</a:t>
            </a:r>
            <a:endParaRPr lang="en-US" sz="1300">
              <a:solidFill>
                <a:schemeClr val="bg1"/>
              </a:solidFill>
              <a:latin typeface="Montserrat"/>
            </a:endParaRPr>
          </a:p>
        </p:txBody>
      </p:sp>
      <p:sp>
        <p:nvSpPr>
          <p:cNvPr id="12" name="Report back circle"/>
          <p:cNvSpPr/>
          <p:nvPr/>
        </p:nvSpPr>
        <p:spPr>
          <a:xfrm>
            <a:off x="7187184" y="1965960"/>
            <a:ext cx="713232" cy="713232"/>
          </a:xfrm>
          <a:prstGeom prst="ellipse">
            <a:avLst/>
          </a:prstGeom>
          <a:solidFill>
            <a:schemeClr val="accent4"/>
          </a:solidFill>
          <a:ln w="12700">
            <a:solidFill>
              <a:schemeClr val="accent4"/>
            </a:solidFill>
            <a:prstDash val="solid"/>
          </a:ln>
        </p:spPr>
        <p:txBody>
          <a:bodyPr/>
          <a:lstStyle/>
          <a:p>
            <a:endParaRPr lang="en-US"/>
          </a:p>
        </p:txBody>
      </p:sp>
      <p:pic>
        <p:nvPicPr>
          <p:cNvPr id="13" name="Report back icon" descr="preencoded.png"/>
          <p:cNvPicPr>
            <a:picLocks noChangeAspect="1"/>
          </p:cNvPicPr>
          <p:nvPr/>
        </p:nvPicPr>
        <p:blipFill>
          <a:blip r:embed="rId5"/>
          <a:stretch>
            <a:fillRect/>
          </a:stretch>
        </p:blipFill>
        <p:spPr>
          <a:xfrm>
            <a:off x="7358360" y="2137136"/>
            <a:ext cx="370881" cy="370881"/>
          </a:xfrm>
          <a:prstGeom prst="rect">
            <a:avLst/>
          </a:prstGeom>
        </p:spPr>
      </p:pic>
      <p:sp>
        <p:nvSpPr>
          <p:cNvPr id="14" name="Text 9"/>
          <p:cNvSpPr txBox="1"/>
          <p:nvPr/>
        </p:nvSpPr>
        <p:spPr>
          <a:xfrm>
            <a:off x="6254496" y="2788920"/>
            <a:ext cx="2651760" cy="1417320"/>
          </a:xfrm>
          <a:prstGeom prst="rect">
            <a:avLst/>
          </a:prstGeom>
          <a:noFill/>
          <a:ln/>
        </p:spPr>
        <p:txBody>
          <a:bodyPr wrap="square" lIns="0" tIns="0" rIns="0" bIns="0" rtlCol="0" anchor="t"/>
          <a:lstStyle/>
          <a:p>
            <a:pPr marL="0" indent="0">
              <a:buNone/>
            </a:pPr>
            <a:r>
              <a:rPr lang="en-US" sz="1300">
                <a:solidFill>
                  <a:schemeClr val="tx1"/>
                </a:solidFill>
              </a:rPr>
              <a:t>Mecklenburg pairs its budget priority survey with a public dashboard of the results.</a:t>
            </a:r>
            <a:endParaRPr lang="en-US" sz="1300"/>
          </a:p>
        </p:txBody>
      </p:sp>
      <p:sp>
        <p:nvSpPr>
          <p:cNvPr id="15" name="Text 10"/>
          <p:cNvSpPr/>
          <p:nvPr/>
        </p:nvSpPr>
        <p:spPr>
          <a:xfrm>
            <a:off x="9061704" y="1234440"/>
            <a:ext cx="2971800" cy="566928"/>
          </a:xfrm>
          <a:prstGeom prst="chevron">
            <a:avLst/>
          </a:prstGeom>
          <a:solidFill>
            <a:schemeClr val="tx2"/>
          </a:solidFill>
          <a:ln/>
        </p:spPr>
        <p:txBody>
          <a:bodyPr wrap="square" lIns="0" tIns="0" rIns="0" bIns="0" rtlCol="0" anchor="ctr"/>
          <a:lstStyle/>
          <a:p>
            <a:pPr algn="ctr"/>
            <a:r>
              <a:rPr lang="en-US" sz="1300" b="1">
                <a:solidFill>
                  <a:schemeClr val="bg1"/>
                </a:solidFill>
                <a:latin typeface="Montserrat"/>
                <a:ea typeface="Montserrat" pitchFamily="34" charset="-122"/>
                <a:cs typeface="Montserrat" pitchFamily="34" charset="-120"/>
              </a:rPr>
              <a:t>4)</a:t>
            </a:r>
            <a:r>
              <a:rPr lang="en-US" sz="1300" b="1">
                <a:solidFill>
                  <a:schemeClr val="bg1"/>
                </a:solidFill>
                <a:latin typeface="Montserrat"/>
                <a:ea typeface="+mn-lt"/>
                <a:cs typeface="+mn-lt"/>
              </a:rPr>
              <a:t> Measure Who Participates</a:t>
            </a:r>
            <a:endParaRPr lang="en-US" sz="1300">
              <a:solidFill>
                <a:schemeClr val="bg1"/>
              </a:solidFill>
              <a:latin typeface="Montserrat"/>
            </a:endParaRPr>
          </a:p>
        </p:txBody>
      </p:sp>
      <p:sp>
        <p:nvSpPr>
          <p:cNvPr id="16" name="Measure who took part circle"/>
          <p:cNvSpPr/>
          <p:nvPr/>
        </p:nvSpPr>
        <p:spPr>
          <a:xfrm>
            <a:off x="10085832" y="1965960"/>
            <a:ext cx="713232" cy="713232"/>
          </a:xfrm>
          <a:prstGeom prst="ellipse">
            <a:avLst/>
          </a:prstGeom>
          <a:solidFill>
            <a:schemeClr val="accent4"/>
          </a:solidFill>
          <a:ln w="12700">
            <a:solidFill>
              <a:schemeClr val="accent4"/>
            </a:solidFill>
            <a:prstDash val="solid"/>
          </a:ln>
        </p:spPr>
        <p:txBody>
          <a:bodyPr/>
          <a:lstStyle/>
          <a:p>
            <a:endParaRPr lang="en-US"/>
          </a:p>
        </p:txBody>
      </p:sp>
      <p:pic>
        <p:nvPicPr>
          <p:cNvPr id="17" name="Measure who took part icon" descr="preencoded.png"/>
          <p:cNvPicPr>
            <a:picLocks noChangeAspect="1"/>
          </p:cNvPicPr>
          <p:nvPr/>
        </p:nvPicPr>
        <p:blipFill>
          <a:blip r:embed="rId6"/>
          <a:stretch>
            <a:fillRect/>
          </a:stretch>
        </p:blipFill>
        <p:spPr>
          <a:xfrm>
            <a:off x="10257008" y="2137136"/>
            <a:ext cx="370881" cy="370881"/>
          </a:xfrm>
          <a:prstGeom prst="rect">
            <a:avLst/>
          </a:prstGeom>
        </p:spPr>
      </p:pic>
      <p:sp>
        <p:nvSpPr>
          <p:cNvPr id="18" name="Text 12"/>
          <p:cNvSpPr txBox="1"/>
          <p:nvPr/>
        </p:nvSpPr>
        <p:spPr>
          <a:xfrm>
            <a:off x="9153144" y="2788920"/>
            <a:ext cx="2651760" cy="1417320"/>
          </a:xfrm>
          <a:prstGeom prst="rect">
            <a:avLst/>
          </a:prstGeom>
          <a:noFill/>
          <a:ln/>
        </p:spPr>
        <p:txBody>
          <a:bodyPr wrap="square" lIns="0" tIns="0" rIns="0" bIns="0" rtlCol="0" anchor="t"/>
          <a:lstStyle/>
          <a:p>
            <a:pPr marL="0" indent="0">
              <a:buNone/>
            </a:pPr>
            <a:r>
              <a:rPr lang="en-US" sz="1300">
                <a:solidFill>
                  <a:schemeClr val="tx1"/>
                </a:solidFill>
              </a:rPr>
              <a:t>Fairfax dashboards break results down by population and place, showing who is missing, not just how many came.</a:t>
            </a:r>
            <a:endParaRPr lang="en-US" sz="1300"/>
          </a:p>
        </p:txBody>
      </p:sp>
      <p:sp>
        <p:nvSpPr>
          <p:cNvPr id="19" name="Text 13"/>
          <p:cNvSpPr txBox="1"/>
          <p:nvPr/>
        </p:nvSpPr>
        <p:spPr>
          <a:xfrm>
            <a:off x="365760" y="4069080"/>
            <a:ext cx="11430000" cy="457200"/>
          </a:xfrm>
          <a:prstGeom prst="rect">
            <a:avLst/>
          </a:prstGeom>
          <a:noFill/>
          <a:ln/>
        </p:spPr>
        <p:txBody>
          <a:bodyPr wrap="square" lIns="0" tIns="0" rIns="0" bIns="0" rtlCol="0" anchor="ctr"/>
          <a:lstStyle/>
          <a:p>
            <a:r>
              <a:rPr lang="en-US" sz="1250" i="1">
                <a:solidFill>
                  <a:schemeClr val="accent2"/>
                </a:solidFill>
                <a:ea typeface="+mn-lt"/>
                <a:cs typeface="+mn-lt"/>
              </a:rPr>
              <a:t>Wake County partners expressed interest in the strategies behind participatory budgeting, such as early resident input and visible follow-through, rather than in participatory budgeting itself.</a:t>
            </a:r>
            <a:endParaRPr lang="en-US" i="1">
              <a:solidFill>
                <a:schemeClr val="accent2"/>
              </a:solidFill>
              <a:ea typeface="+mn-lt"/>
              <a:cs typeface="+mn-lt"/>
            </a:endParaRPr>
          </a:p>
        </p:txBody>
      </p:sp>
      <p:sp>
        <p:nvSpPr>
          <p:cNvPr id="20" name="Fit for Wake panel"/>
          <p:cNvSpPr/>
          <p:nvPr/>
        </p:nvSpPr>
        <p:spPr>
          <a:xfrm>
            <a:off x="365760" y="4828032"/>
            <a:ext cx="11457432" cy="786384"/>
          </a:xfrm>
          <a:prstGeom prst="roundRect">
            <a:avLst>
              <a:gd name="adj" fmla="val 9302"/>
            </a:avLst>
          </a:prstGeom>
          <a:solidFill>
            <a:schemeClr val="bg2"/>
          </a:solidFill>
          <a:ln w="9525">
            <a:solidFill>
              <a:schemeClr val="bg2"/>
            </a:solidFill>
            <a:prstDash val="solid"/>
          </a:ln>
        </p:spPr>
        <p:txBody>
          <a:bodyPr/>
          <a:lstStyle/>
          <a:p>
            <a:endParaRPr lang="en-US"/>
          </a:p>
        </p:txBody>
      </p:sp>
      <p:sp>
        <p:nvSpPr>
          <p:cNvPr id="21" name="Wake today"/>
          <p:cNvSpPr txBox="1"/>
          <p:nvPr/>
        </p:nvSpPr>
        <p:spPr>
          <a:xfrm>
            <a:off x="548640" y="4882896"/>
            <a:ext cx="4663440" cy="676656"/>
          </a:xfrm>
          <a:prstGeom prst="rect">
            <a:avLst/>
          </a:prstGeom>
          <a:noFill/>
          <a:ln/>
        </p:spPr>
        <p:txBody>
          <a:bodyPr wrap="square" lIns="0" tIns="0" rIns="0" bIns="0" rtlCol="0" anchor="ctr"/>
          <a:lstStyle/>
          <a:p>
            <a:r>
              <a:rPr lang="en-US" sz="1200" b="1">
                <a:solidFill>
                  <a:schemeClr val="accent2"/>
                </a:solidFill>
              </a:rPr>
              <a:t>Wake County today</a:t>
            </a:r>
            <a:endParaRPr lang="en-US" sz="1200">
              <a:solidFill>
                <a:schemeClr val="accent2"/>
              </a:solidFill>
            </a:endParaRPr>
          </a:p>
          <a:p>
            <a:pPr marL="0" indent="0">
              <a:buNone/>
            </a:pPr>
            <a:r>
              <a:rPr lang="en-US" sz="1200">
                <a:solidFill>
                  <a:schemeClr val="tx1"/>
                </a:solidFill>
              </a:rPr>
              <a:t>The Strategic Plan aims to raise by 10% the share of residents who agree the County engages them well.</a:t>
            </a:r>
            <a:endParaRPr lang="en-US" sz="1200"/>
          </a:p>
        </p:txBody>
      </p:sp>
      <p:sp>
        <p:nvSpPr>
          <p:cNvPr id="22" name="What it would take"/>
          <p:cNvSpPr txBox="1"/>
          <p:nvPr/>
        </p:nvSpPr>
        <p:spPr>
          <a:xfrm>
            <a:off x="5440680" y="4882896"/>
            <a:ext cx="4343400" cy="676656"/>
          </a:xfrm>
          <a:prstGeom prst="rect">
            <a:avLst/>
          </a:prstGeom>
          <a:noFill/>
          <a:ln/>
        </p:spPr>
        <p:txBody>
          <a:bodyPr wrap="square" lIns="0" tIns="0" rIns="0" bIns="0" rtlCol="0" anchor="ctr"/>
          <a:lstStyle/>
          <a:p>
            <a:pPr marL="0" indent="0">
              <a:buNone/>
            </a:pPr>
            <a:r>
              <a:rPr lang="en-US" sz="1200" b="1">
                <a:solidFill>
                  <a:schemeClr val="accent2"/>
                </a:solidFill>
              </a:rPr>
              <a:t>What it would take</a:t>
            </a:r>
            <a:endParaRPr lang="en-US" sz="1200"/>
          </a:p>
          <a:p>
            <a:pPr marL="0" indent="0">
              <a:buNone/>
            </a:pPr>
            <a:r>
              <a:rPr lang="en-US" sz="1200">
                <a:solidFill>
                  <a:schemeClr val="tx1"/>
                </a:solidFill>
              </a:rPr>
              <a:t>A short "what we heard, what we did" summary after each process, then a participation dashboard tied to that goal.</a:t>
            </a:r>
            <a:endParaRPr lang="en-US" sz="1200"/>
          </a:p>
        </p:txBody>
      </p:sp>
      <p:sp>
        <p:nvSpPr>
          <p:cNvPr id="23" name="Feasibility rating"/>
          <p:cNvSpPr/>
          <p:nvPr/>
        </p:nvSpPr>
        <p:spPr>
          <a:xfrm>
            <a:off x="10012680" y="4937760"/>
            <a:ext cx="1645920" cy="566928"/>
          </a:xfrm>
          <a:prstGeom prst="roundRect">
            <a:avLst>
              <a:gd name="adj" fmla="val 12903"/>
            </a:avLst>
          </a:prstGeom>
          <a:solidFill>
            <a:schemeClr val="accent4"/>
          </a:solidFill>
          <a:ln/>
        </p:spPr>
        <p:txBody>
          <a:bodyPr wrap="square" lIns="0" tIns="0" rIns="0" bIns="0" rtlCol="0" anchor="ctr"/>
          <a:lstStyle/>
          <a:p>
            <a:pPr marL="0" indent="0" algn="ctr">
              <a:buNone/>
            </a:pPr>
            <a:r>
              <a:rPr lang="en-US" sz="900" kern="0" spc="200">
                <a:solidFill>
                  <a:schemeClr val="bg1"/>
                </a:solidFill>
              </a:rPr>
              <a:t>FEASIBILITY</a:t>
            </a:r>
            <a:endParaRPr lang="en-US" sz="900"/>
          </a:p>
          <a:p>
            <a:pPr marL="0" indent="0" algn="ctr">
              <a:buNone/>
            </a:pPr>
            <a:r>
              <a:rPr lang="en-US" sz="1800" b="1">
                <a:solidFill>
                  <a:schemeClr val="bg1"/>
                </a:solidFill>
                <a:latin typeface="Montserrat" pitchFamily="34" charset="0"/>
                <a:ea typeface="Montserrat" pitchFamily="34" charset="-122"/>
                <a:cs typeface="Montserrat" pitchFamily="34" charset="-120"/>
              </a:rPr>
              <a:t>High</a:t>
            </a:r>
            <a:endParaRPr lang="en-US" sz="900"/>
          </a:p>
        </p:txBody>
      </p:sp>
      <p:sp>
        <p:nvSpPr>
          <p:cNvPr id="24"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City of Durham; Mecklenburg County Budget Engagement; Gwinnett County Budget in Brief 2026; Fairfax County Annual Report; Wake County Strategic Plan. </a:t>
            </a:r>
            <a:r>
              <a:rPr lang="en-US" sz="1000" u="sng">
                <a:solidFill>
                  <a:schemeClr val="accent2"/>
                </a:solidFill>
                <a:hlinkClick r:id="rId7"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12</a:t>
            </a:fld>
            <a:endParaRPr lang="en-US"/>
          </a:p>
        </p:txBody>
      </p:sp>
      <p:pic>
        <p:nvPicPr>
          <p:cNvPr id="26" name="Picture 25">
            <a:extLst>
              <a:ext uri="{FF2B5EF4-FFF2-40B4-BE49-F238E27FC236}">
                <a16:creationId xmlns:a16="http://schemas.microsoft.com/office/drawing/2014/main" id="{58F8F1CD-7CC0-CEB9-C58A-422EAABDF270}"/>
              </a:ext>
            </a:extLst>
          </p:cNvPr>
          <p:cNvPicPr>
            <a:picLocks noChangeAspect="1"/>
          </p:cNvPicPr>
          <p:nvPr/>
        </p:nvPicPr>
        <p:blipFill>
          <a:blip r:embed="rId8"/>
          <a:stretch>
            <a:fillRect/>
          </a:stretch>
        </p:blipFill>
        <p:spPr>
          <a:xfrm>
            <a:off x="10702633" y="48335"/>
            <a:ext cx="1176475" cy="920929"/>
          </a:xfrm>
          <a:prstGeom prst="rect">
            <a:avLst/>
          </a:prstGeom>
        </p:spPr>
      </p:pic>
      <p:pic>
        <p:nvPicPr>
          <p:cNvPr id="27" name="Picture 26">
            <a:extLst>
              <a:ext uri="{FF2B5EF4-FFF2-40B4-BE49-F238E27FC236}">
                <a16:creationId xmlns:a16="http://schemas.microsoft.com/office/drawing/2014/main" id="{24DA40D5-FFCD-7513-DB85-626AB09B0363}"/>
              </a:ext>
            </a:extLst>
          </p:cNvPr>
          <p:cNvPicPr>
            <a:picLocks noChangeAspect="1"/>
          </p:cNvPicPr>
          <p:nvPr/>
        </p:nvPicPr>
        <p:blipFill>
          <a:blip r:embed="rId9"/>
          <a:stretch>
            <a:fillRect/>
          </a:stretch>
        </p:blipFill>
        <p:spPr>
          <a:xfrm>
            <a:off x="1261872" y="6149993"/>
            <a:ext cx="534000" cy="61938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42671" y="354168"/>
            <a:ext cx="10933774" cy="615096"/>
          </a:xfrm>
          <a:prstGeom prst="rect">
            <a:avLst/>
          </a:prstGeom>
          <a:noFill/>
          <a:ln/>
        </p:spPr>
        <p:txBody>
          <a:bodyPr wrap="square" lIns="0" tIns="0" rIns="0" bIns="0" rtlCol="0" anchor="b"/>
          <a:lstStyle/>
          <a:p>
            <a:r>
              <a:rPr lang="en-US" sz="2400">
                <a:latin typeface="Montserrat"/>
              </a:rPr>
              <a:t>Four of </a:t>
            </a:r>
            <a:r>
              <a:rPr lang="en-US">
                <a:latin typeface="Montserrat"/>
              </a:rPr>
              <a:t>the </a:t>
            </a:r>
            <a:r>
              <a:rPr lang="en-US" sz="2400">
                <a:latin typeface="Montserrat"/>
              </a:rPr>
              <a:t>Six Practices Build on Wake </a:t>
            </a:r>
            <a:r>
              <a:rPr lang="en-US">
                <a:latin typeface="Montserrat"/>
              </a:rPr>
              <a:t>County's Strengths</a:t>
            </a:r>
          </a:p>
        </p:txBody>
      </p:sp>
      <p:sp>
        <p:nvSpPr>
          <p:cNvPr id="3" name="Quick wins quadrant"/>
          <p:cNvSpPr/>
          <p:nvPr/>
        </p:nvSpPr>
        <p:spPr>
          <a:xfrm>
            <a:off x="914400" y="1234440"/>
            <a:ext cx="3346704" cy="1997964"/>
          </a:xfrm>
          <a:prstGeom prst="rect">
            <a:avLst/>
          </a:prstGeom>
          <a:solidFill>
            <a:schemeClr val="accent4">
              <a:alpha val="12000"/>
            </a:schemeClr>
          </a:solidFill>
          <a:ln w="12700">
            <a:solidFill>
              <a:schemeClr val="bg2"/>
            </a:solidFill>
            <a:prstDash val="solid"/>
          </a:ln>
        </p:spPr>
        <p:txBody>
          <a:bodyPr/>
          <a:lstStyle/>
          <a:p>
            <a:endParaRPr lang="en-US"/>
          </a:p>
        </p:txBody>
      </p:sp>
      <p:sp>
        <p:nvSpPr>
          <p:cNvPr id="4" name="Text 2"/>
          <p:cNvSpPr txBox="1"/>
          <p:nvPr/>
        </p:nvSpPr>
        <p:spPr>
          <a:xfrm>
            <a:off x="1024128" y="1307592"/>
            <a:ext cx="2926080" cy="256032"/>
          </a:xfrm>
          <a:prstGeom prst="rect">
            <a:avLst/>
          </a:prstGeom>
          <a:noFill/>
          <a:ln/>
        </p:spPr>
        <p:txBody>
          <a:bodyPr wrap="square" lIns="0" tIns="0" rIns="0" bIns="0" rtlCol="0" anchor="ctr"/>
          <a:lstStyle/>
          <a:p>
            <a:pPr marL="0" indent="0" algn="l">
              <a:buNone/>
            </a:pPr>
            <a:r>
              <a:rPr lang="en-US" sz="1000" b="1" kern="0" spc="200">
                <a:solidFill>
                  <a:schemeClr val="accent4"/>
                </a:solidFill>
                <a:latin typeface="+mj-lt"/>
              </a:rPr>
              <a:t>QUICK WINS</a:t>
            </a:r>
            <a:endParaRPr lang="en-US" sz="1000">
              <a:latin typeface="+mj-lt"/>
            </a:endParaRPr>
          </a:p>
        </p:txBody>
      </p:sp>
      <p:sp>
        <p:nvSpPr>
          <p:cNvPr id="5" name="Strategic investments quadrant"/>
          <p:cNvSpPr/>
          <p:nvPr/>
        </p:nvSpPr>
        <p:spPr>
          <a:xfrm>
            <a:off x="4297680" y="1234440"/>
            <a:ext cx="3346704" cy="1997964"/>
          </a:xfrm>
          <a:prstGeom prst="rect">
            <a:avLst/>
          </a:prstGeom>
          <a:solidFill>
            <a:schemeClr val="bg2"/>
          </a:solidFill>
          <a:ln w="12700">
            <a:solidFill>
              <a:schemeClr val="bg2"/>
            </a:solidFill>
            <a:prstDash val="solid"/>
          </a:ln>
        </p:spPr>
        <p:txBody>
          <a:bodyPr/>
          <a:lstStyle/>
          <a:p>
            <a:endParaRPr lang="en-US"/>
          </a:p>
        </p:txBody>
      </p:sp>
      <p:sp>
        <p:nvSpPr>
          <p:cNvPr id="6" name="Text 4"/>
          <p:cNvSpPr txBox="1"/>
          <p:nvPr/>
        </p:nvSpPr>
        <p:spPr>
          <a:xfrm>
            <a:off x="4608576" y="1307592"/>
            <a:ext cx="2926080" cy="256032"/>
          </a:xfrm>
          <a:prstGeom prst="rect">
            <a:avLst/>
          </a:prstGeom>
          <a:noFill/>
          <a:ln/>
        </p:spPr>
        <p:txBody>
          <a:bodyPr wrap="square" lIns="0" tIns="0" rIns="0" bIns="0" rtlCol="0" anchor="ctr"/>
          <a:lstStyle/>
          <a:p>
            <a:pPr marL="0" indent="0" algn="r">
              <a:buNone/>
            </a:pPr>
            <a:r>
              <a:rPr lang="en-US" sz="1000" b="1" kern="0" spc="200">
                <a:solidFill>
                  <a:schemeClr val="accent2"/>
                </a:solidFill>
                <a:latin typeface="+mj-lt"/>
              </a:rPr>
              <a:t>STRATEGIC INVESTMENTS</a:t>
            </a:r>
            <a:endParaRPr lang="en-US" sz="1000">
              <a:latin typeface="+mj-lt"/>
            </a:endParaRPr>
          </a:p>
        </p:txBody>
      </p:sp>
      <p:sp>
        <p:nvSpPr>
          <p:cNvPr id="7" name="Easy add-ons quadrant"/>
          <p:cNvSpPr/>
          <p:nvPr/>
        </p:nvSpPr>
        <p:spPr>
          <a:xfrm>
            <a:off x="914400" y="3268980"/>
            <a:ext cx="3346704" cy="1997964"/>
          </a:xfrm>
          <a:prstGeom prst="rect">
            <a:avLst/>
          </a:prstGeom>
          <a:solidFill>
            <a:schemeClr val="bg2"/>
          </a:solidFill>
          <a:ln w="12700">
            <a:solidFill>
              <a:schemeClr val="bg2"/>
            </a:solidFill>
            <a:prstDash val="solid"/>
          </a:ln>
        </p:spPr>
        <p:txBody>
          <a:bodyPr/>
          <a:lstStyle/>
          <a:p>
            <a:endParaRPr lang="en-US"/>
          </a:p>
        </p:txBody>
      </p:sp>
      <p:sp>
        <p:nvSpPr>
          <p:cNvPr id="8" name="Text 6"/>
          <p:cNvSpPr txBox="1"/>
          <p:nvPr/>
        </p:nvSpPr>
        <p:spPr>
          <a:xfrm>
            <a:off x="1024128" y="4956048"/>
            <a:ext cx="2926080" cy="256032"/>
          </a:xfrm>
          <a:prstGeom prst="rect">
            <a:avLst/>
          </a:prstGeom>
          <a:noFill/>
          <a:ln/>
        </p:spPr>
        <p:txBody>
          <a:bodyPr wrap="square" lIns="0" tIns="0" rIns="0" bIns="0" rtlCol="0" anchor="ctr"/>
          <a:lstStyle/>
          <a:p>
            <a:pPr marL="0" indent="0" algn="l">
              <a:buNone/>
            </a:pPr>
            <a:r>
              <a:rPr lang="en-US" sz="1000" b="1" kern="0" spc="200">
                <a:solidFill>
                  <a:schemeClr val="accent6"/>
                </a:solidFill>
                <a:latin typeface="+mj-lt"/>
              </a:rPr>
              <a:t>EASY ADD-ONS</a:t>
            </a:r>
            <a:endParaRPr lang="en-US" sz="1000">
              <a:latin typeface="+mj-lt"/>
            </a:endParaRPr>
          </a:p>
        </p:txBody>
      </p:sp>
      <p:sp>
        <p:nvSpPr>
          <p:cNvPr id="9" name="Hold for later quadrant"/>
          <p:cNvSpPr/>
          <p:nvPr/>
        </p:nvSpPr>
        <p:spPr>
          <a:xfrm>
            <a:off x="4297680" y="3268980"/>
            <a:ext cx="3346704" cy="1997964"/>
          </a:xfrm>
          <a:prstGeom prst="rect">
            <a:avLst/>
          </a:prstGeom>
          <a:solidFill>
            <a:schemeClr val="bg2"/>
          </a:solidFill>
          <a:ln w="12700">
            <a:solidFill>
              <a:schemeClr val="bg2"/>
            </a:solidFill>
            <a:prstDash val="solid"/>
          </a:ln>
        </p:spPr>
        <p:txBody>
          <a:bodyPr/>
          <a:lstStyle/>
          <a:p>
            <a:endParaRPr lang="en-US"/>
          </a:p>
        </p:txBody>
      </p:sp>
      <p:sp>
        <p:nvSpPr>
          <p:cNvPr id="10" name="Text 8"/>
          <p:cNvSpPr txBox="1"/>
          <p:nvPr/>
        </p:nvSpPr>
        <p:spPr>
          <a:xfrm>
            <a:off x="4608576" y="4956048"/>
            <a:ext cx="2926080" cy="256032"/>
          </a:xfrm>
          <a:prstGeom prst="rect">
            <a:avLst/>
          </a:prstGeom>
          <a:noFill/>
          <a:ln/>
        </p:spPr>
        <p:txBody>
          <a:bodyPr wrap="square" lIns="0" tIns="0" rIns="0" bIns="0" rtlCol="0" anchor="ctr"/>
          <a:lstStyle/>
          <a:p>
            <a:pPr marL="0" indent="0" algn="r">
              <a:buNone/>
            </a:pPr>
            <a:r>
              <a:rPr lang="en-US" sz="1000" b="1" kern="0" spc="200">
                <a:solidFill>
                  <a:schemeClr val="accent6"/>
                </a:solidFill>
                <a:latin typeface="+mj-lt"/>
              </a:rPr>
              <a:t>HOLD FOR LATER</a:t>
            </a:r>
            <a:endParaRPr lang="en-US" sz="1000">
              <a:latin typeface="+mj-lt"/>
            </a:endParaRPr>
          </a:p>
        </p:txBody>
      </p:sp>
      <p:sp>
        <p:nvSpPr>
          <p:cNvPr id="11" name="Text 9"/>
          <p:cNvSpPr txBox="1"/>
          <p:nvPr/>
        </p:nvSpPr>
        <p:spPr>
          <a:xfrm>
            <a:off x="914400" y="5349240"/>
            <a:ext cx="6766560" cy="256032"/>
          </a:xfrm>
          <a:prstGeom prst="rect">
            <a:avLst/>
          </a:prstGeom>
          <a:noFill/>
          <a:ln/>
        </p:spPr>
        <p:txBody>
          <a:bodyPr wrap="square" lIns="0" tIns="0" rIns="0" bIns="0" rtlCol="0" anchor="ctr"/>
          <a:lstStyle/>
          <a:p>
            <a:pPr algn="ctr"/>
            <a:r>
              <a:rPr lang="en-US" sz="1200" b="1">
                <a:solidFill>
                  <a:schemeClr val="accent6"/>
                </a:solidFill>
              </a:rPr>
              <a:t>Effort and Cost for Wake County  →</a:t>
            </a:r>
            <a:endParaRPr lang="en-US" sz="1200">
              <a:solidFill>
                <a:schemeClr val="accent6"/>
              </a:solidFill>
            </a:endParaRPr>
          </a:p>
        </p:txBody>
      </p:sp>
      <p:sp>
        <p:nvSpPr>
          <p:cNvPr id="12" name="Text 10"/>
          <p:cNvSpPr txBox="1"/>
          <p:nvPr/>
        </p:nvSpPr>
        <p:spPr>
          <a:xfrm rot="16200000">
            <a:off x="-1549908" y="3131820"/>
            <a:ext cx="4069080" cy="274320"/>
          </a:xfrm>
          <a:prstGeom prst="rect">
            <a:avLst/>
          </a:prstGeom>
          <a:noFill/>
          <a:ln/>
        </p:spPr>
        <p:txBody>
          <a:bodyPr wrap="square" lIns="0" tIns="0" rIns="0" bIns="0" rtlCol="0" anchor="ctr"/>
          <a:lstStyle/>
          <a:p>
            <a:pPr algn="ctr"/>
            <a:r>
              <a:rPr lang="en-US" sz="1200" b="1">
                <a:solidFill>
                  <a:schemeClr val="accent6"/>
                </a:solidFill>
              </a:rPr>
              <a:t>Reach Among Underrepresented Communities  →</a:t>
            </a:r>
            <a:endParaRPr lang="en-US" sz="1200">
              <a:solidFill>
                <a:schemeClr val="accent6"/>
              </a:solidFill>
            </a:endParaRPr>
          </a:p>
        </p:txBody>
      </p:sp>
      <p:sp>
        <p:nvSpPr>
          <p:cNvPr id="13" name="Shared standard bubble"/>
          <p:cNvSpPr/>
          <p:nvPr/>
        </p:nvSpPr>
        <p:spPr>
          <a:xfrm>
            <a:off x="1845259" y="2235708"/>
            <a:ext cx="438912" cy="438912"/>
          </a:xfrm>
          <a:prstGeom prst="ellipse">
            <a:avLst/>
          </a:prstGeom>
          <a:solidFill>
            <a:schemeClr val="accent4"/>
          </a:solidFill>
          <a:ln w="19050">
            <a:solidFill>
              <a:schemeClr val="bg1"/>
            </a:solidFill>
            <a:prstDash val="solid"/>
          </a:ln>
        </p:spPr>
        <p:txBody>
          <a:bodyPr/>
          <a:lstStyle/>
          <a:p>
            <a:endParaRPr lang="en-US"/>
          </a:p>
        </p:txBody>
      </p:sp>
      <p:sp>
        <p:nvSpPr>
          <p:cNvPr id="14" name="Text 12"/>
          <p:cNvSpPr txBox="1"/>
          <p:nvPr/>
        </p:nvSpPr>
        <p:spPr>
          <a:xfrm>
            <a:off x="1845259" y="2235708"/>
            <a:ext cx="438912" cy="438912"/>
          </a:xfrm>
          <a:prstGeom prst="rect">
            <a:avLst/>
          </a:prstGeom>
          <a:noFill/>
          <a:ln/>
        </p:spPr>
        <p:txBody>
          <a:bodyPr wrap="square" lIns="0" tIns="0" rIns="0" bIns="0" rtlCol="0" anchor="ctr"/>
          <a:lstStyle/>
          <a:p>
            <a:pPr marL="0" indent="0" algn="ctr">
              <a:buNone/>
            </a:pPr>
            <a:r>
              <a:rPr lang="en-US" sz="1500" b="1">
                <a:solidFill>
                  <a:schemeClr val="bg1"/>
                </a:solidFill>
                <a:latin typeface="Montserrat" pitchFamily="34" charset="0"/>
                <a:ea typeface="Montserrat" pitchFamily="34" charset="-122"/>
                <a:cs typeface="Montserrat" pitchFamily="34" charset="-120"/>
              </a:rPr>
              <a:t>1</a:t>
            </a:r>
            <a:endParaRPr lang="en-US" sz="1500"/>
          </a:p>
        </p:txBody>
      </p:sp>
      <p:sp>
        <p:nvSpPr>
          <p:cNvPr id="15" name="Text 13"/>
          <p:cNvSpPr txBox="1"/>
          <p:nvPr/>
        </p:nvSpPr>
        <p:spPr>
          <a:xfrm>
            <a:off x="2339035" y="2308860"/>
            <a:ext cx="2103120" cy="292608"/>
          </a:xfrm>
          <a:prstGeom prst="rect">
            <a:avLst/>
          </a:prstGeom>
          <a:noFill/>
          <a:ln/>
        </p:spPr>
        <p:txBody>
          <a:bodyPr wrap="square" lIns="0" tIns="0" rIns="0" bIns="0" rtlCol="0" anchor="ctr"/>
          <a:lstStyle/>
          <a:p>
            <a:pPr marL="0" indent="0">
              <a:buNone/>
            </a:pPr>
            <a:r>
              <a:rPr lang="en-US" sz="1200" b="1">
                <a:solidFill>
                  <a:schemeClr val="tx2"/>
                </a:solidFill>
              </a:rPr>
              <a:t>Shared standard</a:t>
            </a:r>
            <a:endParaRPr lang="en-US" sz="1200"/>
          </a:p>
        </p:txBody>
      </p:sp>
      <p:sp>
        <p:nvSpPr>
          <p:cNvPr id="16" name="Go to residents bubble"/>
          <p:cNvSpPr/>
          <p:nvPr/>
        </p:nvSpPr>
        <p:spPr>
          <a:xfrm>
            <a:off x="2724912" y="1706728"/>
            <a:ext cx="438912" cy="438912"/>
          </a:xfrm>
          <a:prstGeom prst="ellipse">
            <a:avLst/>
          </a:prstGeom>
          <a:solidFill>
            <a:schemeClr val="accent4"/>
          </a:solidFill>
          <a:ln w="19050">
            <a:solidFill>
              <a:schemeClr val="bg1"/>
            </a:solidFill>
            <a:prstDash val="solid"/>
          </a:ln>
        </p:spPr>
        <p:txBody>
          <a:bodyPr/>
          <a:lstStyle/>
          <a:p>
            <a:endParaRPr lang="en-US"/>
          </a:p>
        </p:txBody>
      </p:sp>
      <p:sp>
        <p:nvSpPr>
          <p:cNvPr id="17" name="Text 15"/>
          <p:cNvSpPr txBox="1"/>
          <p:nvPr/>
        </p:nvSpPr>
        <p:spPr>
          <a:xfrm>
            <a:off x="2724912" y="1706728"/>
            <a:ext cx="438912" cy="438912"/>
          </a:xfrm>
          <a:prstGeom prst="rect">
            <a:avLst/>
          </a:prstGeom>
          <a:noFill/>
          <a:ln/>
        </p:spPr>
        <p:txBody>
          <a:bodyPr wrap="square" lIns="0" tIns="0" rIns="0" bIns="0" rtlCol="0" anchor="ctr"/>
          <a:lstStyle/>
          <a:p>
            <a:pPr marL="0" indent="0" algn="ctr">
              <a:buNone/>
            </a:pPr>
            <a:r>
              <a:rPr lang="en-US" sz="1500" b="1">
                <a:solidFill>
                  <a:schemeClr val="bg1"/>
                </a:solidFill>
                <a:latin typeface="Montserrat" pitchFamily="34" charset="0"/>
                <a:ea typeface="Montserrat" pitchFamily="34" charset="-122"/>
                <a:cs typeface="Montserrat" pitchFamily="34" charset="-120"/>
              </a:rPr>
              <a:t>2</a:t>
            </a:r>
            <a:endParaRPr lang="en-US" sz="1500"/>
          </a:p>
        </p:txBody>
      </p:sp>
      <p:sp>
        <p:nvSpPr>
          <p:cNvPr id="18" name="Text 16"/>
          <p:cNvSpPr txBox="1"/>
          <p:nvPr/>
        </p:nvSpPr>
        <p:spPr>
          <a:xfrm>
            <a:off x="3218688" y="1779880"/>
            <a:ext cx="2103120" cy="292608"/>
          </a:xfrm>
          <a:prstGeom prst="rect">
            <a:avLst/>
          </a:prstGeom>
          <a:noFill/>
          <a:ln/>
        </p:spPr>
        <p:txBody>
          <a:bodyPr wrap="square" lIns="0" tIns="0" rIns="0" bIns="0" rtlCol="0" anchor="ctr"/>
          <a:lstStyle/>
          <a:p>
            <a:pPr marL="0" indent="0">
              <a:buNone/>
            </a:pPr>
            <a:r>
              <a:rPr lang="en-US" sz="1200" b="1">
                <a:solidFill>
                  <a:schemeClr val="tx2"/>
                </a:solidFill>
              </a:rPr>
              <a:t>Go to residents</a:t>
            </a:r>
            <a:endParaRPr lang="en-US" sz="1200"/>
          </a:p>
        </p:txBody>
      </p:sp>
      <p:sp>
        <p:nvSpPr>
          <p:cNvPr id="19" name="Trusted messengers bubble"/>
          <p:cNvSpPr/>
          <p:nvPr/>
        </p:nvSpPr>
        <p:spPr>
          <a:xfrm>
            <a:off x="4890211" y="1666037"/>
            <a:ext cx="438912" cy="438912"/>
          </a:xfrm>
          <a:prstGeom prst="ellipse">
            <a:avLst/>
          </a:prstGeom>
          <a:solidFill>
            <a:schemeClr val="accent2"/>
          </a:solidFill>
          <a:ln w="19050">
            <a:solidFill>
              <a:schemeClr val="bg1"/>
            </a:solidFill>
            <a:prstDash val="solid"/>
          </a:ln>
        </p:spPr>
        <p:txBody>
          <a:bodyPr/>
          <a:lstStyle/>
          <a:p>
            <a:endParaRPr lang="en-US"/>
          </a:p>
        </p:txBody>
      </p:sp>
      <p:sp>
        <p:nvSpPr>
          <p:cNvPr id="20" name="Text 18"/>
          <p:cNvSpPr txBox="1"/>
          <p:nvPr/>
        </p:nvSpPr>
        <p:spPr>
          <a:xfrm>
            <a:off x="4890211" y="1666037"/>
            <a:ext cx="438912" cy="438912"/>
          </a:xfrm>
          <a:prstGeom prst="rect">
            <a:avLst/>
          </a:prstGeom>
          <a:noFill/>
          <a:ln/>
        </p:spPr>
        <p:txBody>
          <a:bodyPr wrap="square" lIns="0" tIns="0" rIns="0" bIns="0" rtlCol="0" anchor="ctr"/>
          <a:lstStyle/>
          <a:p>
            <a:pPr marL="0" indent="0" algn="ctr">
              <a:buNone/>
            </a:pPr>
            <a:r>
              <a:rPr lang="en-US" sz="1500" b="1">
                <a:solidFill>
                  <a:schemeClr val="bg1"/>
                </a:solidFill>
                <a:latin typeface="Montserrat" pitchFamily="34" charset="0"/>
                <a:ea typeface="Montserrat" pitchFamily="34" charset="-122"/>
                <a:cs typeface="Montserrat" pitchFamily="34" charset="-120"/>
              </a:rPr>
              <a:t>3</a:t>
            </a:r>
            <a:endParaRPr lang="en-US" sz="1500"/>
          </a:p>
        </p:txBody>
      </p:sp>
      <p:sp>
        <p:nvSpPr>
          <p:cNvPr id="21" name="Text 19"/>
          <p:cNvSpPr txBox="1"/>
          <p:nvPr/>
        </p:nvSpPr>
        <p:spPr>
          <a:xfrm>
            <a:off x="5383987" y="1739189"/>
            <a:ext cx="2103120" cy="292608"/>
          </a:xfrm>
          <a:prstGeom prst="rect">
            <a:avLst/>
          </a:prstGeom>
          <a:noFill/>
          <a:ln/>
        </p:spPr>
        <p:txBody>
          <a:bodyPr wrap="square" lIns="0" tIns="0" rIns="0" bIns="0" rtlCol="0" anchor="ctr"/>
          <a:lstStyle/>
          <a:p>
            <a:pPr marL="0" indent="0">
              <a:buNone/>
            </a:pPr>
            <a:r>
              <a:rPr lang="en-US" sz="1200" b="1">
                <a:solidFill>
                  <a:schemeClr val="tx2"/>
                </a:solidFill>
              </a:rPr>
              <a:t>Trusted messengers</a:t>
            </a:r>
            <a:endParaRPr lang="en-US" sz="1200"/>
          </a:p>
        </p:txBody>
      </p:sp>
      <p:sp>
        <p:nvSpPr>
          <p:cNvPr id="22" name="Central language access bubble"/>
          <p:cNvSpPr/>
          <p:nvPr/>
        </p:nvSpPr>
        <p:spPr>
          <a:xfrm>
            <a:off x="4484218" y="2479853"/>
            <a:ext cx="438912" cy="438912"/>
          </a:xfrm>
          <a:prstGeom prst="ellipse">
            <a:avLst/>
          </a:prstGeom>
          <a:solidFill>
            <a:schemeClr val="accent2"/>
          </a:solidFill>
          <a:ln w="19050">
            <a:solidFill>
              <a:schemeClr val="bg1"/>
            </a:solidFill>
            <a:prstDash val="solid"/>
          </a:ln>
        </p:spPr>
        <p:txBody>
          <a:bodyPr/>
          <a:lstStyle/>
          <a:p>
            <a:endParaRPr lang="en-US"/>
          </a:p>
        </p:txBody>
      </p:sp>
      <p:sp>
        <p:nvSpPr>
          <p:cNvPr id="23" name="Text 21"/>
          <p:cNvSpPr txBox="1"/>
          <p:nvPr/>
        </p:nvSpPr>
        <p:spPr>
          <a:xfrm>
            <a:off x="4484218" y="2479853"/>
            <a:ext cx="438912" cy="438912"/>
          </a:xfrm>
          <a:prstGeom prst="rect">
            <a:avLst/>
          </a:prstGeom>
          <a:noFill/>
          <a:ln/>
        </p:spPr>
        <p:txBody>
          <a:bodyPr wrap="square" lIns="0" tIns="0" rIns="0" bIns="0" rtlCol="0" anchor="ctr"/>
          <a:lstStyle/>
          <a:p>
            <a:pPr marL="0" indent="0" algn="ctr">
              <a:buNone/>
            </a:pPr>
            <a:r>
              <a:rPr lang="en-US" sz="1500" b="1">
                <a:solidFill>
                  <a:schemeClr val="bg1"/>
                </a:solidFill>
                <a:latin typeface="Montserrat" pitchFamily="34" charset="0"/>
                <a:ea typeface="Montserrat" pitchFamily="34" charset="-122"/>
                <a:cs typeface="Montserrat" pitchFamily="34" charset="-120"/>
              </a:rPr>
              <a:t>4</a:t>
            </a:r>
            <a:endParaRPr lang="en-US" sz="1500"/>
          </a:p>
        </p:txBody>
      </p:sp>
      <p:sp>
        <p:nvSpPr>
          <p:cNvPr id="24" name="Text 22"/>
          <p:cNvSpPr txBox="1"/>
          <p:nvPr/>
        </p:nvSpPr>
        <p:spPr>
          <a:xfrm>
            <a:off x="4977994" y="2553005"/>
            <a:ext cx="2103120" cy="292608"/>
          </a:xfrm>
          <a:prstGeom prst="rect">
            <a:avLst/>
          </a:prstGeom>
          <a:noFill/>
          <a:ln/>
        </p:spPr>
        <p:txBody>
          <a:bodyPr wrap="square" lIns="0" tIns="0" rIns="0" bIns="0" rtlCol="0" anchor="ctr"/>
          <a:lstStyle/>
          <a:p>
            <a:pPr marL="0" indent="0">
              <a:buNone/>
            </a:pPr>
            <a:r>
              <a:rPr lang="en-US" sz="1200" b="1">
                <a:solidFill>
                  <a:schemeClr val="tx2"/>
                </a:solidFill>
              </a:rPr>
              <a:t>Central language access</a:t>
            </a:r>
            <a:endParaRPr lang="en-US" sz="1200"/>
          </a:p>
        </p:txBody>
      </p:sp>
      <p:sp>
        <p:nvSpPr>
          <p:cNvPr id="25" name="One front door bubble"/>
          <p:cNvSpPr/>
          <p:nvPr/>
        </p:nvSpPr>
        <p:spPr>
          <a:xfrm>
            <a:off x="5566867" y="3375050"/>
            <a:ext cx="438912" cy="438912"/>
          </a:xfrm>
          <a:prstGeom prst="ellipse">
            <a:avLst/>
          </a:prstGeom>
          <a:solidFill>
            <a:schemeClr val="accent2"/>
          </a:solidFill>
          <a:ln w="19050">
            <a:solidFill>
              <a:schemeClr val="bg1"/>
            </a:solidFill>
            <a:prstDash val="solid"/>
          </a:ln>
        </p:spPr>
        <p:txBody>
          <a:bodyPr/>
          <a:lstStyle/>
          <a:p>
            <a:endParaRPr lang="en-US"/>
          </a:p>
        </p:txBody>
      </p:sp>
      <p:sp>
        <p:nvSpPr>
          <p:cNvPr id="26" name="Text 24"/>
          <p:cNvSpPr txBox="1"/>
          <p:nvPr/>
        </p:nvSpPr>
        <p:spPr>
          <a:xfrm>
            <a:off x="5566867" y="3375050"/>
            <a:ext cx="438912" cy="438912"/>
          </a:xfrm>
          <a:prstGeom prst="rect">
            <a:avLst/>
          </a:prstGeom>
          <a:noFill/>
          <a:ln/>
        </p:spPr>
        <p:txBody>
          <a:bodyPr wrap="square" lIns="0" tIns="0" rIns="0" bIns="0" rtlCol="0" anchor="ctr"/>
          <a:lstStyle/>
          <a:p>
            <a:pPr marL="0" indent="0" algn="ctr">
              <a:buNone/>
            </a:pPr>
            <a:r>
              <a:rPr lang="en-US" sz="1500" b="1">
                <a:solidFill>
                  <a:schemeClr val="bg1"/>
                </a:solidFill>
                <a:latin typeface="Montserrat" pitchFamily="34" charset="0"/>
                <a:ea typeface="Montserrat" pitchFamily="34" charset="-122"/>
                <a:cs typeface="Montserrat" pitchFamily="34" charset="-120"/>
              </a:rPr>
              <a:t>5</a:t>
            </a:r>
            <a:endParaRPr lang="en-US" sz="1500"/>
          </a:p>
        </p:txBody>
      </p:sp>
      <p:sp>
        <p:nvSpPr>
          <p:cNvPr id="27" name="Text 25"/>
          <p:cNvSpPr txBox="1"/>
          <p:nvPr/>
        </p:nvSpPr>
        <p:spPr>
          <a:xfrm>
            <a:off x="6060643" y="3448202"/>
            <a:ext cx="2103120" cy="292608"/>
          </a:xfrm>
          <a:prstGeom prst="rect">
            <a:avLst/>
          </a:prstGeom>
          <a:noFill/>
          <a:ln/>
        </p:spPr>
        <p:txBody>
          <a:bodyPr wrap="square" lIns="0" tIns="0" rIns="0" bIns="0" rtlCol="0" anchor="ctr"/>
          <a:lstStyle/>
          <a:p>
            <a:pPr marL="0" indent="0">
              <a:buNone/>
            </a:pPr>
            <a:r>
              <a:rPr lang="en-US" sz="1200" b="1">
                <a:solidFill>
                  <a:schemeClr val="tx2"/>
                </a:solidFill>
              </a:rPr>
              <a:t>One front door</a:t>
            </a:r>
            <a:endParaRPr lang="en-US" sz="1200"/>
          </a:p>
        </p:txBody>
      </p:sp>
      <p:sp>
        <p:nvSpPr>
          <p:cNvPr id="28" name="Close the loop bubble"/>
          <p:cNvSpPr/>
          <p:nvPr/>
        </p:nvSpPr>
        <p:spPr>
          <a:xfrm>
            <a:off x="2318918" y="3456432"/>
            <a:ext cx="438912" cy="438912"/>
          </a:xfrm>
          <a:prstGeom prst="ellipse">
            <a:avLst/>
          </a:prstGeom>
          <a:solidFill>
            <a:schemeClr val="accent4"/>
          </a:solidFill>
          <a:ln w="19050">
            <a:solidFill>
              <a:schemeClr val="bg1"/>
            </a:solidFill>
            <a:prstDash val="solid"/>
          </a:ln>
        </p:spPr>
        <p:txBody>
          <a:bodyPr/>
          <a:lstStyle/>
          <a:p>
            <a:endParaRPr lang="en-US"/>
          </a:p>
        </p:txBody>
      </p:sp>
      <p:sp>
        <p:nvSpPr>
          <p:cNvPr id="29" name="Text 27"/>
          <p:cNvSpPr txBox="1"/>
          <p:nvPr/>
        </p:nvSpPr>
        <p:spPr>
          <a:xfrm>
            <a:off x="2318918" y="3456432"/>
            <a:ext cx="438912" cy="438912"/>
          </a:xfrm>
          <a:prstGeom prst="rect">
            <a:avLst/>
          </a:prstGeom>
          <a:noFill/>
          <a:ln/>
        </p:spPr>
        <p:txBody>
          <a:bodyPr wrap="square" lIns="0" tIns="0" rIns="0" bIns="0" rtlCol="0" anchor="ctr"/>
          <a:lstStyle/>
          <a:p>
            <a:pPr marL="0" indent="0" algn="ctr">
              <a:buNone/>
            </a:pPr>
            <a:r>
              <a:rPr lang="en-US" sz="1500" b="1">
                <a:solidFill>
                  <a:schemeClr val="bg1"/>
                </a:solidFill>
                <a:latin typeface="Montserrat" pitchFamily="34" charset="0"/>
                <a:ea typeface="Montserrat" pitchFamily="34" charset="-122"/>
                <a:cs typeface="Montserrat" pitchFamily="34" charset="-120"/>
              </a:rPr>
              <a:t>6</a:t>
            </a:r>
            <a:endParaRPr lang="en-US" sz="1500"/>
          </a:p>
        </p:txBody>
      </p:sp>
      <p:sp>
        <p:nvSpPr>
          <p:cNvPr id="30" name="Text 28"/>
          <p:cNvSpPr txBox="1"/>
          <p:nvPr/>
        </p:nvSpPr>
        <p:spPr>
          <a:xfrm>
            <a:off x="2812694" y="3529584"/>
            <a:ext cx="2103120" cy="292608"/>
          </a:xfrm>
          <a:prstGeom prst="rect">
            <a:avLst/>
          </a:prstGeom>
          <a:noFill/>
          <a:ln/>
        </p:spPr>
        <p:txBody>
          <a:bodyPr wrap="square" lIns="0" tIns="0" rIns="0" bIns="0" rtlCol="0" anchor="ctr"/>
          <a:lstStyle/>
          <a:p>
            <a:pPr marL="0" indent="0">
              <a:buNone/>
            </a:pPr>
            <a:r>
              <a:rPr lang="en-US" sz="1200" b="1">
                <a:solidFill>
                  <a:schemeClr val="tx2"/>
                </a:solidFill>
              </a:rPr>
              <a:t>Close the loop</a:t>
            </a:r>
            <a:endParaRPr lang="en-US" sz="1200"/>
          </a:p>
        </p:txBody>
      </p:sp>
      <p:sp>
        <p:nvSpPr>
          <p:cNvPr id="31" name="Text 29"/>
          <p:cNvSpPr txBox="1"/>
          <p:nvPr/>
        </p:nvSpPr>
        <p:spPr>
          <a:xfrm>
            <a:off x="8092440" y="1234440"/>
            <a:ext cx="3749040" cy="292608"/>
          </a:xfrm>
          <a:prstGeom prst="rect">
            <a:avLst/>
          </a:prstGeom>
          <a:noFill/>
          <a:ln/>
        </p:spPr>
        <p:txBody>
          <a:bodyPr wrap="square" lIns="0" tIns="0" rIns="0" bIns="0" rtlCol="0" anchor="ctr"/>
          <a:lstStyle/>
          <a:p>
            <a:r>
              <a:rPr lang="en-US" sz="1400" b="1">
                <a:solidFill>
                  <a:schemeClr val="accent2"/>
                </a:solidFill>
                <a:ea typeface="+mn-lt"/>
                <a:cs typeface="+mn-lt"/>
              </a:rPr>
              <a:t>How We Evaluated Each Practice</a:t>
            </a:r>
            <a:endParaRPr lang="en-US" b="1">
              <a:solidFill>
                <a:schemeClr val="accent2"/>
              </a:solidFill>
              <a:ea typeface="Calibri"/>
              <a:cs typeface="Calibri"/>
            </a:endParaRPr>
          </a:p>
        </p:txBody>
      </p:sp>
      <p:sp>
        <p:nvSpPr>
          <p:cNvPr id="32" name="Text 30"/>
          <p:cNvSpPr txBox="1"/>
          <p:nvPr/>
        </p:nvSpPr>
        <p:spPr>
          <a:xfrm>
            <a:off x="8092440" y="1600200"/>
            <a:ext cx="3703320" cy="3291840"/>
          </a:xfrm>
          <a:prstGeom prst="rect">
            <a:avLst/>
          </a:prstGeom>
          <a:noFill/>
          <a:ln/>
        </p:spPr>
        <p:txBody>
          <a:bodyPr wrap="square" lIns="0" tIns="0" rIns="0" bIns="0" rtlCol="0" anchor="t"/>
          <a:lstStyle/>
          <a:p>
            <a:pPr marL="0" indent="0">
              <a:buNone/>
            </a:pPr>
            <a:r>
              <a:rPr lang="en-US" sz="1300" b="1">
                <a:solidFill>
                  <a:schemeClr val="tx2"/>
                </a:solidFill>
              </a:rPr>
              <a:t>Effort and Cost</a:t>
            </a:r>
            <a:endParaRPr lang="en-US" sz="1300"/>
          </a:p>
          <a:p>
            <a:pPr marL="0" indent="0">
              <a:buNone/>
            </a:pPr>
            <a:r>
              <a:rPr lang="en-US" sz="1300">
                <a:solidFill>
                  <a:schemeClr val="tx1"/>
                </a:solidFill>
              </a:rPr>
              <a:t>New staff, new spending, procurement, and how many departments must change.</a:t>
            </a:r>
            <a:endParaRPr lang="en-US" sz="1300"/>
          </a:p>
          <a:p>
            <a:endParaRPr lang="en-US" sz="1300"/>
          </a:p>
          <a:p>
            <a:pPr marL="0" indent="0">
              <a:buNone/>
            </a:pPr>
            <a:r>
              <a:rPr lang="en-US" sz="600">
                <a:solidFill>
                  <a:schemeClr val="tx1"/>
                </a:solidFill>
              </a:rPr>
              <a:t> </a:t>
            </a:r>
            <a:endParaRPr lang="en-US" sz="1300"/>
          </a:p>
          <a:p>
            <a:pPr marL="0" indent="0">
              <a:buNone/>
            </a:pPr>
            <a:r>
              <a:rPr lang="en-US" sz="1300" b="1">
                <a:solidFill>
                  <a:schemeClr val="tx2"/>
                </a:solidFill>
              </a:rPr>
              <a:t>Reach</a:t>
            </a:r>
            <a:endParaRPr lang="en-US" sz="1300"/>
          </a:p>
          <a:p>
            <a:pPr marL="0" indent="0">
              <a:buNone/>
            </a:pPr>
            <a:r>
              <a:rPr lang="en-US" sz="1300">
                <a:solidFill>
                  <a:schemeClr val="tx1"/>
                </a:solidFill>
              </a:rPr>
              <a:t>Evidence from peers that the practice brings in residents who rarely take part, and how directly it answers an Objective 1 barrier.</a:t>
            </a:r>
            <a:endParaRPr lang="en-US" sz="1300"/>
          </a:p>
          <a:p>
            <a:endParaRPr lang="en-US" sz="1300"/>
          </a:p>
          <a:p>
            <a:pPr marL="0" indent="0">
              <a:buNone/>
            </a:pPr>
            <a:r>
              <a:rPr lang="en-US" sz="600">
                <a:solidFill>
                  <a:schemeClr val="tx1"/>
                </a:solidFill>
              </a:rPr>
              <a:t> </a:t>
            </a:r>
            <a:endParaRPr lang="en-US" sz="1300"/>
          </a:p>
          <a:p>
            <a:r>
              <a:rPr lang="en-US" sz="1300" b="1">
                <a:solidFill>
                  <a:schemeClr val="tx2"/>
                </a:solidFill>
              </a:rPr>
              <a:t>Wake County's Head Start</a:t>
            </a:r>
            <a:endParaRPr lang="en-US" sz="1300">
              <a:solidFill>
                <a:schemeClr val="tx2"/>
              </a:solidFill>
            </a:endParaRPr>
          </a:p>
          <a:p>
            <a:pPr marL="0" indent="0">
              <a:buNone/>
            </a:pPr>
            <a:r>
              <a:rPr lang="en-US" sz="1300">
                <a:solidFill>
                  <a:schemeClr val="tx1"/>
                </a:solidFill>
              </a:rPr>
              <a:t>Practices 1, 2, 4, and 6 extend existing assets: IAP2 work, mobile units, language services, and Strategic Plan Goal 4.</a:t>
            </a:r>
            <a:endParaRPr lang="en-US" sz="1300"/>
          </a:p>
        </p:txBody>
      </p:sp>
      <p:sp>
        <p:nvSpPr>
          <p:cNvPr id="33" name="Text 31"/>
          <p:cNvSpPr txBox="1"/>
          <p:nvPr/>
        </p:nvSpPr>
        <p:spPr>
          <a:xfrm>
            <a:off x="8127076" y="4927185"/>
            <a:ext cx="4095865" cy="526472"/>
          </a:xfrm>
          <a:prstGeom prst="rect">
            <a:avLst/>
          </a:prstGeom>
          <a:noFill/>
          <a:ln/>
        </p:spPr>
        <p:txBody>
          <a:bodyPr wrap="square" lIns="0" tIns="0" rIns="0" bIns="0" rtlCol="0" anchor="t"/>
          <a:lstStyle/>
          <a:p>
            <a:pPr marL="0" indent="0">
              <a:buNone/>
            </a:pPr>
            <a:r>
              <a:rPr lang="en-US" sz="1100" i="1">
                <a:solidFill>
                  <a:schemeClr val="accent6"/>
                </a:solidFill>
              </a:rPr>
              <a:t>Placement is a team assessment and will be tested with OOE and department leads.</a:t>
            </a:r>
            <a:endParaRPr lang="en-US" sz="1100">
              <a:solidFill>
                <a:schemeClr val="accent6"/>
              </a:solidFill>
            </a:endParaRPr>
          </a:p>
        </p:txBody>
      </p:sp>
      <p:sp>
        <p:nvSpPr>
          <p:cNvPr id="34"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Team assessment drawing on peer county and best practice research in this deck. </a:t>
            </a:r>
            <a:r>
              <a:rPr lang="en-US" sz="1000" u="sng">
                <a:solidFill>
                  <a:schemeClr val="accent2"/>
                </a:solidFill>
                <a:hlinkClick r:id="rId3"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3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13</a:t>
            </a:fld>
            <a:endParaRPr lang="en-US"/>
          </a:p>
        </p:txBody>
      </p:sp>
      <p:pic>
        <p:nvPicPr>
          <p:cNvPr id="36" name="Picture 35">
            <a:extLst>
              <a:ext uri="{FF2B5EF4-FFF2-40B4-BE49-F238E27FC236}">
                <a16:creationId xmlns:a16="http://schemas.microsoft.com/office/drawing/2014/main" id="{4AF84D13-7BDD-9995-AA84-4240A2071604}"/>
              </a:ext>
            </a:extLst>
          </p:cNvPr>
          <p:cNvPicPr>
            <a:picLocks noChangeAspect="1"/>
          </p:cNvPicPr>
          <p:nvPr/>
        </p:nvPicPr>
        <p:blipFill>
          <a:blip r:embed="rId4"/>
          <a:stretch>
            <a:fillRect/>
          </a:stretch>
        </p:blipFill>
        <p:spPr>
          <a:xfrm>
            <a:off x="10702633" y="48335"/>
            <a:ext cx="1176475" cy="920929"/>
          </a:xfrm>
          <a:prstGeom prst="rect">
            <a:avLst/>
          </a:prstGeom>
        </p:spPr>
      </p:pic>
      <p:pic>
        <p:nvPicPr>
          <p:cNvPr id="37" name="Picture 36">
            <a:extLst>
              <a:ext uri="{FF2B5EF4-FFF2-40B4-BE49-F238E27FC236}">
                <a16:creationId xmlns:a16="http://schemas.microsoft.com/office/drawing/2014/main" id="{D9DD5E1C-B70C-687D-98C8-093470610308}"/>
              </a:ext>
            </a:extLst>
          </p:cNvPr>
          <p:cNvPicPr>
            <a:picLocks noChangeAspect="1"/>
          </p:cNvPicPr>
          <p:nvPr/>
        </p:nvPicPr>
        <p:blipFill>
          <a:blip r:embed="rId5"/>
          <a:stretch>
            <a:fillRect/>
          </a:stretch>
        </p:blipFill>
        <p:spPr>
          <a:xfrm>
            <a:off x="1261872" y="6149993"/>
            <a:ext cx="534000" cy="6193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pPr marL="0" indent="0" algn="l">
              <a:buNone/>
            </a:pPr>
            <a:r>
              <a:rPr lang="en-US" sz="2400" b="1">
                <a:solidFill>
                  <a:schemeClr val="tx1"/>
                </a:solidFill>
                <a:latin typeface="Montserrat" pitchFamily="34" charset="0"/>
                <a:ea typeface="Montserrat" pitchFamily="34" charset="-122"/>
                <a:cs typeface="Montserrat" pitchFamily="34" charset="-120"/>
              </a:rPr>
              <a:t>A Phased Path From Standards to Infrastructure</a:t>
            </a:r>
            <a:endParaRPr lang="en-US" sz="2400"/>
          </a:p>
        </p:txBody>
      </p:sp>
      <p:sp>
        <p:nvSpPr>
          <p:cNvPr id="3" name="Text 1"/>
          <p:cNvSpPr/>
          <p:nvPr/>
        </p:nvSpPr>
        <p:spPr>
          <a:xfrm>
            <a:off x="365760" y="1234440"/>
            <a:ext cx="2834640" cy="502920"/>
          </a:xfrm>
          <a:prstGeom prst="homePlate">
            <a:avLst/>
          </a:prstGeom>
          <a:solidFill>
            <a:schemeClr val="accent3"/>
          </a:solidFill>
          <a:ln/>
        </p:spPr>
        <p:txBody>
          <a:bodyPr wrap="square" lIns="0" tIns="0" rIns="0" bIns="0" rtlCol="0" anchor="ctr"/>
          <a:lstStyle/>
          <a:p>
            <a:pPr marL="0" indent="0" algn="ctr">
              <a:buNone/>
            </a:pPr>
            <a:r>
              <a:rPr lang="en-US" sz="1400" b="1">
                <a:solidFill>
                  <a:schemeClr val="tx2"/>
                </a:solidFill>
              </a:rPr>
              <a:t>0 to 6 months</a:t>
            </a:r>
            <a:endParaRPr lang="en-US" sz="1400"/>
          </a:p>
        </p:txBody>
      </p:sp>
      <p:sp>
        <p:nvSpPr>
          <p:cNvPr id="4" name="Text 2"/>
          <p:cNvSpPr txBox="1"/>
          <p:nvPr/>
        </p:nvSpPr>
        <p:spPr>
          <a:xfrm>
            <a:off x="457200" y="1874520"/>
            <a:ext cx="2514600" cy="365760"/>
          </a:xfrm>
          <a:prstGeom prst="rect">
            <a:avLst/>
          </a:prstGeom>
          <a:noFill/>
          <a:ln/>
        </p:spPr>
        <p:txBody>
          <a:bodyPr wrap="square" lIns="0" tIns="0" rIns="0" bIns="0" rtlCol="0" anchor="ctr"/>
          <a:lstStyle/>
          <a:p>
            <a:pPr marL="0" indent="0">
              <a:buNone/>
            </a:pPr>
            <a:r>
              <a:rPr lang="en-US" sz="1500" b="1">
                <a:solidFill>
                  <a:schemeClr val="tx2"/>
                </a:solidFill>
                <a:latin typeface="Montserrat" pitchFamily="34" charset="0"/>
                <a:ea typeface="Montserrat" pitchFamily="34" charset="-122"/>
                <a:cs typeface="Montserrat" pitchFamily="34" charset="-120"/>
              </a:rPr>
              <a:t>Set the foundation</a:t>
            </a:r>
            <a:endParaRPr lang="en-US" sz="1500"/>
          </a:p>
        </p:txBody>
      </p:sp>
      <p:sp>
        <p:nvSpPr>
          <p:cNvPr id="5" name="Text 3"/>
          <p:cNvSpPr txBox="1"/>
          <p:nvPr/>
        </p:nvSpPr>
        <p:spPr>
          <a:xfrm>
            <a:off x="457200" y="2286000"/>
            <a:ext cx="2514600" cy="2651760"/>
          </a:xfrm>
          <a:prstGeom prst="rect">
            <a:avLst/>
          </a:prstGeom>
          <a:noFill/>
          <a:ln/>
        </p:spPr>
        <p:txBody>
          <a:bodyPr wrap="square" lIns="0" tIns="0" rIns="0" bIns="0" rtlCol="0" anchor="t"/>
          <a:lstStyle/>
          <a:p>
            <a:pPr marL="342900" indent="-342900">
              <a:spcAft>
                <a:spcPts val="800"/>
              </a:spcAft>
              <a:buSzPct val="100000"/>
              <a:buChar char="•"/>
            </a:pPr>
            <a:r>
              <a:rPr lang="en-US" sz="1300"/>
              <a:t>Adopt a shared engagement definition and minimum standards/categories </a:t>
            </a:r>
          </a:p>
          <a:p>
            <a:pPr marL="342900" indent="-342900">
              <a:spcAft>
                <a:spcPts val="800"/>
              </a:spcAft>
              <a:buSzPct val="100000"/>
              <a:buChar char="•"/>
            </a:pPr>
            <a:r>
              <a:rPr lang="en-US" sz="1300">
                <a:solidFill>
                  <a:schemeClr val="tx1"/>
                </a:solidFill>
              </a:rPr>
              <a:t>Publish a "what we heard, what we did" summary after each process</a:t>
            </a:r>
            <a:endParaRPr lang="en-US" sz="1300"/>
          </a:p>
        </p:txBody>
      </p:sp>
      <p:sp>
        <p:nvSpPr>
          <p:cNvPr id="6" name="Text 4"/>
          <p:cNvSpPr/>
          <p:nvPr/>
        </p:nvSpPr>
        <p:spPr>
          <a:xfrm>
            <a:off x="3108960" y="1234440"/>
            <a:ext cx="2834640" cy="502920"/>
          </a:xfrm>
          <a:prstGeom prst="chevron">
            <a:avLst/>
          </a:prstGeom>
          <a:solidFill>
            <a:schemeClr val="accent2"/>
          </a:solidFill>
          <a:ln/>
        </p:spPr>
        <p:txBody>
          <a:bodyPr wrap="square" lIns="0" tIns="0" rIns="0" bIns="0" rtlCol="0" anchor="ctr"/>
          <a:lstStyle/>
          <a:p>
            <a:pPr marL="0" indent="0" algn="ctr">
              <a:buNone/>
            </a:pPr>
            <a:r>
              <a:rPr lang="en-US" sz="1400" b="1">
                <a:solidFill>
                  <a:schemeClr val="bg1"/>
                </a:solidFill>
              </a:rPr>
              <a:t>6 to 18 months</a:t>
            </a:r>
            <a:endParaRPr lang="en-US" sz="1400"/>
          </a:p>
        </p:txBody>
      </p:sp>
      <p:sp>
        <p:nvSpPr>
          <p:cNvPr id="7" name="Text 5"/>
          <p:cNvSpPr txBox="1"/>
          <p:nvPr/>
        </p:nvSpPr>
        <p:spPr>
          <a:xfrm>
            <a:off x="3200400" y="1874520"/>
            <a:ext cx="2514600" cy="365760"/>
          </a:xfrm>
          <a:prstGeom prst="rect">
            <a:avLst/>
          </a:prstGeom>
          <a:noFill/>
          <a:ln/>
        </p:spPr>
        <p:txBody>
          <a:bodyPr wrap="square" lIns="0" tIns="0" rIns="0" bIns="0" rtlCol="0" anchor="ctr"/>
          <a:lstStyle/>
          <a:p>
            <a:pPr marL="0" indent="0">
              <a:buNone/>
            </a:pPr>
            <a:r>
              <a:rPr lang="en-US" sz="1500" b="1">
                <a:solidFill>
                  <a:schemeClr val="tx2"/>
                </a:solidFill>
                <a:latin typeface="Montserrat" pitchFamily="34" charset="0"/>
                <a:ea typeface="Montserrat" pitchFamily="34" charset="-122"/>
                <a:cs typeface="Montserrat" pitchFamily="34" charset="-120"/>
              </a:rPr>
              <a:t>Extend reach</a:t>
            </a:r>
            <a:endParaRPr lang="en-US" sz="1500"/>
          </a:p>
        </p:txBody>
      </p:sp>
      <p:sp>
        <p:nvSpPr>
          <p:cNvPr id="8" name="Text 6"/>
          <p:cNvSpPr txBox="1"/>
          <p:nvPr/>
        </p:nvSpPr>
        <p:spPr>
          <a:xfrm>
            <a:off x="3200400" y="2286000"/>
            <a:ext cx="2514600" cy="2651760"/>
          </a:xfrm>
          <a:prstGeom prst="rect">
            <a:avLst/>
          </a:prstGeom>
          <a:noFill/>
          <a:ln/>
        </p:spPr>
        <p:txBody>
          <a:bodyPr wrap="square" lIns="0" tIns="0" rIns="0" bIns="0" rtlCol="0" anchor="t"/>
          <a:lstStyle/>
          <a:p>
            <a:pPr marL="342900" indent="-342900">
              <a:spcAft>
                <a:spcPts val="800"/>
              </a:spcAft>
              <a:buSzPct val="100000"/>
              <a:buChar char="•"/>
            </a:pPr>
            <a:r>
              <a:rPr lang="en-US" sz="1300">
                <a:solidFill>
                  <a:schemeClr val="tx1"/>
                </a:solidFill>
              </a:rPr>
              <a:t>Coordinate mobile outreach across departments</a:t>
            </a:r>
            <a:endParaRPr lang="en-US" sz="1300"/>
          </a:p>
          <a:p>
            <a:pPr marL="342900" indent="-342900">
              <a:spcAft>
                <a:spcPts val="800"/>
              </a:spcAft>
              <a:buSzPct val="100000"/>
              <a:buChar char="•"/>
            </a:pPr>
            <a:r>
              <a:rPr lang="en-US" sz="1300"/>
              <a:t>Pilot Community Connectors in two or three communities and regional offices</a:t>
            </a:r>
            <a:endParaRPr lang="en-US" sz="1300">
              <a:ea typeface="Calibri"/>
              <a:cs typeface="Calibri"/>
            </a:endParaRPr>
          </a:p>
          <a:p>
            <a:pPr marL="342900" indent="-342900">
              <a:spcAft>
                <a:spcPts val="800"/>
              </a:spcAft>
              <a:buSzPct val="100000"/>
              <a:buChar char="•"/>
            </a:pPr>
            <a:r>
              <a:rPr lang="en-US" sz="1300"/>
              <a:t>Route language requests through one hub (i.e. through the implementation of in-house translation resources) </a:t>
            </a:r>
            <a:endParaRPr lang="en-US" sz="1300">
              <a:ea typeface="Calibri"/>
              <a:cs typeface="Calibri"/>
            </a:endParaRPr>
          </a:p>
        </p:txBody>
      </p:sp>
      <p:sp>
        <p:nvSpPr>
          <p:cNvPr id="9" name="Text 7"/>
          <p:cNvSpPr/>
          <p:nvPr/>
        </p:nvSpPr>
        <p:spPr>
          <a:xfrm>
            <a:off x="5852160" y="1234440"/>
            <a:ext cx="2834640" cy="502920"/>
          </a:xfrm>
          <a:prstGeom prst="chevron">
            <a:avLst/>
          </a:prstGeom>
          <a:solidFill>
            <a:schemeClr val="tx2"/>
          </a:solidFill>
          <a:ln/>
        </p:spPr>
        <p:txBody>
          <a:bodyPr wrap="square" lIns="0" tIns="0" rIns="0" bIns="0" rtlCol="0" anchor="ctr"/>
          <a:lstStyle/>
          <a:p>
            <a:pPr marL="0" indent="0" algn="ctr">
              <a:buNone/>
            </a:pPr>
            <a:r>
              <a:rPr lang="en-US" sz="1400" b="1">
                <a:solidFill>
                  <a:schemeClr val="bg1"/>
                </a:solidFill>
              </a:rPr>
              <a:t>18 to 36 months</a:t>
            </a:r>
            <a:endParaRPr lang="en-US" sz="1400"/>
          </a:p>
        </p:txBody>
      </p:sp>
      <p:sp>
        <p:nvSpPr>
          <p:cNvPr id="10" name="Text 8"/>
          <p:cNvSpPr txBox="1"/>
          <p:nvPr/>
        </p:nvSpPr>
        <p:spPr>
          <a:xfrm>
            <a:off x="5943600" y="1874520"/>
            <a:ext cx="2514600" cy="365760"/>
          </a:xfrm>
          <a:prstGeom prst="rect">
            <a:avLst/>
          </a:prstGeom>
          <a:noFill/>
          <a:ln/>
        </p:spPr>
        <p:txBody>
          <a:bodyPr wrap="square" lIns="0" tIns="0" rIns="0" bIns="0" rtlCol="0" anchor="ctr"/>
          <a:lstStyle/>
          <a:p>
            <a:pPr marL="0" indent="0">
              <a:buNone/>
            </a:pPr>
            <a:r>
              <a:rPr lang="en-US" sz="1500" b="1">
                <a:solidFill>
                  <a:schemeClr val="tx2"/>
                </a:solidFill>
                <a:latin typeface="Montserrat" pitchFamily="34" charset="0"/>
                <a:ea typeface="Montserrat" pitchFamily="34" charset="-122"/>
                <a:cs typeface="Montserrat" pitchFamily="34" charset="-120"/>
              </a:rPr>
              <a:t>Build infrastructure</a:t>
            </a:r>
            <a:endParaRPr lang="en-US" sz="1500"/>
          </a:p>
        </p:txBody>
      </p:sp>
      <p:sp>
        <p:nvSpPr>
          <p:cNvPr id="11" name="Text 9"/>
          <p:cNvSpPr txBox="1"/>
          <p:nvPr/>
        </p:nvSpPr>
        <p:spPr>
          <a:xfrm>
            <a:off x="5943600" y="2286000"/>
            <a:ext cx="2514600" cy="2651760"/>
          </a:xfrm>
          <a:prstGeom prst="rect">
            <a:avLst/>
          </a:prstGeom>
          <a:noFill/>
          <a:ln/>
        </p:spPr>
        <p:txBody>
          <a:bodyPr wrap="square" lIns="0" tIns="0" rIns="0" bIns="0" rtlCol="0" anchor="t"/>
          <a:lstStyle/>
          <a:p>
            <a:pPr marL="342900" indent="-342900">
              <a:spcAft>
                <a:spcPts val="800"/>
              </a:spcAft>
              <a:buSzPct val="100000"/>
              <a:buChar char="•"/>
            </a:pPr>
            <a:r>
              <a:rPr lang="en-US" sz="1300">
                <a:solidFill>
                  <a:schemeClr val="tx1"/>
                </a:solidFill>
              </a:rPr>
              <a:t>Launch a countywide engagement portal</a:t>
            </a:r>
            <a:endParaRPr lang="en-US" sz="1300"/>
          </a:p>
          <a:p>
            <a:pPr marL="342900" indent="-342900">
              <a:spcAft>
                <a:spcPts val="800"/>
              </a:spcAft>
              <a:buSzPct val="100000"/>
              <a:buChar char="•"/>
            </a:pPr>
            <a:r>
              <a:rPr lang="en-US" sz="1300">
                <a:solidFill>
                  <a:schemeClr val="tx1"/>
                </a:solidFill>
              </a:rPr>
              <a:t>Report participation by population and place</a:t>
            </a:r>
            <a:endParaRPr lang="en-US" sz="1300"/>
          </a:p>
        </p:txBody>
      </p:sp>
      <p:sp>
        <p:nvSpPr>
          <p:cNvPr id="12" name="Team next steps"/>
          <p:cNvSpPr/>
          <p:nvPr/>
        </p:nvSpPr>
        <p:spPr>
          <a:xfrm>
            <a:off x="8732520" y="1234440"/>
            <a:ext cx="3090672" cy="3291840"/>
          </a:xfrm>
          <a:prstGeom prst="roundRect">
            <a:avLst>
              <a:gd name="adj" fmla="val 2367"/>
            </a:avLst>
          </a:prstGeom>
          <a:solidFill>
            <a:schemeClr val="tx2"/>
          </a:solidFill>
          <a:ln w="9525">
            <a:solidFill>
              <a:schemeClr val="tx2"/>
            </a:solidFill>
            <a:prstDash val="solid"/>
          </a:ln>
        </p:spPr>
        <p:txBody>
          <a:bodyPr/>
          <a:lstStyle/>
          <a:p>
            <a:endParaRPr lang="en-US"/>
          </a:p>
        </p:txBody>
      </p:sp>
      <p:sp>
        <p:nvSpPr>
          <p:cNvPr id="13" name="Text 11"/>
          <p:cNvSpPr txBox="1"/>
          <p:nvPr/>
        </p:nvSpPr>
        <p:spPr>
          <a:xfrm>
            <a:off x="8915400" y="1371600"/>
            <a:ext cx="2743200" cy="365760"/>
          </a:xfrm>
          <a:prstGeom prst="rect">
            <a:avLst/>
          </a:prstGeom>
          <a:noFill/>
          <a:ln/>
        </p:spPr>
        <p:txBody>
          <a:bodyPr wrap="square" lIns="0" tIns="0" rIns="0" bIns="0" rtlCol="0" anchor="ctr"/>
          <a:lstStyle/>
          <a:p>
            <a:pPr marL="0" indent="0">
              <a:buNone/>
            </a:pPr>
            <a:r>
              <a:rPr lang="en-US" sz="1600" b="1">
                <a:solidFill>
                  <a:schemeClr val="bg1"/>
                </a:solidFill>
                <a:latin typeface="Montserrat" pitchFamily="34" charset="0"/>
                <a:ea typeface="Montserrat" pitchFamily="34" charset="-122"/>
                <a:cs typeface="Montserrat" pitchFamily="34" charset="-120"/>
              </a:rPr>
              <a:t>Our next steps</a:t>
            </a:r>
            <a:endParaRPr lang="en-US" sz="1600"/>
          </a:p>
        </p:txBody>
      </p:sp>
      <p:sp>
        <p:nvSpPr>
          <p:cNvPr id="14" name="Text 12"/>
          <p:cNvSpPr txBox="1"/>
          <p:nvPr/>
        </p:nvSpPr>
        <p:spPr>
          <a:xfrm>
            <a:off x="8915400" y="1828800"/>
            <a:ext cx="2743200" cy="256032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1350">
                <a:solidFill>
                  <a:schemeClr val="bg1"/>
                </a:solidFill>
              </a:rPr>
              <a:t>Finish department interviews to confirm Wake County's baseline ratings</a:t>
            </a:r>
          </a:p>
          <a:p>
            <a:pPr marL="342900" indent="-342900">
              <a:spcAft>
                <a:spcPts val="1000"/>
              </a:spcAft>
              <a:buSzPct val="100000"/>
              <a:buFont typeface="+mj-lt"/>
              <a:buAutoNum type="arabicPeriod"/>
            </a:pPr>
            <a:r>
              <a:rPr lang="en-US" sz="1350">
                <a:solidFill>
                  <a:schemeClr val="bg1"/>
                </a:solidFill>
              </a:rPr>
              <a:t>Review feasibility ratings with OOE and the County Manager's Office</a:t>
            </a:r>
            <a:endParaRPr lang="en-US" sz="1350"/>
          </a:p>
          <a:p>
            <a:pPr marL="342900" indent="-342900">
              <a:spcAft>
                <a:spcPts val="1000"/>
              </a:spcAft>
              <a:buSzPct val="100000"/>
              <a:buFont typeface="+mj-lt"/>
              <a:buAutoNum type="arabicPeriod"/>
            </a:pPr>
            <a:r>
              <a:rPr lang="en-US" sz="1350">
                <a:solidFill>
                  <a:schemeClr val="bg1"/>
                </a:solidFill>
              </a:rPr>
              <a:t>Turn the top practices into Deliverable 3 recommendations with success metrics</a:t>
            </a:r>
            <a:endParaRPr lang="en-US" sz="1350"/>
          </a:p>
        </p:txBody>
      </p:sp>
      <p:sp>
        <p:nvSpPr>
          <p:cNvPr id="15" name="Text 13"/>
          <p:cNvSpPr txBox="1"/>
          <p:nvPr/>
        </p:nvSpPr>
        <p:spPr>
          <a:xfrm>
            <a:off x="365760" y="5074920"/>
            <a:ext cx="8138160" cy="365760"/>
          </a:xfrm>
          <a:prstGeom prst="rect">
            <a:avLst/>
          </a:prstGeom>
          <a:noFill/>
          <a:ln/>
        </p:spPr>
        <p:txBody>
          <a:bodyPr wrap="square" lIns="0" tIns="0" rIns="0" bIns="0" rtlCol="0" anchor="ctr"/>
          <a:lstStyle/>
          <a:p>
            <a:r>
              <a:rPr lang="en-US" sz="1200" i="1">
                <a:solidFill>
                  <a:schemeClr val="accent6"/>
                </a:solidFill>
              </a:rPr>
              <a:t>Note: Sequencing is a starting point for discussion with Wake County partners, not a final recommendation.</a:t>
            </a:r>
            <a:endParaRPr lang="en-US" sz="1200">
              <a:solidFill>
                <a:schemeClr val="accent6"/>
              </a:solidFill>
            </a:endParaRPr>
          </a:p>
        </p:txBody>
      </p:sp>
      <p:sp>
        <p:nvSpPr>
          <p:cNvPr id="16" name="Source"/>
          <p:cNvSpPr txBox="1"/>
          <p:nvPr/>
        </p:nvSpPr>
        <p:spPr>
          <a:xfrm>
            <a:off x="365760" y="5705856"/>
            <a:ext cx="11430000" cy="256032"/>
          </a:xfrm>
          <a:prstGeom prst="rect">
            <a:avLst/>
          </a:prstGeom>
          <a:noFill/>
          <a:ln/>
        </p:spPr>
        <p:txBody>
          <a:bodyPr wrap="square" lIns="0" tIns="0" rIns="0" bIns="0" rtlCol="0" anchor="ctr"/>
          <a:lstStyle/>
          <a:p>
            <a:pPr marL="0" indent="0">
              <a:buNone/>
            </a:pPr>
            <a:r>
              <a:rPr lang="en-US" sz="1000">
                <a:solidFill>
                  <a:schemeClr val="accent6"/>
                </a:solidFill>
              </a:rPr>
              <a:t>Source: Team synthesis of this deck's findings. </a:t>
            </a:r>
            <a:r>
              <a:rPr lang="en-US" sz="1000" u="sng">
                <a:solidFill>
                  <a:schemeClr val="accent2"/>
                </a:solidFill>
                <a:hlinkClick r:id="rId3" action="ppaction://hlinksldjump" tooltip="Go to sources">
                  <a:extLst>
                    <a:ext uri="{A12FA001-AC4F-418D-AE19-62706E023703}">
                      <ahyp:hlinkClr xmlns:ahyp="http://schemas.microsoft.com/office/drawing/2018/hyperlinkcolor" val="tx"/>
                    </a:ext>
                  </a:extLst>
                </a:hlinkClick>
              </a:rPr>
              <a:t>Appendix</a:t>
            </a:r>
            <a:endParaRPr lang="en-US" sz="10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14</a:t>
            </a:fld>
            <a:endParaRPr lang="en-US"/>
          </a:p>
        </p:txBody>
      </p:sp>
      <p:pic>
        <p:nvPicPr>
          <p:cNvPr id="17" name="Picture 16">
            <a:extLst>
              <a:ext uri="{FF2B5EF4-FFF2-40B4-BE49-F238E27FC236}">
                <a16:creationId xmlns:a16="http://schemas.microsoft.com/office/drawing/2014/main" id="{9DDE6C59-62F9-C9DE-32CE-6811106BF67D}"/>
              </a:ext>
            </a:extLst>
          </p:cNvPr>
          <p:cNvPicPr>
            <a:picLocks noChangeAspect="1"/>
          </p:cNvPicPr>
          <p:nvPr/>
        </p:nvPicPr>
        <p:blipFill>
          <a:blip r:embed="rId4"/>
          <a:stretch>
            <a:fillRect/>
          </a:stretch>
        </p:blipFill>
        <p:spPr>
          <a:xfrm>
            <a:off x="10702633" y="48335"/>
            <a:ext cx="1176475" cy="920929"/>
          </a:xfrm>
          <a:prstGeom prst="rect">
            <a:avLst/>
          </a:prstGeom>
        </p:spPr>
      </p:pic>
      <p:pic>
        <p:nvPicPr>
          <p:cNvPr id="18" name="Picture 17">
            <a:extLst>
              <a:ext uri="{FF2B5EF4-FFF2-40B4-BE49-F238E27FC236}">
                <a16:creationId xmlns:a16="http://schemas.microsoft.com/office/drawing/2014/main" id="{A1A50D00-DD4E-A4DB-BD4A-529BA4943E70}"/>
              </a:ext>
            </a:extLst>
          </p:cNvPr>
          <p:cNvPicPr>
            <a:picLocks noChangeAspect="1"/>
          </p:cNvPicPr>
          <p:nvPr/>
        </p:nvPicPr>
        <p:blipFill>
          <a:blip r:embed="rId5"/>
          <a:stretch>
            <a:fillRect/>
          </a:stretch>
        </p:blipFill>
        <p:spPr>
          <a:xfrm>
            <a:off x="1261872" y="6149993"/>
            <a:ext cx="534000" cy="6193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ppendix panel"/>
          <p:cNvSpPr/>
          <p:nvPr/>
        </p:nvSpPr>
        <p:spPr>
          <a:xfrm>
            <a:off x="0" y="0"/>
            <a:ext cx="4754880" cy="6035040"/>
          </a:xfrm>
          <a:prstGeom prst="rect">
            <a:avLst/>
          </a:prstGeom>
          <a:solidFill>
            <a:schemeClr val="tx2"/>
          </a:solidFill>
          <a:ln w="12700">
            <a:solidFill>
              <a:schemeClr val="tx2"/>
            </a:solidFill>
            <a:prstDash val="solid"/>
          </a:ln>
        </p:spPr>
        <p:txBody>
          <a:bodyPr/>
          <a:lstStyle/>
          <a:p>
            <a:endParaRPr lang="en-US"/>
          </a:p>
        </p:txBody>
      </p:sp>
      <p:sp>
        <p:nvSpPr>
          <p:cNvPr id="3" name="Text 1"/>
          <p:cNvSpPr txBox="1"/>
          <p:nvPr/>
        </p:nvSpPr>
        <p:spPr>
          <a:xfrm>
            <a:off x="548640" y="731520"/>
            <a:ext cx="3840480" cy="731520"/>
          </a:xfrm>
          <a:prstGeom prst="rect">
            <a:avLst/>
          </a:prstGeom>
          <a:noFill/>
          <a:ln/>
        </p:spPr>
        <p:txBody>
          <a:bodyPr wrap="square" lIns="0" tIns="0" rIns="0" bIns="0" rtlCol="0" anchor="ctr"/>
          <a:lstStyle/>
          <a:p>
            <a:pPr marL="0" indent="0">
              <a:buNone/>
            </a:pPr>
            <a:r>
              <a:rPr lang="en-US" sz="3600" b="1">
                <a:solidFill>
                  <a:schemeClr val="bg1"/>
                </a:solidFill>
                <a:latin typeface="Montserrat" pitchFamily="34" charset="0"/>
                <a:ea typeface="Montserrat" pitchFamily="34" charset="-122"/>
                <a:cs typeface="Montserrat" pitchFamily="34" charset="-120"/>
              </a:rPr>
              <a:t>Appendix</a:t>
            </a:r>
            <a:endParaRPr lang="en-US" sz="3600"/>
          </a:p>
        </p:txBody>
      </p:sp>
      <p:sp>
        <p:nvSpPr>
          <p:cNvPr id="4" name="Text 2"/>
          <p:cNvSpPr txBox="1"/>
          <p:nvPr/>
        </p:nvSpPr>
        <p:spPr>
          <a:xfrm>
            <a:off x="548640" y="1554480"/>
            <a:ext cx="3657600" cy="731520"/>
          </a:xfrm>
          <a:prstGeom prst="rect">
            <a:avLst/>
          </a:prstGeom>
          <a:noFill/>
          <a:ln/>
        </p:spPr>
        <p:txBody>
          <a:bodyPr wrap="square" lIns="0" tIns="0" rIns="0" bIns="0" rtlCol="0" anchor="ctr"/>
          <a:lstStyle/>
          <a:p>
            <a:r>
              <a:rPr lang="en-US" sz="1600">
                <a:solidFill>
                  <a:schemeClr val="accent3"/>
                </a:solidFill>
                <a:ea typeface="+mn-lt"/>
                <a:cs typeface="+mn-lt"/>
              </a:rPr>
              <a:t>Sources for All Figures and Practices in This Deck</a:t>
            </a:r>
            <a:endParaRPr lang="en-US">
              <a:solidFill>
                <a:schemeClr val="accent3"/>
              </a:solidFill>
            </a:endParaRPr>
          </a:p>
        </p:txBody>
      </p:sp>
      <p:sp>
        <p:nvSpPr>
          <p:cNvPr id="5" name="Text 3">
            <a:hlinkClick r:id="rId3" action="ppaction://hlinksldjump"/>
          </p:cNvPr>
          <p:cNvSpPr txBox="1"/>
          <p:nvPr/>
        </p:nvSpPr>
        <p:spPr>
          <a:xfrm>
            <a:off x="5486400" y="1463040"/>
            <a:ext cx="5943600" cy="457200"/>
          </a:xfrm>
          <a:prstGeom prst="rect">
            <a:avLst/>
          </a:prstGeom>
          <a:noFill/>
          <a:ln/>
        </p:spPr>
        <p:txBody>
          <a:bodyPr wrap="square" lIns="0" tIns="0" rIns="0" bIns="0" rtlCol="0" anchor="ctr"/>
          <a:lstStyle/>
          <a:p>
            <a:pPr marL="0" indent="0">
              <a:buNone/>
            </a:pPr>
            <a:r>
              <a:rPr lang="en-US" sz="1800" u="sng">
                <a:solidFill>
                  <a:schemeClr val="accent2"/>
                </a:solidFill>
                <a:hlinkClick r:id="rId3" action="ppaction://hlinksldjump">
                  <a:extLst>
                    <a:ext uri="{A12FA001-AC4F-418D-AE19-62706E023703}">
                      <ahyp:hlinkClr xmlns:ahyp="http://schemas.microsoft.com/office/drawing/2018/hyperlinkcolor" val="tx"/>
                    </a:ext>
                  </a:extLst>
                </a:hlinkClick>
              </a:rPr>
              <a:t>Peer county data and tools</a:t>
            </a:r>
            <a:endParaRPr lang="en-US" sz="1800"/>
          </a:p>
        </p:txBody>
      </p:sp>
      <p:sp>
        <p:nvSpPr>
          <p:cNvPr id="6" name="Text 4">
            <a:hlinkClick r:id="rId4" action="ppaction://hlinksldjump"/>
          </p:cNvPr>
          <p:cNvSpPr txBox="1"/>
          <p:nvPr/>
        </p:nvSpPr>
        <p:spPr>
          <a:xfrm>
            <a:off x="5486400" y="2103120"/>
            <a:ext cx="5943600" cy="457200"/>
          </a:xfrm>
          <a:prstGeom prst="rect">
            <a:avLst/>
          </a:prstGeom>
          <a:noFill/>
          <a:ln/>
        </p:spPr>
        <p:txBody>
          <a:bodyPr wrap="square" lIns="0" tIns="0" rIns="0" bIns="0" rtlCol="0" anchor="ctr"/>
          <a:lstStyle/>
          <a:p>
            <a:pPr marL="0" indent="0">
              <a:buNone/>
            </a:pPr>
            <a:r>
              <a:rPr lang="en-US" sz="1800" u="sng">
                <a:solidFill>
                  <a:schemeClr val="accent2"/>
                </a:solidFill>
                <a:hlinkClick r:id="rId4" action="ppaction://hlinksldjump">
                  <a:extLst>
                    <a:ext uri="{A12FA001-AC4F-418D-AE19-62706E023703}">
                      <ahyp:hlinkClr xmlns:ahyp="http://schemas.microsoft.com/office/drawing/2018/hyperlinkcolor" val="tx"/>
                    </a:ext>
                  </a:extLst>
                </a:hlinkClick>
              </a:rPr>
              <a:t>North Carolina and national practices</a:t>
            </a:r>
            <a:endParaRPr lang="en-US" sz="1800"/>
          </a:p>
        </p:txBody>
      </p:sp>
      <p:sp>
        <p:nvSpPr>
          <p:cNvPr id="7" name="Text 5">
            <a:hlinkClick r:id="rId4" action="ppaction://hlinksldjump"/>
          </p:cNvPr>
          <p:cNvSpPr txBox="1"/>
          <p:nvPr/>
        </p:nvSpPr>
        <p:spPr>
          <a:xfrm>
            <a:off x="5486400" y="2743200"/>
            <a:ext cx="5943600" cy="457200"/>
          </a:xfrm>
          <a:prstGeom prst="rect">
            <a:avLst/>
          </a:prstGeom>
          <a:noFill/>
          <a:ln/>
        </p:spPr>
        <p:txBody>
          <a:bodyPr wrap="square" lIns="0" tIns="0" rIns="0" bIns="0" rtlCol="0" anchor="ctr"/>
          <a:lstStyle/>
          <a:p>
            <a:pPr marL="0" indent="0">
              <a:buNone/>
            </a:pPr>
            <a:r>
              <a:rPr lang="en-US" sz="1800" u="sng">
                <a:solidFill>
                  <a:schemeClr val="accent2"/>
                </a:solidFill>
                <a:hlinkClick r:id="rId4" action="ppaction://hlinksldjump">
                  <a:extLst>
                    <a:ext uri="{A12FA001-AC4F-418D-AE19-62706E023703}">
                      <ahyp:hlinkClr xmlns:ahyp="http://schemas.microsoft.com/office/drawing/2018/hyperlinkcolor" val="tx"/>
                    </a:ext>
                  </a:extLst>
                </a:hlinkClick>
              </a:rPr>
              <a:t>Wake County baseline</a:t>
            </a:r>
            <a:endParaRPr lang="en-US" sz="18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15</a:t>
            </a:fld>
            <a:endParaRPr lang="en-US"/>
          </a:p>
        </p:txBody>
      </p:sp>
      <p:pic>
        <p:nvPicPr>
          <p:cNvPr id="8" name="Picture 7">
            <a:extLst>
              <a:ext uri="{FF2B5EF4-FFF2-40B4-BE49-F238E27FC236}">
                <a16:creationId xmlns:a16="http://schemas.microsoft.com/office/drawing/2014/main" id="{5FDE809D-6933-78D3-CBE8-E26D65FCE6D0}"/>
              </a:ext>
            </a:extLst>
          </p:cNvPr>
          <p:cNvPicPr>
            <a:picLocks noChangeAspect="1"/>
          </p:cNvPicPr>
          <p:nvPr/>
        </p:nvPicPr>
        <p:blipFill>
          <a:blip r:embed="rId5"/>
          <a:stretch>
            <a:fillRect/>
          </a:stretch>
        </p:blipFill>
        <p:spPr>
          <a:xfrm>
            <a:off x="1261872" y="6149993"/>
            <a:ext cx="534000" cy="61938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r>
              <a:rPr lang="en-US" sz="2400" b="1">
                <a:latin typeface="Montserrat"/>
              </a:rPr>
              <a:t>Sources: Peer County Data and</a:t>
            </a:r>
            <a:r>
              <a:rPr lang="en-US">
                <a:latin typeface="Montserrat"/>
              </a:rPr>
              <a:t> Engagement Tools</a:t>
            </a:r>
            <a:endParaRPr lang="en-US" sz="2400"/>
          </a:p>
        </p:txBody>
      </p:sp>
      <p:sp>
        <p:nvSpPr>
          <p:cNvPr id="3" name="Text 1"/>
          <p:cNvSpPr txBox="1"/>
          <p:nvPr/>
        </p:nvSpPr>
        <p:spPr>
          <a:xfrm>
            <a:off x="365760" y="1234440"/>
            <a:ext cx="5577840" cy="4572000"/>
          </a:xfrm>
          <a:prstGeom prst="rect">
            <a:avLst/>
          </a:prstGeom>
          <a:noFill/>
          <a:ln/>
        </p:spPr>
        <p:txBody>
          <a:bodyPr wrap="square" lIns="0" tIns="0" rIns="0" bIns="0" rtlCol="0" anchor="t"/>
          <a:lstStyle/>
          <a:p>
            <a:pPr marL="0" indent="0">
              <a:spcAft>
                <a:spcPts val="200"/>
              </a:spcAft>
              <a:buNone/>
            </a:pPr>
            <a:r>
              <a:rPr lang="en-US" sz="1200" b="1">
                <a:solidFill>
                  <a:schemeClr val="tx2"/>
                </a:solidFill>
              </a:rPr>
              <a:t>Population and growth (U.S. Census Bureau QuickFacts)</a:t>
            </a:r>
            <a:endParaRPr lang="en-US" sz="1200"/>
          </a:p>
          <a:p>
            <a:pPr marL="0" indent="0">
              <a:spcAft>
                <a:spcPts val="200"/>
              </a:spcAft>
              <a:buNone/>
            </a:pPr>
            <a:r>
              <a:rPr lang="en-US" sz="1050" u="sng">
                <a:solidFill>
                  <a:schemeClr val="accent2"/>
                </a:solidFill>
                <a:hlinkClick r:id="rId3">
                  <a:extLst>
                    <a:ext uri="{A12FA001-AC4F-418D-AE19-62706E023703}">
                      <ahyp:hlinkClr xmlns:ahyp="http://schemas.microsoft.com/office/drawing/2018/hyperlinkcolor" val="tx"/>
                    </a:ext>
                  </a:extLst>
                </a:hlinkClick>
              </a:rPr>
              <a:t>Wake County, NC</a:t>
            </a:r>
            <a:endParaRPr lang="en-US" sz="1200"/>
          </a:p>
          <a:p>
            <a:pPr marL="0" indent="0">
              <a:spcAft>
                <a:spcPts val="200"/>
              </a:spcAft>
              <a:buNone/>
            </a:pPr>
            <a:r>
              <a:rPr lang="en-US" sz="1050" u="sng">
                <a:solidFill>
                  <a:schemeClr val="accent2"/>
                </a:solidFill>
                <a:hlinkClick r:id="rId4">
                  <a:extLst>
                    <a:ext uri="{A12FA001-AC4F-418D-AE19-62706E023703}">
                      <ahyp:hlinkClr xmlns:ahyp="http://schemas.microsoft.com/office/drawing/2018/hyperlinkcolor" val="tx"/>
                    </a:ext>
                  </a:extLst>
                </a:hlinkClick>
              </a:rPr>
              <a:t>Mecklenburg County, NC</a:t>
            </a:r>
            <a:endParaRPr lang="en-US" sz="1200"/>
          </a:p>
          <a:p>
            <a:pPr marL="0" indent="0">
              <a:spcAft>
                <a:spcPts val="200"/>
              </a:spcAft>
              <a:buNone/>
            </a:pPr>
            <a:r>
              <a:rPr lang="en-US" sz="1050" u="sng">
                <a:solidFill>
                  <a:schemeClr val="accent2"/>
                </a:solidFill>
                <a:hlinkClick r:id="rId5">
                  <a:extLst>
                    <a:ext uri="{A12FA001-AC4F-418D-AE19-62706E023703}">
                      <ahyp:hlinkClr xmlns:ahyp="http://schemas.microsoft.com/office/drawing/2018/hyperlinkcolor" val="tx"/>
                    </a:ext>
                  </a:extLst>
                </a:hlinkClick>
              </a:rPr>
              <a:t>Travis County, TX</a:t>
            </a:r>
            <a:endParaRPr lang="en-US" sz="1200"/>
          </a:p>
          <a:p>
            <a:pPr marL="0" indent="0">
              <a:spcAft>
                <a:spcPts val="200"/>
              </a:spcAft>
              <a:buNone/>
            </a:pPr>
            <a:r>
              <a:rPr lang="en-US" sz="1050" u="sng">
                <a:solidFill>
                  <a:schemeClr val="accent2"/>
                </a:solidFill>
                <a:hlinkClick r:id="rId6">
                  <a:extLst>
                    <a:ext uri="{A12FA001-AC4F-418D-AE19-62706E023703}">
                      <ahyp:hlinkClr xmlns:ahyp="http://schemas.microsoft.com/office/drawing/2018/hyperlinkcolor" val="tx"/>
                    </a:ext>
                  </a:extLst>
                </a:hlinkClick>
              </a:rPr>
              <a:t>Hillsborough County, FL</a:t>
            </a:r>
            <a:endParaRPr lang="en-US" sz="1200"/>
          </a:p>
          <a:p>
            <a:pPr marL="0" indent="0">
              <a:spcAft>
                <a:spcPts val="200"/>
              </a:spcAft>
              <a:buNone/>
            </a:pPr>
            <a:r>
              <a:rPr lang="en-US" sz="1050" u="sng">
                <a:solidFill>
                  <a:schemeClr val="accent2"/>
                </a:solidFill>
                <a:hlinkClick r:id="rId7">
                  <a:extLst>
                    <a:ext uri="{A12FA001-AC4F-418D-AE19-62706E023703}">
                      <ahyp:hlinkClr xmlns:ahyp="http://schemas.microsoft.com/office/drawing/2018/hyperlinkcolor" val="tx"/>
                    </a:ext>
                  </a:extLst>
                </a:hlinkClick>
              </a:rPr>
              <a:t>Collin County, TX</a:t>
            </a:r>
            <a:endParaRPr lang="en-US" sz="1200"/>
          </a:p>
          <a:p>
            <a:pPr marL="0" indent="0">
              <a:spcAft>
                <a:spcPts val="200"/>
              </a:spcAft>
              <a:buNone/>
            </a:pPr>
            <a:r>
              <a:rPr lang="en-US" sz="1050" u="sng">
                <a:solidFill>
                  <a:schemeClr val="accent2"/>
                </a:solidFill>
                <a:hlinkClick r:id="rId8">
                  <a:extLst>
                    <a:ext uri="{A12FA001-AC4F-418D-AE19-62706E023703}">
                      <ahyp:hlinkClr xmlns:ahyp="http://schemas.microsoft.com/office/drawing/2018/hyperlinkcolor" val="tx"/>
                    </a:ext>
                  </a:extLst>
                </a:hlinkClick>
              </a:rPr>
              <a:t>Gwinnett County, GA</a:t>
            </a:r>
            <a:endParaRPr lang="en-US" sz="1200"/>
          </a:p>
          <a:p>
            <a:pPr marL="0" indent="0">
              <a:spcBef>
                <a:spcPts val="800"/>
              </a:spcBef>
              <a:spcAft>
                <a:spcPts val="200"/>
              </a:spcAft>
              <a:buNone/>
            </a:pPr>
            <a:r>
              <a:rPr lang="en-US" sz="1200" b="1">
                <a:solidFill>
                  <a:schemeClr val="tx2"/>
                </a:solidFill>
              </a:rPr>
              <a:t>Mecklenburg County</a:t>
            </a:r>
            <a:endParaRPr lang="en-US" sz="1200"/>
          </a:p>
          <a:p>
            <a:pPr marL="0" indent="0">
              <a:spcAft>
                <a:spcPts val="200"/>
              </a:spcAft>
              <a:buNone/>
            </a:pPr>
            <a:r>
              <a:rPr lang="en-US" sz="1050" u="sng">
                <a:solidFill>
                  <a:schemeClr val="accent2"/>
                </a:solidFill>
                <a:hlinkClick r:id="rId9">
                  <a:extLst>
                    <a:ext uri="{A12FA001-AC4F-418D-AE19-62706E023703}">
                      <ahyp:hlinkClr xmlns:ahyp="http://schemas.microsoft.com/office/drawing/2018/hyperlinkcolor" val="tx"/>
                    </a:ext>
                  </a:extLst>
                </a:hlinkClick>
              </a:rPr>
              <a:t>Budget engagement</a:t>
            </a:r>
            <a:endParaRPr lang="en-US" sz="1200"/>
          </a:p>
          <a:p>
            <a:pPr marL="0" indent="0">
              <a:spcAft>
                <a:spcPts val="200"/>
              </a:spcAft>
              <a:buNone/>
            </a:pPr>
            <a:r>
              <a:rPr lang="en-US" sz="1050" u="sng">
                <a:solidFill>
                  <a:schemeClr val="accent2"/>
                </a:solidFill>
                <a:hlinkClick r:id="rId10">
                  <a:extLst>
                    <a:ext uri="{A12FA001-AC4F-418D-AE19-62706E023703}">
                      <ahyp:hlinkClr xmlns:ahyp="http://schemas.microsoft.com/office/drawing/2018/hyperlinkcolor" val="tx"/>
                    </a:ext>
                  </a:extLst>
                </a:hlinkClick>
              </a:rPr>
              <a:t>Engage Mecklenburg portal</a:t>
            </a:r>
            <a:endParaRPr lang="en-US" sz="1200"/>
          </a:p>
          <a:p>
            <a:pPr marL="0" indent="0">
              <a:spcAft>
                <a:spcPts val="200"/>
              </a:spcAft>
              <a:buNone/>
            </a:pPr>
            <a:r>
              <a:rPr lang="en-US" sz="1050" u="sng">
                <a:solidFill>
                  <a:schemeClr val="accent2"/>
                </a:solidFill>
                <a:hlinkClick r:id="rId11">
                  <a:extLst>
                    <a:ext uri="{A12FA001-AC4F-418D-AE19-62706E023703}">
                      <ahyp:hlinkClr xmlns:ahyp="http://schemas.microsoft.com/office/drawing/2018/hyperlinkcolor" val="tx"/>
                    </a:ext>
                  </a:extLst>
                </a:hlinkClick>
              </a:rPr>
              <a:t>Advisory boards</a:t>
            </a:r>
            <a:endParaRPr lang="en-US" sz="1200"/>
          </a:p>
          <a:p>
            <a:pPr marL="0" indent="0">
              <a:spcAft>
                <a:spcPts val="200"/>
              </a:spcAft>
              <a:buNone/>
            </a:pPr>
            <a:r>
              <a:rPr lang="en-US" sz="1050" u="sng">
                <a:solidFill>
                  <a:schemeClr val="accent2"/>
                </a:solidFill>
                <a:hlinkClick r:id="rId12">
                  <a:extLst>
                    <a:ext uri="{A12FA001-AC4F-418D-AE19-62706E023703}">
                      <ahyp:hlinkClr xmlns:ahyp="http://schemas.microsoft.com/office/drawing/2018/hyperlinkcolor" val="tx"/>
                    </a:ext>
                  </a:extLst>
                </a:hlinkClick>
              </a:rPr>
              <a:t>Office of Equity and Inclusion</a:t>
            </a:r>
            <a:endParaRPr lang="en-US" sz="1200"/>
          </a:p>
          <a:p>
            <a:pPr marL="0" indent="0">
              <a:spcBef>
                <a:spcPts val="800"/>
              </a:spcBef>
              <a:spcAft>
                <a:spcPts val="200"/>
              </a:spcAft>
              <a:buNone/>
            </a:pPr>
            <a:r>
              <a:rPr lang="en-US" sz="1200" b="1">
                <a:solidFill>
                  <a:schemeClr val="tx2"/>
                </a:solidFill>
              </a:rPr>
              <a:t>Travis County</a:t>
            </a:r>
            <a:endParaRPr lang="en-US" sz="1200"/>
          </a:p>
          <a:p>
            <a:pPr marL="0" indent="0">
              <a:spcAft>
                <a:spcPts val="200"/>
              </a:spcAft>
              <a:buNone/>
            </a:pPr>
            <a:r>
              <a:rPr lang="en-US" sz="1050" u="sng">
                <a:solidFill>
                  <a:schemeClr val="accent2"/>
                </a:solidFill>
                <a:hlinkClick r:id="rId13">
                  <a:extLst>
                    <a:ext uri="{A12FA001-AC4F-418D-AE19-62706E023703}">
                      <ahyp:hlinkClr xmlns:ahyp="http://schemas.microsoft.com/office/drawing/2018/hyperlinkcolor" val="tx"/>
                    </a:ext>
                  </a:extLst>
                </a:hlinkClick>
              </a:rPr>
              <a:t>Budget community engagement</a:t>
            </a:r>
            <a:endParaRPr lang="en-US" sz="1200"/>
          </a:p>
          <a:p>
            <a:pPr marL="0" indent="0">
              <a:spcAft>
                <a:spcPts val="200"/>
              </a:spcAft>
              <a:buNone/>
            </a:pPr>
            <a:r>
              <a:rPr lang="en-US" sz="1050" u="sng">
                <a:solidFill>
                  <a:schemeClr val="accent2"/>
                </a:solidFill>
                <a:hlinkClick r:id="rId14">
                  <a:extLst>
                    <a:ext uri="{A12FA001-AC4F-418D-AE19-62706E023703}">
                      <ahyp:hlinkClr xmlns:ahyp="http://schemas.microsoft.com/office/drawing/2018/hyperlinkcolor" val="tx"/>
                    </a:ext>
                  </a:extLst>
                </a:hlinkClick>
              </a:rPr>
              <a:t>Project participation (CDBG)</a:t>
            </a:r>
            <a:endParaRPr lang="en-US" sz="1200"/>
          </a:p>
          <a:p>
            <a:pPr marL="0" indent="0">
              <a:spcAft>
                <a:spcPts val="200"/>
              </a:spcAft>
              <a:buNone/>
            </a:pPr>
            <a:r>
              <a:rPr lang="en-US" sz="1050" u="sng">
                <a:solidFill>
                  <a:schemeClr val="accent2"/>
                </a:solidFill>
                <a:hlinkClick r:id="rId15">
                  <a:extLst>
                    <a:ext uri="{A12FA001-AC4F-418D-AE19-62706E023703}">
                      <ahyp:hlinkClr xmlns:ahyp="http://schemas.microsoft.com/office/drawing/2018/hyperlinkcolor" val="tx"/>
                    </a:ext>
                  </a:extLst>
                </a:hlinkClick>
              </a:rPr>
              <a:t>Language Access Plan (Community Impact)</a:t>
            </a:r>
            <a:endParaRPr lang="en-US" sz="1200"/>
          </a:p>
        </p:txBody>
      </p:sp>
      <p:sp>
        <p:nvSpPr>
          <p:cNvPr id="4" name="Text 2"/>
          <p:cNvSpPr txBox="1"/>
          <p:nvPr/>
        </p:nvSpPr>
        <p:spPr>
          <a:xfrm>
            <a:off x="6217920" y="1234440"/>
            <a:ext cx="5577840" cy="4572000"/>
          </a:xfrm>
          <a:prstGeom prst="rect">
            <a:avLst/>
          </a:prstGeom>
          <a:noFill/>
          <a:ln/>
        </p:spPr>
        <p:txBody>
          <a:bodyPr wrap="square" lIns="0" tIns="0" rIns="0" bIns="0" rtlCol="0" anchor="t"/>
          <a:lstStyle/>
          <a:p>
            <a:pPr marL="0" indent="0">
              <a:spcAft>
                <a:spcPts val="200"/>
              </a:spcAft>
              <a:buNone/>
            </a:pPr>
            <a:r>
              <a:rPr lang="en-US" sz="1200" b="1">
                <a:solidFill>
                  <a:schemeClr val="tx2"/>
                </a:solidFill>
              </a:rPr>
              <a:t>Hillsborough County</a:t>
            </a:r>
            <a:endParaRPr lang="en-US" sz="1200"/>
          </a:p>
          <a:p>
            <a:pPr marL="0" indent="0">
              <a:spcAft>
                <a:spcPts val="200"/>
              </a:spcAft>
              <a:buNone/>
            </a:pPr>
            <a:r>
              <a:rPr lang="en-US" sz="1050" u="sng">
                <a:solidFill>
                  <a:schemeClr val="accent2"/>
                </a:solidFill>
                <a:hlinkClick r:id="rId16">
                  <a:extLst>
                    <a:ext uri="{A12FA001-AC4F-418D-AE19-62706E023703}">
                      <ahyp:hlinkClr xmlns:ahyp="http://schemas.microsoft.com/office/drawing/2018/hyperlinkcolor" val="tx"/>
                    </a:ext>
                  </a:extLst>
                </a:hlinkClick>
              </a:rPr>
              <a:t>Budget public hearings</a:t>
            </a:r>
            <a:endParaRPr lang="en-US" sz="1200"/>
          </a:p>
          <a:p>
            <a:pPr marL="0" indent="0">
              <a:spcAft>
                <a:spcPts val="200"/>
              </a:spcAft>
              <a:buNone/>
            </a:pPr>
            <a:r>
              <a:rPr lang="en-US" sz="1050" u="sng">
                <a:solidFill>
                  <a:schemeClr val="accent2"/>
                </a:solidFill>
                <a:hlinkClick r:id="rId17">
                  <a:extLst>
                    <a:ext uri="{A12FA001-AC4F-418D-AE19-62706E023703}">
                      <ahyp:hlinkClr xmlns:ahyp="http://schemas.microsoft.com/office/drawing/2018/hyperlinkcolor" val="tx"/>
                    </a:ext>
                  </a:extLst>
                </a:hlinkClick>
              </a:rPr>
              <a:t>HC Engage and customer service</a:t>
            </a:r>
            <a:endParaRPr lang="en-US" sz="1200"/>
          </a:p>
          <a:p>
            <a:pPr marL="0" indent="0">
              <a:spcAft>
                <a:spcPts val="200"/>
              </a:spcAft>
              <a:buNone/>
            </a:pPr>
            <a:r>
              <a:rPr lang="en-US" sz="1050" u="sng">
                <a:solidFill>
                  <a:schemeClr val="accent2"/>
                </a:solidFill>
                <a:hlinkClick r:id="rId18">
                  <a:extLst>
                    <a:ext uri="{A12FA001-AC4F-418D-AE19-62706E023703}">
                      <ahyp:hlinkClr xmlns:ahyp="http://schemas.microsoft.com/office/drawing/2018/hyperlinkcolor" val="tx"/>
                    </a:ext>
                  </a:extLst>
                </a:hlinkClick>
              </a:rPr>
              <a:t>Diversity Advisory Council</a:t>
            </a:r>
            <a:endParaRPr lang="en-US" sz="1200"/>
          </a:p>
          <a:p>
            <a:pPr marL="0" indent="0">
              <a:spcBef>
                <a:spcPts val="800"/>
              </a:spcBef>
              <a:spcAft>
                <a:spcPts val="200"/>
              </a:spcAft>
              <a:buNone/>
            </a:pPr>
            <a:r>
              <a:rPr lang="en-US" sz="1200" b="1">
                <a:solidFill>
                  <a:schemeClr val="tx2"/>
                </a:solidFill>
              </a:rPr>
              <a:t>Collin County</a:t>
            </a:r>
            <a:endParaRPr lang="en-US" sz="1200"/>
          </a:p>
          <a:p>
            <a:pPr marL="0" indent="0">
              <a:spcAft>
                <a:spcPts val="200"/>
              </a:spcAft>
              <a:buNone/>
            </a:pPr>
            <a:r>
              <a:rPr lang="en-US" sz="1050" u="sng">
                <a:solidFill>
                  <a:schemeClr val="accent2"/>
                </a:solidFill>
                <a:hlinkClick r:id="rId19">
                  <a:extLst>
                    <a:ext uri="{A12FA001-AC4F-418D-AE19-62706E023703}">
                      <ahyp:hlinkClr xmlns:ahyp="http://schemas.microsoft.com/office/drawing/2018/hyperlinkcolor" val="tx"/>
                    </a:ext>
                  </a:extLst>
                </a:hlinkClick>
              </a:rPr>
              <a:t>Budget and Truth-in-Taxation</a:t>
            </a:r>
            <a:endParaRPr lang="en-US" sz="1200"/>
          </a:p>
          <a:p>
            <a:pPr marL="0" indent="0">
              <a:spcAft>
                <a:spcPts val="200"/>
              </a:spcAft>
              <a:buNone/>
            </a:pPr>
            <a:r>
              <a:rPr lang="en-US" sz="1050" u="sng">
                <a:solidFill>
                  <a:schemeClr val="accent2"/>
                </a:solidFill>
                <a:hlinkClick r:id="rId20">
                  <a:extLst>
                    <a:ext uri="{A12FA001-AC4F-418D-AE19-62706E023703}">
                      <ahyp:hlinkClr xmlns:ahyp="http://schemas.microsoft.com/office/drawing/2018/hyperlinkcolor" val="tx"/>
                    </a:ext>
                  </a:extLst>
                </a:hlinkClick>
              </a:rPr>
              <a:t>Thoroughfare plan project site</a:t>
            </a:r>
            <a:endParaRPr lang="en-US" sz="1200"/>
          </a:p>
          <a:p>
            <a:pPr marL="0" indent="0">
              <a:spcAft>
                <a:spcPts val="200"/>
              </a:spcAft>
              <a:buNone/>
            </a:pPr>
            <a:r>
              <a:rPr lang="en-US" sz="1050" u="sng">
                <a:solidFill>
                  <a:schemeClr val="accent2"/>
                </a:solidFill>
                <a:hlinkClick r:id="rId21">
                  <a:extLst>
                    <a:ext uri="{A12FA001-AC4F-418D-AE19-62706E023703}">
                      <ahyp:hlinkClr xmlns:ahyp="http://schemas.microsoft.com/office/drawing/2018/hyperlinkcolor" val="tx"/>
                    </a:ext>
                  </a:extLst>
                </a:hlinkClick>
              </a:rPr>
              <a:t>Northeast freeway public meeting</a:t>
            </a:r>
            <a:endParaRPr lang="en-US" sz="1200"/>
          </a:p>
          <a:p>
            <a:pPr marL="0" indent="0">
              <a:spcAft>
                <a:spcPts val="200"/>
              </a:spcAft>
              <a:buNone/>
            </a:pPr>
            <a:r>
              <a:rPr lang="en-US" sz="1050" u="sng">
                <a:solidFill>
                  <a:schemeClr val="accent2"/>
                </a:solidFill>
                <a:hlinkClick r:id="rId22">
                  <a:extLst>
                    <a:ext uri="{A12FA001-AC4F-418D-AE19-62706E023703}">
                      <ahyp:hlinkClr xmlns:ahyp="http://schemas.microsoft.com/office/drawing/2018/hyperlinkcolor" val="tx"/>
                    </a:ext>
                  </a:extLst>
                </a:hlinkClick>
              </a:rPr>
              <a:t>Citizen academy</a:t>
            </a:r>
            <a:endParaRPr lang="en-US" sz="1200"/>
          </a:p>
          <a:p>
            <a:pPr marL="0" indent="0">
              <a:spcBef>
                <a:spcPts val="800"/>
              </a:spcBef>
              <a:spcAft>
                <a:spcPts val="200"/>
              </a:spcAft>
              <a:buNone/>
            </a:pPr>
            <a:r>
              <a:rPr lang="en-US" sz="1200" b="1">
                <a:solidFill>
                  <a:schemeClr val="tx2"/>
                </a:solidFill>
              </a:rPr>
              <a:t>Gwinnett County</a:t>
            </a:r>
            <a:endParaRPr lang="en-US" sz="1200"/>
          </a:p>
          <a:p>
            <a:pPr marL="0" indent="0">
              <a:spcAft>
                <a:spcPts val="200"/>
              </a:spcAft>
              <a:buNone/>
            </a:pPr>
            <a:r>
              <a:rPr lang="en-US" sz="1050" u="sng">
                <a:solidFill>
                  <a:schemeClr val="accent2"/>
                </a:solidFill>
                <a:hlinkClick r:id="rId23">
                  <a:extLst>
                    <a:ext uri="{A12FA001-AC4F-418D-AE19-62706E023703}">
                      <ahyp:hlinkClr xmlns:ahyp="http://schemas.microsoft.com/office/drawing/2018/hyperlinkcolor" val="tx"/>
                    </a:ext>
                  </a:extLst>
                </a:hlinkClick>
              </a:rPr>
              <a:t>Budget in Brief 2026</a:t>
            </a:r>
            <a:endParaRPr lang="en-US" sz="1200"/>
          </a:p>
          <a:p>
            <a:pPr marL="0" indent="0">
              <a:spcAft>
                <a:spcPts val="200"/>
              </a:spcAft>
              <a:buNone/>
            </a:pPr>
            <a:r>
              <a:rPr lang="en-US" sz="1050" u="sng">
                <a:solidFill>
                  <a:schemeClr val="accent2"/>
                </a:solidFill>
                <a:hlinkClick r:id="rId24">
                  <a:extLst>
                    <a:ext uri="{A12FA001-AC4F-418D-AE19-62706E023703}">
                      <ahyp:hlinkClr xmlns:ahyp="http://schemas.microsoft.com/office/drawing/2018/hyperlinkcolor" val="tx"/>
                    </a:ext>
                  </a:extLst>
                </a:hlinkClick>
              </a:rPr>
              <a:t>Outreach Advisory Board</a:t>
            </a:r>
            <a:endParaRPr lang="en-US" sz="1200"/>
          </a:p>
          <a:p>
            <a:pPr marL="0" indent="0">
              <a:spcAft>
                <a:spcPts val="200"/>
              </a:spcAft>
              <a:buNone/>
            </a:pPr>
            <a:r>
              <a:rPr lang="en-US" sz="1050" u="sng">
                <a:solidFill>
                  <a:schemeClr val="accent2"/>
                </a:solidFill>
                <a:hlinkClick r:id="rId25">
                  <a:extLst>
                    <a:ext uri="{A12FA001-AC4F-418D-AE19-62706E023703}">
                      <ahyp:hlinkClr xmlns:ahyp="http://schemas.microsoft.com/office/drawing/2018/hyperlinkcolor" val="tx"/>
                    </a:ext>
                  </a:extLst>
                </a:hlinkClick>
              </a:rPr>
              <a:t>Language equity</a:t>
            </a:r>
            <a:endParaRPr lang="en-US" sz="1200"/>
          </a:p>
          <a:p>
            <a:pPr marL="0" indent="0">
              <a:spcAft>
                <a:spcPts val="200"/>
              </a:spcAft>
              <a:buNone/>
            </a:pPr>
            <a:r>
              <a:rPr lang="en-US" sz="1050" u="sng">
                <a:solidFill>
                  <a:schemeClr val="accent2"/>
                </a:solidFill>
                <a:hlinkClick r:id="rId26">
                  <a:extLst>
                    <a:ext uri="{A12FA001-AC4F-418D-AE19-62706E023703}">
                      <ahyp:hlinkClr xmlns:ahyp="http://schemas.microsoft.com/office/drawing/2018/hyperlinkcolor" val="tx"/>
                    </a:ext>
                  </a:extLst>
                </a:hlinkClick>
              </a:rPr>
              <a:t>Civic Engagement and Social Impact</a:t>
            </a:r>
            <a:endParaRPr lang="en-US" sz="12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16</a:t>
            </a:fld>
            <a:endParaRPr lang="en-US"/>
          </a:p>
        </p:txBody>
      </p:sp>
      <p:pic>
        <p:nvPicPr>
          <p:cNvPr id="5" name="Picture 4">
            <a:extLst>
              <a:ext uri="{FF2B5EF4-FFF2-40B4-BE49-F238E27FC236}">
                <a16:creationId xmlns:a16="http://schemas.microsoft.com/office/drawing/2014/main" id="{0C0156D2-49CA-5BC9-C26E-4E3F87864BFB}"/>
              </a:ext>
            </a:extLst>
          </p:cNvPr>
          <p:cNvPicPr>
            <a:picLocks noChangeAspect="1"/>
          </p:cNvPicPr>
          <p:nvPr/>
        </p:nvPicPr>
        <p:blipFill>
          <a:blip r:embed="rId27"/>
          <a:stretch>
            <a:fillRect/>
          </a:stretch>
        </p:blipFill>
        <p:spPr>
          <a:xfrm>
            <a:off x="10702633" y="48335"/>
            <a:ext cx="1176475" cy="920929"/>
          </a:xfrm>
          <a:prstGeom prst="rect">
            <a:avLst/>
          </a:prstGeom>
        </p:spPr>
      </p:pic>
      <p:pic>
        <p:nvPicPr>
          <p:cNvPr id="6" name="Picture 5">
            <a:extLst>
              <a:ext uri="{FF2B5EF4-FFF2-40B4-BE49-F238E27FC236}">
                <a16:creationId xmlns:a16="http://schemas.microsoft.com/office/drawing/2014/main" id="{B4DFC1BF-8134-C681-C7FF-2CDF0AA0F89F}"/>
              </a:ext>
            </a:extLst>
          </p:cNvPr>
          <p:cNvPicPr>
            <a:picLocks noChangeAspect="1"/>
          </p:cNvPicPr>
          <p:nvPr/>
        </p:nvPicPr>
        <p:blipFill>
          <a:blip r:embed="rId28"/>
          <a:stretch>
            <a:fillRect/>
          </a:stretch>
        </p:blipFill>
        <p:spPr>
          <a:xfrm>
            <a:off x="1261872" y="6149993"/>
            <a:ext cx="534000" cy="6193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1"/>
          <p:cNvSpPr>
            <a:spLocks noGrp="1"/>
          </p:cNvSpPr>
          <p:nvPr>
            <p:ph type="title" idx="112" hasCustomPrompt="1"/>
          </p:nvPr>
        </p:nvSpPr>
        <p:spPr>
          <a:xfrm>
            <a:off x="365760" y="256032"/>
            <a:ext cx="9692640" cy="713232"/>
          </a:xfrm>
          <a:prstGeom prst="rect">
            <a:avLst/>
          </a:prstGeom>
          <a:noFill/>
          <a:ln/>
        </p:spPr>
        <p:txBody>
          <a:bodyPr wrap="square" lIns="0" tIns="0" rIns="0" bIns="0" rtlCol="0" anchor="b"/>
          <a:lstStyle/>
          <a:p>
            <a:pPr marL="0" indent="0" algn="l">
              <a:buNone/>
            </a:pPr>
            <a:r>
              <a:rPr lang="en-US" sz="2400" b="1">
                <a:solidFill>
                  <a:schemeClr val="tx1"/>
                </a:solidFill>
                <a:latin typeface="Montserrat" pitchFamily="34" charset="0"/>
                <a:ea typeface="Montserrat" pitchFamily="34" charset="-122"/>
                <a:cs typeface="Montserrat" pitchFamily="34" charset="-120"/>
              </a:rPr>
              <a:t>Sources: Practices and Wake County Baseline</a:t>
            </a:r>
            <a:endParaRPr lang="en-US" sz="2400"/>
          </a:p>
        </p:txBody>
      </p:sp>
      <p:sp>
        <p:nvSpPr>
          <p:cNvPr id="3" name="Text 1"/>
          <p:cNvSpPr txBox="1"/>
          <p:nvPr/>
        </p:nvSpPr>
        <p:spPr>
          <a:xfrm>
            <a:off x="365760" y="1234440"/>
            <a:ext cx="5577840" cy="4572000"/>
          </a:xfrm>
          <a:prstGeom prst="rect">
            <a:avLst/>
          </a:prstGeom>
          <a:noFill/>
          <a:ln/>
        </p:spPr>
        <p:txBody>
          <a:bodyPr wrap="square" lIns="0" tIns="0" rIns="0" bIns="0" rtlCol="0" anchor="t"/>
          <a:lstStyle/>
          <a:p>
            <a:pPr marL="0" indent="0">
              <a:spcAft>
                <a:spcPts val="200"/>
              </a:spcAft>
              <a:buNone/>
            </a:pPr>
            <a:r>
              <a:rPr lang="en-US" sz="1200" b="1">
                <a:solidFill>
                  <a:schemeClr val="tx2"/>
                </a:solidFill>
              </a:rPr>
              <a:t>North Carolina practices</a:t>
            </a:r>
            <a:endParaRPr lang="en-US" sz="1200"/>
          </a:p>
          <a:p>
            <a:pPr marL="0" indent="0">
              <a:spcAft>
                <a:spcPts val="200"/>
              </a:spcAft>
              <a:buNone/>
            </a:pPr>
            <a:r>
              <a:rPr lang="en-US" sz="1050" u="sng">
                <a:solidFill>
                  <a:schemeClr val="accent2"/>
                </a:solidFill>
                <a:hlinkClick r:id="rId3">
                  <a:extLst>
                    <a:ext uri="{A12FA001-AC4F-418D-AE19-62706E023703}">
                      <ahyp:hlinkClr xmlns:ahyp="http://schemas.microsoft.com/office/drawing/2018/hyperlinkcolor" val="tx"/>
                    </a:ext>
                  </a:extLst>
                </a:hlinkClick>
              </a:rPr>
              <a:t>Buncombe County Community Engagement (ICEP, Connectors)</a:t>
            </a:r>
            <a:endParaRPr lang="en-US" sz="1200"/>
          </a:p>
          <a:p>
            <a:pPr marL="0" indent="0">
              <a:spcAft>
                <a:spcPts val="200"/>
              </a:spcAft>
              <a:buNone/>
            </a:pPr>
            <a:r>
              <a:rPr lang="en-US" sz="1050" u="sng">
                <a:solidFill>
                  <a:schemeClr val="accent2"/>
                </a:solidFill>
                <a:hlinkClick r:id="rId4">
                  <a:extLst>
                    <a:ext uri="{A12FA001-AC4F-418D-AE19-62706E023703}">
                      <ahyp:hlinkClr xmlns:ahyp="http://schemas.microsoft.com/office/drawing/2018/hyperlinkcolor" val="tx"/>
                    </a:ext>
                  </a:extLst>
                </a:hlinkClick>
              </a:rPr>
              <a:t>Engage Buncombe: 2043 Comprehensive Plan outreach</a:t>
            </a:r>
            <a:endParaRPr lang="en-US" sz="1200"/>
          </a:p>
          <a:p>
            <a:pPr marL="0" indent="0">
              <a:spcAft>
                <a:spcPts val="200"/>
              </a:spcAft>
              <a:buNone/>
            </a:pPr>
            <a:r>
              <a:rPr lang="en-US" sz="1050" u="sng">
                <a:solidFill>
                  <a:schemeClr val="accent2"/>
                </a:solidFill>
                <a:hlinkClick r:id="rId5">
                  <a:extLst>
                    <a:ext uri="{A12FA001-AC4F-418D-AE19-62706E023703}">
                      <ahyp:hlinkClr xmlns:ahyp="http://schemas.microsoft.com/office/drawing/2018/hyperlinkcolor" val="tx"/>
                    </a:ext>
                  </a:extLst>
                </a:hlinkClick>
              </a:rPr>
              <a:t>Buncombe 2043 Comprehensive Plan (adopted)</a:t>
            </a:r>
            <a:endParaRPr lang="en-US" sz="1200"/>
          </a:p>
          <a:p>
            <a:pPr marL="0" indent="0">
              <a:spcAft>
                <a:spcPts val="200"/>
              </a:spcAft>
              <a:buNone/>
            </a:pPr>
            <a:r>
              <a:rPr lang="en-US" sz="1050" u="sng">
                <a:solidFill>
                  <a:schemeClr val="accent2"/>
                </a:solidFill>
                <a:hlinkClick r:id="rId6">
                  <a:extLst>
                    <a:ext uri="{A12FA001-AC4F-418D-AE19-62706E023703}">
                      <ahyp:hlinkClr xmlns:ahyp="http://schemas.microsoft.com/office/drawing/2018/hyperlinkcolor" val="tx"/>
                    </a:ext>
                  </a:extLst>
                </a:hlinkClick>
              </a:rPr>
              <a:t>Raleigh Community Connectors</a:t>
            </a:r>
            <a:endParaRPr lang="en-US" sz="1200"/>
          </a:p>
          <a:p>
            <a:pPr marL="0" indent="0">
              <a:spcAft>
                <a:spcPts val="200"/>
              </a:spcAft>
              <a:buNone/>
            </a:pPr>
            <a:r>
              <a:rPr lang="en-US" sz="1050" u="sng">
                <a:solidFill>
                  <a:schemeClr val="accent2"/>
                </a:solidFill>
                <a:hlinkClick r:id="rId7">
                  <a:extLst>
                    <a:ext uri="{A12FA001-AC4F-418D-AE19-62706E023703}">
                      <ahyp:hlinkClr xmlns:ahyp="http://schemas.microsoft.com/office/drawing/2018/hyperlinkcolor" val="tx"/>
                    </a:ext>
                  </a:extLst>
                </a:hlinkClick>
              </a:rPr>
              <a:t>Raleigh Engagement on the Go</a:t>
            </a:r>
            <a:endParaRPr lang="en-US" sz="1200"/>
          </a:p>
          <a:p>
            <a:pPr marL="0" indent="0">
              <a:spcAft>
                <a:spcPts val="200"/>
              </a:spcAft>
              <a:buNone/>
            </a:pPr>
            <a:r>
              <a:rPr lang="en-US" sz="1050" u="sng">
                <a:solidFill>
                  <a:schemeClr val="accent2"/>
                </a:solidFill>
                <a:hlinkClick r:id="rId8">
                  <a:extLst>
                    <a:ext uri="{A12FA001-AC4F-418D-AE19-62706E023703}">
                      <ahyp:hlinkClr xmlns:ahyp="http://schemas.microsoft.com/office/drawing/2018/hyperlinkcolor" val="tx"/>
                    </a:ext>
                  </a:extLst>
                </a:hlinkClick>
              </a:rPr>
              <a:t>Durham 2026 Community Conversations</a:t>
            </a:r>
            <a:endParaRPr lang="en-US" sz="1200"/>
          </a:p>
          <a:p>
            <a:pPr marL="0" indent="0">
              <a:spcAft>
                <a:spcPts val="200"/>
              </a:spcAft>
              <a:buNone/>
            </a:pPr>
            <a:r>
              <a:rPr lang="en-US" sz="1050" u="sng">
                <a:solidFill>
                  <a:schemeClr val="accent2"/>
                </a:solidFill>
                <a:hlinkClick r:id="rId9">
                  <a:extLst>
                    <a:ext uri="{A12FA001-AC4F-418D-AE19-62706E023703}">
                      <ahyp:hlinkClr xmlns:ahyp="http://schemas.microsoft.com/office/drawing/2018/hyperlinkcolor" val="tx"/>
                    </a:ext>
                  </a:extLst>
                </a:hlinkClick>
              </a:rPr>
              <a:t>Durham Participatory Budgeting</a:t>
            </a:r>
            <a:endParaRPr lang="en-US" sz="1200"/>
          </a:p>
          <a:p>
            <a:pPr marL="0" indent="0">
              <a:spcBef>
                <a:spcPts val="800"/>
              </a:spcBef>
              <a:spcAft>
                <a:spcPts val="200"/>
              </a:spcAft>
              <a:buNone/>
            </a:pPr>
            <a:r>
              <a:rPr lang="en-US" sz="1200" b="1">
                <a:solidFill>
                  <a:schemeClr val="tx2"/>
                </a:solidFill>
              </a:rPr>
              <a:t>National models</a:t>
            </a:r>
            <a:endParaRPr lang="en-US" sz="1200"/>
          </a:p>
          <a:p>
            <a:pPr marL="0" indent="0">
              <a:spcAft>
                <a:spcPts val="200"/>
              </a:spcAft>
              <a:buNone/>
            </a:pPr>
            <a:r>
              <a:rPr lang="en-US" sz="1050" u="sng">
                <a:solidFill>
                  <a:schemeClr val="accent2"/>
                </a:solidFill>
                <a:hlinkClick r:id="rId10">
                  <a:extLst>
                    <a:ext uri="{A12FA001-AC4F-418D-AE19-62706E023703}">
                      <ahyp:hlinkClr xmlns:ahyp="http://schemas.microsoft.com/office/drawing/2018/hyperlinkcolor" val="tx"/>
                    </a:ext>
                  </a:extLst>
                </a:hlinkClick>
              </a:rPr>
              <a:t>One Fairfax Policy</a:t>
            </a:r>
            <a:endParaRPr lang="en-US" sz="1200"/>
          </a:p>
          <a:p>
            <a:pPr marL="0" indent="0">
              <a:spcAft>
                <a:spcPts val="200"/>
              </a:spcAft>
              <a:buNone/>
            </a:pPr>
            <a:r>
              <a:rPr lang="en-US" sz="1050" u="sng">
                <a:solidFill>
                  <a:schemeClr val="accent2"/>
                </a:solidFill>
                <a:hlinkClick r:id="rId11">
                  <a:extLst>
                    <a:ext uri="{A12FA001-AC4F-418D-AE19-62706E023703}">
                      <ahyp:hlinkClr xmlns:ahyp="http://schemas.microsoft.com/office/drawing/2018/hyperlinkcolor" val="tx"/>
                    </a:ext>
                  </a:extLst>
                </a:hlinkClick>
              </a:rPr>
              <a:t>Fairfax County Strategic Plan Annual Report</a:t>
            </a:r>
            <a:endParaRPr lang="en-US" sz="1200"/>
          </a:p>
          <a:p>
            <a:pPr marL="0" indent="0">
              <a:spcAft>
                <a:spcPts val="200"/>
              </a:spcAft>
              <a:buNone/>
            </a:pPr>
            <a:r>
              <a:rPr lang="en-US" sz="1050" u="sng">
                <a:solidFill>
                  <a:schemeClr val="accent2"/>
                </a:solidFill>
                <a:hlinkClick r:id="rId12">
                  <a:extLst>
                    <a:ext uri="{A12FA001-AC4F-418D-AE19-62706E023703}">
                      <ahyp:hlinkClr xmlns:ahyp="http://schemas.microsoft.com/office/drawing/2018/hyperlinkcolor" val="tx"/>
                    </a:ext>
                  </a:extLst>
                </a:hlinkClick>
              </a:rPr>
              <a:t>Fairfax inclusive community engagement</a:t>
            </a:r>
            <a:endParaRPr lang="en-US" sz="1200"/>
          </a:p>
          <a:p>
            <a:pPr marL="0" indent="0">
              <a:spcAft>
                <a:spcPts val="200"/>
              </a:spcAft>
              <a:buNone/>
            </a:pPr>
            <a:r>
              <a:rPr lang="en-US" sz="1050" u="sng">
                <a:solidFill>
                  <a:schemeClr val="accent2"/>
                </a:solidFill>
                <a:hlinkClick r:id="rId13">
                  <a:extLst>
                    <a:ext uri="{A12FA001-AC4F-418D-AE19-62706E023703}">
                      <ahyp:hlinkClr xmlns:ahyp="http://schemas.microsoft.com/office/drawing/2018/hyperlinkcolor" val="tx"/>
                    </a:ext>
                  </a:extLst>
                </a:hlinkClick>
              </a:rPr>
              <a:t>Fresno General Plan case (Institute for Local Government)</a:t>
            </a:r>
            <a:endParaRPr lang="en-US" sz="1200"/>
          </a:p>
        </p:txBody>
      </p:sp>
      <p:sp>
        <p:nvSpPr>
          <p:cNvPr id="4" name="Text 2"/>
          <p:cNvSpPr txBox="1"/>
          <p:nvPr/>
        </p:nvSpPr>
        <p:spPr>
          <a:xfrm>
            <a:off x="6217920" y="1234440"/>
            <a:ext cx="5577840" cy="4572000"/>
          </a:xfrm>
          <a:prstGeom prst="rect">
            <a:avLst/>
          </a:prstGeom>
          <a:noFill/>
          <a:ln/>
        </p:spPr>
        <p:txBody>
          <a:bodyPr wrap="square" lIns="0" tIns="0" rIns="0" bIns="0" rtlCol="0" anchor="t"/>
          <a:lstStyle/>
          <a:p>
            <a:pPr marL="0" indent="0">
              <a:spcAft>
                <a:spcPts val="200"/>
              </a:spcAft>
              <a:buNone/>
            </a:pPr>
            <a:r>
              <a:rPr lang="en-US" sz="1200" b="1">
                <a:solidFill>
                  <a:schemeClr val="tx2"/>
                </a:solidFill>
              </a:rPr>
              <a:t>Wake County baseline</a:t>
            </a:r>
            <a:endParaRPr lang="en-US" sz="1200"/>
          </a:p>
          <a:p>
            <a:pPr marL="0" indent="0">
              <a:spcAft>
                <a:spcPts val="200"/>
              </a:spcAft>
              <a:buNone/>
            </a:pPr>
            <a:r>
              <a:rPr lang="en-US" sz="1050" u="sng">
                <a:solidFill>
                  <a:schemeClr val="accent2"/>
                </a:solidFill>
                <a:hlinkClick r:id="rId14">
                  <a:extLst>
                    <a:ext uri="{A12FA001-AC4F-418D-AE19-62706E023703}">
                      <ahyp:hlinkClr xmlns:ahyp="http://schemas.microsoft.com/office/drawing/2018/hyperlinkcolor" val="tx"/>
                    </a:ext>
                  </a:extLst>
                </a:hlinkClick>
              </a:rPr>
              <a:t>FY2027 recommended budget and hearing schedule</a:t>
            </a:r>
            <a:endParaRPr lang="en-US" sz="1200"/>
          </a:p>
          <a:p>
            <a:pPr marL="0" indent="0">
              <a:spcAft>
                <a:spcPts val="200"/>
              </a:spcAft>
              <a:buNone/>
            </a:pPr>
            <a:r>
              <a:rPr lang="en-US" sz="1050" u="sng">
                <a:solidFill>
                  <a:schemeClr val="accent2"/>
                </a:solidFill>
                <a:hlinkClick r:id="rId15">
                  <a:extLst>
                    <a:ext uri="{A12FA001-AC4F-418D-AE19-62706E023703}">
                      <ahyp:hlinkClr xmlns:ahyp="http://schemas.microsoft.com/office/drawing/2018/hyperlinkcolor" val="tx"/>
                    </a:ext>
                  </a:extLst>
                </a:hlinkClick>
              </a:rPr>
              <a:t>Board of Commissioners translation and interpretation</a:t>
            </a:r>
            <a:endParaRPr lang="en-US" sz="1200"/>
          </a:p>
          <a:p>
            <a:pPr marL="0" indent="0">
              <a:spcAft>
                <a:spcPts val="200"/>
              </a:spcAft>
              <a:buNone/>
            </a:pPr>
            <a:r>
              <a:rPr lang="en-US" sz="1050" u="sng">
                <a:solidFill>
                  <a:schemeClr val="accent2"/>
                </a:solidFill>
                <a:hlinkClick r:id="rId16">
                  <a:extLst>
                    <a:ext uri="{A12FA001-AC4F-418D-AE19-62706E023703}">
                      <ahyp:hlinkClr xmlns:ahyp="http://schemas.microsoft.com/office/drawing/2018/hyperlinkcolor" val="tx"/>
                    </a:ext>
                  </a:extLst>
                </a:hlinkClick>
              </a:rPr>
              <a:t>Language access and support</a:t>
            </a:r>
            <a:endParaRPr lang="en-US" sz="1200"/>
          </a:p>
          <a:p>
            <a:pPr marL="0" indent="0">
              <a:spcAft>
                <a:spcPts val="200"/>
              </a:spcAft>
              <a:buNone/>
            </a:pPr>
            <a:r>
              <a:rPr lang="en-US" sz="1050" u="sng">
                <a:solidFill>
                  <a:schemeClr val="accent2"/>
                </a:solidFill>
                <a:hlinkClick r:id="rId17">
                  <a:extLst>
                    <a:ext uri="{A12FA001-AC4F-418D-AE19-62706E023703}">
                      <ahyp:hlinkClr xmlns:ahyp="http://schemas.microsoft.com/office/drawing/2018/hyperlinkcolor" val="tx"/>
                    </a:ext>
                  </a:extLst>
                </a:hlinkClick>
              </a:rPr>
              <a:t>Language and communication access (17% figure)</a:t>
            </a:r>
            <a:endParaRPr lang="en-US" sz="1200"/>
          </a:p>
          <a:p>
            <a:pPr marL="0" indent="0">
              <a:spcAft>
                <a:spcPts val="200"/>
              </a:spcAft>
              <a:buNone/>
            </a:pPr>
            <a:r>
              <a:rPr lang="en-US" sz="1050" u="sng">
                <a:solidFill>
                  <a:schemeClr val="accent2"/>
                </a:solidFill>
                <a:hlinkClick r:id="rId18">
                  <a:extLst>
                    <a:ext uri="{A12FA001-AC4F-418D-AE19-62706E023703}">
                      <ahyp:hlinkClr xmlns:ahyp="http://schemas.microsoft.com/office/drawing/2018/hyperlinkcolor" val="tx"/>
                    </a:ext>
                  </a:extLst>
                </a:hlinkClick>
              </a:rPr>
              <a:t>Advisory boards and appointments</a:t>
            </a:r>
            <a:endParaRPr lang="en-US" sz="1200"/>
          </a:p>
          <a:p>
            <a:pPr marL="0" indent="0">
              <a:spcAft>
                <a:spcPts val="200"/>
              </a:spcAft>
              <a:buNone/>
            </a:pPr>
            <a:r>
              <a:rPr lang="en-US" sz="1050" u="sng">
                <a:solidFill>
                  <a:schemeClr val="accent2"/>
                </a:solidFill>
                <a:hlinkClick r:id="rId19">
                  <a:extLst>
                    <a:ext uri="{A12FA001-AC4F-418D-AE19-62706E023703}">
                      <ahyp:hlinkClr xmlns:ahyp="http://schemas.microsoft.com/office/drawing/2018/hyperlinkcolor" val="tx"/>
                    </a:ext>
                  </a:extLst>
                </a:hlinkClick>
              </a:rPr>
              <a:t>Strategic Plan adoption</a:t>
            </a:r>
            <a:endParaRPr lang="en-US" sz="1200"/>
          </a:p>
          <a:p>
            <a:pPr marL="0" indent="0">
              <a:spcAft>
                <a:spcPts val="200"/>
              </a:spcAft>
              <a:buNone/>
            </a:pPr>
            <a:r>
              <a:rPr lang="en-US" sz="1050" u="sng">
                <a:solidFill>
                  <a:schemeClr val="accent2"/>
                </a:solidFill>
                <a:hlinkClick r:id="rId20">
                  <a:extLst>
                    <a:ext uri="{A12FA001-AC4F-418D-AE19-62706E023703}">
                      <ahyp:hlinkClr xmlns:ahyp="http://schemas.microsoft.com/office/drawing/2018/hyperlinkcolor" val="tx"/>
                    </a:ext>
                  </a:extLst>
                </a:hlinkClick>
              </a:rPr>
              <a:t>Parks master plan festival outreach (CBS17)</a:t>
            </a:r>
            <a:endParaRPr lang="en-US" sz="1200"/>
          </a:p>
          <a:p>
            <a:pPr marL="0" indent="0">
              <a:spcAft>
                <a:spcPts val="200"/>
              </a:spcAft>
              <a:buNone/>
            </a:pPr>
            <a:r>
              <a:rPr lang="en-US" sz="1050" u="sng">
                <a:solidFill>
                  <a:schemeClr val="accent2"/>
                </a:solidFill>
                <a:hlinkClick r:id="rId21">
                  <a:extLst>
                    <a:ext uri="{A12FA001-AC4F-418D-AE19-62706E023703}">
                      <ahyp:hlinkClr xmlns:ahyp="http://schemas.microsoft.com/office/drawing/2018/hyperlinkcolor" val="tx"/>
                    </a:ext>
                  </a:extLst>
                </a:hlinkClick>
              </a:rPr>
              <a:t>East Wake Counts engagement page</a:t>
            </a:r>
            <a:endParaRPr lang="en-US" sz="1200"/>
          </a:p>
          <a:p>
            <a:pPr marL="0" indent="0">
              <a:spcBef>
                <a:spcPts val="800"/>
              </a:spcBef>
              <a:spcAft>
                <a:spcPts val="200"/>
              </a:spcAft>
              <a:buNone/>
            </a:pPr>
            <a:endParaRPr lang="en-US" sz="1200"/>
          </a:p>
        </p:txBody>
      </p:sp>
      <p:sp>
        <p:nvSpPr>
          <p:cNvPr id="25" name="Slide Number Placeholder 0"/>
          <p:cNvSpPr>
            <a:spLocks noGrp="1"/>
          </p:cNvSpPr>
          <p:nvPr>
            <p:ph type="sldNum" sz="quarter" idx="4294967295"/>
          </p:nvPr>
        </p:nvSpPr>
        <p:spPr>
          <a:xfrm>
            <a:off x="11247120" y="6263640"/>
            <a:ext cx="594360" cy="365760"/>
          </a:xfrm>
          <a:prstGeom prst="rect">
            <a:avLst/>
          </a:prstGeom>
          <a:extLst>
            <a:ext uri="{C572A759-6A51-4108-AA02-DFA0A04FC94B}">
              <ma14:wrappingTextBoxFlag xmlns:ma14="http://schemas.microsoft.com/office/mac/drawingml/2011/main" xmlns="" val="0"/>
            </a:ext>
          </a:extLst>
        </p:spPr>
        <p:txBody>
          <a:bodyPr/>
          <a:lstStyle>
            <a:lvl1pPr>
              <a:defRPr sz="1600">
                <a:solidFill>
                  <a:schemeClr val="bg1"/>
                </a:solidFill>
                <a:latin typeface="Montserrat"/>
                <a:ea typeface="Montserrat"/>
                <a:cs typeface="Montserrat"/>
              </a:defRPr>
            </a:lvl1pPr>
          </a:lstStyle>
          <a:p>
            <a:pPr algn="r"/>
            <a:fld id="{F7021451-1387-4CA6-816F-3879F97B5CBC}" type="slidenum">
              <a:rPr lang="en-US" b="1"/>
              <a:t>17</a:t>
            </a:fld>
            <a:endParaRPr lang="en-US"/>
          </a:p>
        </p:txBody>
      </p:sp>
      <p:pic>
        <p:nvPicPr>
          <p:cNvPr id="5" name="Picture 4">
            <a:extLst>
              <a:ext uri="{FF2B5EF4-FFF2-40B4-BE49-F238E27FC236}">
                <a16:creationId xmlns:a16="http://schemas.microsoft.com/office/drawing/2014/main" id="{691BF67A-BA79-29C6-FFA5-FB2A33F52098}"/>
              </a:ext>
            </a:extLst>
          </p:cNvPr>
          <p:cNvPicPr>
            <a:picLocks noChangeAspect="1"/>
          </p:cNvPicPr>
          <p:nvPr/>
        </p:nvPicPr>
        <p:blipFill>
          <a:blip r:embed="rId22"/>
          <a:stretch>
            <a:fillRect/>
          </a:stretch>
        </p:blipFill>
        <p:spPr>
          <a:xfrm>
            <a:off x="10702633" y="48335"/>
            <a:ext cx="1176475" cy="920929"/>
          </a:xfrm>
          <a:prstGeom prst="rect">
            <a:avLst/>
          </a:prstGeom>
        </p:spPr>
      </p:pic>
      <p:pic>
        <p:nvPicPr>
          <p:cNvPr id="6" name="Picture 5">
            <a:extLst>
              <a:ext uri="{FF2B5EF4-FFF2-40B4-BE49-F238E27FC236}">
                <a16:creationId xmlns:a16="http://schemas.microsoft.com/office/drawing/2014/main" id="{EE105573-EA6B-4BD9-03E2-E9713FBE5D45}"/>
              </a:ext>
            </a:extLst>
          </p:cNvPr>
          <p:cNvPicPr>
            <a:picLocks noChangeAspect="1"/>
          </p:cNvPicPr>
          <p:nvPr/>
        </p:nvPicPr>
        <p:blipFill>
          <a:blip r:embed="rId23"/>
          <a:stretch>
            <a:fillRect/>
          </a:stretch>
        </p:blipFill>
        <p:spPr>
          <a:xfrm>
            <a:off x="1261872" y="6149993"/>
            <a:ext cx="534000" cy="619385"/>
          </a:xfrm>
          <a:prstGeom prst="rect">
            <a:avLst/>
          </a:prstGeom>
        </p:spPr>
      </p:pic>
    </p:spTree>
  </p:cSld>
  <p:clrMapOvr>
    <a:masterClrMapping/>
  </p:clrMapOvr>
</p:sld>
</file>

<file path=ppt/theme/theme1.xml><?xml version="1.0" encoding="utf-8"?>
<a:theme xmlns:a="http://schemas.openxmlformats.org/drawingml/2006/main" name="Wake Engagement Benchmarking">
  <a:themeElements>
    <a:clrScheme name="Wake Engagement Benchmarking">
      <a:dk1>
        <a:srgbClr val="1A2B3C"/>
      </a:dk1>
      <a:lt1>
        <a:srgbClr val="FFFFFF"/>
      </a:lt1>
      <a:dk2>
        <a:srgbClr val="0D2F4E"/>
      </a:dk2>
      <a:lt2>
        <a:srgbClr val="EEF3F8"/>
      </a:lt2>
      <a:accent1>
        <a:srgbClr val="E07A2E"/>
      </a:accent1>
      <a:accent2>
        <a:srgbClr val="1B6585"/>
      </a:accent2>
      <a:accent3>
        <a:srgbClr val="8ACBEA"/>
      </a:accent3>
      <a:accent4>
        <a:srgbClr val="1B8A8F"/>
      </a:accent4>
      <a:accent5>
        <a:srgbClr val="D6E8F5"/>
      </a:accent5>
      <a:accent6>
        <a:srgbClr val="66778A"/>
      </a:accent6>
      <a:hlink>
        <a:srgbClr val="1B6585"/>
      </a:hlink>
      <a:folHlink>
        <a:srgbClr val="5B6B7B"/>
      </a:folHlink>
    </a:clrScheme>
    <a:fontScheme name="Wake Engagement Benchmarking">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3434</Words>
  <Application>Microsoft Macintosh PowerPoint</Application>
  <PresentationFormat>Widescreen</PresentationFormat>
  <Paragraphs>440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Montserrat</vt:lpstr>
      <vt:lpstr>Wake Engagement Benchmarking</vt:lpstr>
      <vt:lpstr>PowerPoint Presentation</vt:lpstr>
      <vt:lpstr>One Question - Three Lenses </vt:lpstr>
      <vt:lpstr>Wake’s Population is Growing Faster than Most Peers</vt:lpstr>
      <vt:lpstr>Mecklenburg and Gwinnett Run the Most Standardized Toolkits</vt:lpstr>
      <vt:lpstr>Wake County Has Breadth but Lacks a Countywide Anchor</vt:lpstr>
      <vt:lpstr>Six Barriers Point to Six Action Areas</vt:lpstr>
      <vt:lpstr>A Shared Standard Creates One Countywide Baseline</vt:lpstr>
      <vt:lpstr>Taking Engagement to Residents Widens Participation</vt:lpstr>
      <vt:lpstr>Trusted Messengers Reach Residents Who Are Rarely Engaged</vt:lpstr>
      <vt:lpstr>Centralized Language Access Builds Capacity and Reduces Costs </vt:lpstr>
      <vt:lpstr>One Front Door Makes Participation More Accessible</vt:lpstr>
      <vt:lpstr>Closing the Loop Shows Residents How Their Input Mattered </vt:lpstr>
      <vt:lpstr>Four of the Six Practices Build on Wake County's Strengths</vt:lpstr>
      <vt:lpstr>A Phased Path From Standards to Infrastructure</vt:lpstr>
      <vt:lpstr>PowerPoint Presentation</vt:lpstr>
      <vt:lpstr>Sources: Peer County Data and Engagement Tools</vt:lpstr>
      <vt:lpstr>Sources: Practices and Wake County Baseline</vt:lpstr>
    </vt:vector>
  </TitlesOfParts>
  <Company>UNC Chapel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Benchmarking Wake County's Public Engagement</dc:title>
  <dc:subject>PptxGenJS Presentation</dc:subject>
  <dc:creator>UNC PLCY 698 Capstone Team</dc:creator>
  <cp:lastModifiedBy>Ju, Ashley S</cp:lastModifiedBy>
  <cp:revision>4</cp:revision>
  <dcterms:created xsi:type="dcterms:W3CDTF">2026-10-04T18:03:43Z</dcterms:created>
  <dcterms:modified xsi:type="dcterms:W3CDTF">2026-10-08T02:49:40Z</dcterms:modified>
</cp:coreProperties>
</file>